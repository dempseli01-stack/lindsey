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everyone — I’m Lindsey Dempsey. Thank you for having me.</a:t>
            </a:r>
          </a:p>
          <a:p/>
          <a:p>
            <a:r>
              <a:t>Today I’m going to walk through how I would up-level the EMEA SDR machine — not rebuild it. My framing is simple: diagnose, protect, experiment, and execute, as a hands-on player-coach.</a:t>
            </a:r>
          </a:p>
          <a:p/>
          <a:p>
            <a:r>
              <a:t>I’ll keep this practical and leave room for discussion and a live pitch.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thesis is this: EMEA is already high-performing. You have AI-augmented workflows, a clear ICP, and you’re generating eight-figure qualified pipeline every month. So the question isn’t “how do I stand something up from zero?” It’s “given a function that already works, how do I make it materially better?”</a:t>
            </a:r>
          </a:p>
          <a:p/>
          <a:p>
            <a:r>
              <a:t>My job would be to find the real constraints, protect what’s working, and run a small number of high-leverage experiments.</a:t>
            </a:r>
          </a:p>
          <a:p/>
          <a:p>
            <a:r>
              <a:t>Every SDR on the team should be fluent in how Cursor wins — on workflow, context, and execution.</a:t>
            </a:r>
          </a:p>
          <a:p/>
          <a:p>
            <a:r>
              <a:t>And I would lead as a player-coach. Trains on time. Inspection over activity theater. Success for me is better conversation quality and higher AE acceptance — not reinventing the org chart.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how I’ll use the time.</a:t>
            </a:r>
          </a:p>
          <a:p/>
          <a:p>
            <a:r>
              <a:t>Part one is the first fifteen, thirty, and sixty days — diagnosis, what I’d protect, where the gains are, and two experiments.</a:t>
            </a:r>
          </a:p>
          <a:p/>
          <a:p>
            <a:r>
              <a:t>Part two is fundamentals — how I hire, coach, and run the team day to day as a player-coach.</a:t>
            </a:r>
          </a:p>
          <a:p/>
          <a:p>
            <a:r>
              <a:t>Part three is lighter on slides and partly live — about ten minutes. I’ll show how I’d earn a first meeting, how that changes by persona, how I cut through noise, and why I believe Cursor wins. I’m drawing from the whiteboard motion, not a rehearsed script.</a:t>
            </a:r>
          </a:p>
          <a:p/>
          <a:p>
            <a:r>
              <a:t>Clarity over polish. If you want me to go live earlier on the pitch, I’m happy to.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one — how I’d up-level EMEA in the first sixty days.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Diagnosis comes first. I will not change the machine until I understand where it leaks.</a:t>
            </a:r>
          </a:p>
          <a:p/>
          <a:p>
            <a:r>
              <a:t>I’d start with meeting quality: what percentage of meetings move to qualified versus unqualified? Unqualified meetings waste AE time. I’d sit with the AE team and ask where those meetings fell flat — is there a pattern? Is it the titles? No pain? The industry? A competitor already in? Why couldn’t we get next steps? Once I see the pattern in the gaps, I can diagnose what’s missing and build coaching around it.</a:t>
            </a:r>
          </a:p>
          <a:p/>
          <a:p>
            <a:r>
              <a:t>I’d also inspect the funnel hard: connect rates, connect-to-conversation, conversation-to-meeting. If connect-to-conversation is low — how are we opening the call, and what objections are we getting? If I know the objections, I can lead objection trainings. If conversation-to-meeting is low — are we doing proper discovery to create enough pain that they want the meeting? Are we hearing “already using a competitor”? If so, that’s competitor training or Cursor differentiator training.</a:t>
            </a:r>
          </a:p>
          <a:p/>
          <a:p>
            <a:r>
              <a:t>And I’d look at channel mix: what percentage of meetings are set via email, LinkedIn, and phone? Which is weakest, which is strongest? How do we increase one bucket while keeping the others strong — and double down on what’s already working?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how that diagnosis turns into a calendar.</a:t>
            </a:r>
          </a:p>
          <a:p/>
          <a:p>
            <a:r>
              <a:t>Days one through fifteen are inspection, pulling data, and creating the training. No thrash — learn the patterns first, then design the coaching modules for openers, objections, discovery, and differentiators.</a:t>
            </a:r>
          </a:p>
          <a:p/>
          <a:p>
            <a:r>
              <a:t>Days sixteen through thirty are when we take the training live and increase activity. Every day we pull the data to see what worked. The first fifteen minutes of the day is a team call: what worked yesterday, what pitch is landing, which personas sparked interest, what differentiator secured the meeting. We review one customer story a day. We review which models leapfrogged overnight so talk tracks stay current. Then we game-plan the day for success before dials start.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I would deliberately not change in the first sixty days is what’s already working well.</a:t>
            </a:r>
          </a:p>
          <a:p/>
          <a:p>
            <a:r>
              <a:t>I would protect the team’s ability to know and deliver the Cursor pitch. I would protect reaching out to the right people — the ICP and persona discipline that’s already creating meetings. I’m not here to rip out a motion that works. I’m here to diagnose the leaks and raise conversion quality around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Given where EMEA already is, the next level of improvement doesn’t come from inventing a new org. It comes from tightening the places strong teams usually leak.</a:t>
            </a:r>
          </a:p>
          <a:p/>
          <a:p>
            <a:r>
              <a:t>After diagnosis, the gains are in call openers and objection handling, discovery that creates real pain, competitive and differentiator fluency when Copilot or Claude Code is already in, and channel mix — doubling down on what’s converting while lifting the weaker channel.</a:t>
            </a:r>
          </a:p>
          <a:p/>
          <a:p>
            <a:r>
              <a:t>I wouldn’t bet on that blindly. I’d test it with hard data: connect, conversation, meetings — and then how many of those meetings convert to qualified. What worked, what didn’t, keep or kill.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market context, because it shapes how we coach messaging.</a:t>
            </a:r>
          </a:p>
          <a:p/>
          <a:p>
            <a:r>
              <a:t>Agentic coding is now a two-layer race.</a:t>
            </a:r>
          </a:p>
          <a:p/>
          <a:p>
            <a:r>
              <a:t>Layer one is the harness and product layer — how the system plans, uses tools, navigates repositories, and fits developer workflow. That’s where Cursor has already built commercial strength, and it’s what buyers feel in a first conversation.</a:t>
            </a:r>
          </a:p>
          <a:p/>
          <a:p>
            <a:r>
              <a:t>Layer two is the model layer — reasoning quality and long-horizon coding performance. Composer is Cursor’s coding-specialist model path, and that layer continues to strengthen.</a:t>
            </a:r>
          </a:p>
          <a:p/>
          <a:p>
            <a:r>
              <a:t>Model neutrality still matters, because the best model changes over time, and the frontier labs can be both suppliers and competitors.</a:t>
            </a:r>
          </a:p>
          <a:p/>
          <a:p>
            <a:r>
              <a:t>For EMEA SDRs, the implication is simple: sell the system buyers can feel today — workflow, context, and execution — and stay fluent on where the model layer is going. I won’t turn customer calls into infrastructure or acquisition conversations.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spine I’d train every rep on.</a:t>
            </a:r>
          </a:p>
          <a:p/>
          <a:p>
            <a:r>
              <a:t>Cursor is the leading agentic coding platform that a large share of the Fortune one thousand use to reimagine how engineering teams build software with AI.</a:t>
            </a:r>
          </a:p>
          <a:p/>
          <a:p>
            <a:r>
              <a:t>It gives teams a shared AI layer that understands their codebase, dependencies, and workflows — connecting developers, tools, and AI agents into one system.</a:t>
            </a:r>
          </a:p>
          <a:p/>
          <a:p>
            <a:r>
              <a:t>It’s helpful to think of Cursor as a coding agent that can be accessed, coordinated, and controlled through product surfaces like the IDE, CLI, Automations, and Cloud Agents.</a:t>
            </a:r>
          </a:p>
          <a:p/>
          <a:p>
            <a:r>
              <a:t>It bridges planning, execution, and validation so work moves through the SDLC with less friction.</a:t>
            </a:r>
          </a:p>
          <a:p/>
          <a:p>
            <a:r>
              <a:t>The summary line I want reps to be able to say is: Cursor helps teams get more out of frontier models by pairing them with better workflow, better context, and a more integrated way to build software.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Cursor’s core differentiation is the combination of four things, and I’d teach SDRs to lead with only one based on the buyer’s pain.</a:t>
            </a:r>
          </a:p>
          <a:p/>
          <a:p>
            <a:r>
              <a:t>One — model neutrality. Customers want flexibility. The best model changes. They don’t want to be locked to one vendor.</a:t>
            </a:r>
          </a:p>
          <a:p/>
          <a:p>
            <a:r>
              <a:t>Two — large codebase performance. Enterprise work spans messy, real-world repos. Cursor isn’t just wrapping a model — it improves how context is found and used. That matters more as complexity increases.</a:t>
            </a:r>
          </a:p>
          <a:p/>
          <a:p>
            <a:r>
              <a:t>Three — faster time to value. Cursor is useful quickly without every developer inventing a custom setup. Enterprises care about adoption and consistency across teams.</a:t>
            </a:r>
          </a:p>
          <a:p/>
          <a:p>
            <a:r>
              <a:t>Four — platform across the SDLC. Not just code generation — planning, writing, reviewing, debugging, iterating — through things like Bugbot, Agent Review, and Automations. The value is better execution, not just better answers.</a:t>
            </a:r>
          </a:p>
          <a:p/>
          <a:p>
            <a:r>
              <a:t>If a rep tries to say all four on every call, they’ll lose the room. Diagnose first, then pick the wedge.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or two changes I’d test first are practical and measured.</a:t>
            </a:r>
          </a:p>
          <a:p/>
          <a:p>
            <a:r>
              <a:t>First: once we’ve diagnosed the problem with call openers, objection handling, and discovery — increase activity. Don’t crank dials into a broken talk track. Fix the skill, then raise the volume, and watch connect, conversation, and meetings move.</a:t>
            </a:r>
          </a:p>
          <a:p/>
          <a:p>
            <a:r>
              <a:t>Second: improve messaging through personalization and staying up to date with AI models and labs constantly releasing new improvements. That means daily awareness of what leapfrogged overnight and talk tracks that stay current.</a:t>
            </a:r>
          </a:p>
          <a:p/>
          <a:p>
            <a:r>
              <a:t>I’d measure both with hard data — connect, conversation, meetings — and then ask the quality question: how many of these meetings are now converting to qualified? What worked? What did not work?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feedback loops with Growth and Sales already exist — so the question isn’t inventing them, it’s making them quicker and implementing change faster.</a:t>
            </a:r>
          </a:p>
          <a:p/>
          <a:p>
            <a:r>
              <a:t>I’d run weekly SE sessions so SDRs stay sharp on product and competitive framing. I’d make SDR and AE connects mandatory — not optional — so meeting quality feedback is real-time, not buried. And I’d send weekly recaps to AEs, SVPs, RDs, and SEs by territory: what converted, what failed, and one change we’re making.</a:t>
            </a:r>
          </a:p>
          <a:p/>
          <a:p>
            <a:r>
              <a:t>Faster loops, clearer owners, trains on time.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two — fundamentals. How I lead day to day.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role has changed because AI can take the rote work — research, first drafts, list building — so SDRs can be as efficient as possible and focus on what humans are actually good at.</a:t>
            </a:r>
          </a:p>
          <a:p/>
          <a:p>
            <a:r>
              <a:t>Humans still want to be sold to by humans. Even with AI, messaging and cold calls need humanization. The way we stand out isn’t louder sequences — it’s talking to prospects from a place of help: start a real discussion so they can reap the benefits of Cursor.</a:t>
            </a:r>
          </a:p>
          <a:p/>
          <a:p>
            <a:r>
              <a:t>Exceptional is someone who uses AI for the rote work, then stands out through genuine discovery, care, understanding the current state and the pains underneath it, and knowing which customer story matches the use case. They need organization and time management, research and business intuition, written and verbal communication, active listening and adaptability — carry the conversation and react with value — objection handling, and storytelling that paints technical pain and business value.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I hire, I’m looking for someone who will be excited every single day — and someone I can see moving into the next role.</a:t>
            </a:r>
          </a:p>
          <a:p/>
          <a:p>
            <a:r>
              <a:t>My bar is usually one to two years in sales, or something technical that required intelligence. Some of my best hires have been teachers or people with real work experience who want into sales — they understand concepts quickly.</a:t>
            </a:r>
          </a:p>
          <a:p/>
          <a:p>
            <a:r>
              <a:t>Every candidate needs four traits plus one non-negotiable: intelligence so they can gain knowledge, drive so they can gain the skills, coachable so they adapt, integrity so they’re honest — and a genuine passion for AI and Cursor. It’s not enough to want a fast-growing company. I want people who nerd out on which model is best and what’s changing in the space.</a:t>
            </a:r>
          </a:p>
          <a:p/>
          <a:p>
            <a:r>
              <a:t>Process-wise I source through LinkedIn Recruiter, and I prefer native language for the role — I’ve seen non-native speakers struggle when they have to sell technically in a second language.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Coaching and development all follow the same framework: Tell — what, who, why. Show — what good looks like. Observe — let them struggle. Provide feedback — but first ask what they did well and what they’d do differently. Repeat until it’s mastered.</a:t>
            </a:r>
          </a:p>
          <a:p/>
          <a:p>
            <a:r>
              <a:t>For new reps I spend a lot of time with them — constant training, homework, fix gaps quickly, and always the why. I give a ninety-day ramp broken down by week so they know exactly what to do when the week starts, and a buddy on the team for questions and advice.</a:t>
            </a:r>
          </a:p>
          <a:p/>
          <a:p>
            <a:r>
              <a:t>For top people I learn their motivation early, catch them doing something good, let them mentor, and keep coaching the gaps in their workflow. For underperformance I put a coaching plan in place as soon as I see someone off track — structure before it becomes a bigger issue.</a:t>
            </a:r>
          </a:p>
          <a:p/>
          <a:p>
            <a:r>
              <a:t>Culture is scoreboards, competitions, collaboration, and ending every week with a shoutout for someone else on the team so collaboration doesn’t go unnoticed.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three — craft and curiosity. This is where I’m happiest going live.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section is live — I’m happiest going here without slides doing the talking. Same craft as the whiteboard session with Derek and Dave at J&amp;J.</a:t>
            </a:r>
          </a:p>
          <a:p/>
          <a:p>
            <a:r>
              <a:t>If I’m earning a first meeting with one of you, I’m listening and diagnosing, not pitching a deck. Permission first — not slide-ware. I’d open with: what prompted you to take the call — or, the reason I’m calling is teams are writing code faster with AI and then hitting a bottleneck getting work through review and into production.</a:t>
            </a:r>
          </a:p>
          <a:p/>
          <a:p>
            <a:r>
              <a:t>I’d ask where engineering time actually goes — keep-the-lights-on, refactor, innovate, moonshot — because that’s where capacity for the projects that matter is hiding. The software factory frame: ideas in, valuable outputs out. If Copilot, Claude Code, or Codex is already in, I don’t trash-talk. I meet them on the maturity curve: assisted, agentic, cloud agents, governed factory — and ask where the team is stuck.</a:t>
            </a:r>
          </a:p>
          <a:p/>
          <a:p>
            <a:r>
              <a:t>Brush-off: if I get “just send an email,” I don’t collapse. Happy to — so I send the useful one: are you more focused on standardizing AI coding, or on the review bottleneck after Copilot?</a:t>
            </a:r>
          </a:p>
          <a:p/>
          <a:p>
            <a:r>
              <a:t>Ask: worth twenty minutes with you — and if useful, your platform lead — to map where AI coding helps versus where workflow still breaks. In a working session I’d close the way the whiteboard did: what’s the most important thing you saw today — for you personally, and for the company.</a:t>
            </a:r>
          </a:p>
          <a:p/>
          <a:p>
            <a:r>
              <a:t>I’m ready to do this live on one of you right now.</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Inboxes and LinkedIn are saturated, so I don’t believe volume tricks break through with this audience. Breaking through is persona-true relevance — one sharp question tied to a real trigger.</a:t>
            </a:r>
          </a:p>
          <a:p/>
          <a:p>
            <a:r>
              <a:t>For a hands-on developer: lead with real-repo context and daily workflow. Avoid corporate ROI theater. Peer proof and “try this on your actual pain” beat feature lists.</a:t>
            </a:r>
          </a:p>
          <a:p/>
          <a:p>
            <a:r>
              <a:t>For a VP of Engineering: lead with standardization, shipping speed, and capacity — the whiteboard motion of freeing time from keep-the-lights-on into moonshots. Avoid feature laundry lists.</a:t>
            </a:r>
          </a:p>
          <a:p/>
          <a:p>
            <a:r>
              <a:t>For Security or Platform: lead with governed adoption — Privacy Mode, admin controls, SSO/SCIM/audit — so AI coding doesn’t become shadow IT. Avoid hype. Earn the right to go deep later.</a:t>
            </a:r>
          </a:p>
          <a:p/>
          <a:p>
            <a:r>
              <a:t>What still works: trigger-based relevance — Copilot sprawl, AI policy moments, migrations, DevEx ownership — plus a binary question that earns the next conversation. What fails: “quick chat” spam, fake personalization, and slide-ware before you’ve earned diagnosis.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Getting attention right now is about earning thirty seconds with a technical buyer, not winning the inbox lottery.</a:t>
            </a:r>
          </a:p>
          <a:p/>
          <a:p>
            <a:r>
              <a:t>What works: a reason for the call tied to their world; diagnosing where time and bottlenecks actually sit; meeting them on the AI maturity curve; using customer stories that match the use case — Coinbase for agent-first, Stripe for rollout, PayPal for enterprise velocity, plus whiteboard stories like Nike RFID, Amplitude background agents, T-Mobile at scale; and asking for a working session, not a vague chat. Token efficiency and outcomes per dollar matter when finance is in the room — that’s attention currency too.</a:t>
            </a:r>
          </a:p>
          <a:p/>
          <a:p>
            <a:r>
              <a:t>What used to work that I’m confident will not work with Cursor’s audience: generic sequences, “just checking in,” ROI theater for developers, and feature dumps. Technical buyers smell fake personalization instantly, and they punish anyone who tries to out-engineer them on a cold call. Curiosity and diagnosis beat polish.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own read — not the company line — is this:</a:t>
            </a:r>
          </a:p>
          <a:p/>
          <a:p>
            <a:r>
              <a:t>Cursor wins because the market moved from “help me write code” to “help my org ship software with agents without losing control.” AI coding tools create speed and then move the bottleneck to review and production. Cursor wins when it becomes the governed software factory — workflow, codebase context, model neutrality, and execution across the SDLC — so teams free capacity for the work that actually changes the business.</a:t>
            </a:r>
          </a:p>
          <a:p/>
          <a:p>
            <a:r>
              <a:t>To a skeptical engineering leader in two sentences: Cursor doesn’t win by claiming the permanently smarter model. We win by applying intelligence better across real engineering workflows — and giving the enterprise the control plane to standardize that without shadow AI or wasted tokens.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 close where I started.</a:t>
            </a:r>
          </a:p>
          <a:p/>
          <a:p>
            <a:r>
              <a:t>In the first sixty days I won’t invent a new EMEA. I’ll diagnose the real constraints with data and AE truth — especially qualified versus unqualified meetings. I’ll protect the pitch and the right-person discipline that’s already working. I’ll train and raise activity only after we fix openers, objections, and discovery. I’ll run faster loops with Growth, AEs, and SEs. And I’ll lead as a player-coach — Tell, Show, Observe, Feedback — so the floor rises with the ceiling.</a:t>
            </a:r>
          </a:p>
          <a:p/>
          <a:p>
            <a:r>
              <a:t>That’s how you up-level a function that’s already working — and keep the trains on time.</a:t>
            </a:r>
          </a:p>
          <a:p/>
          <a:p>
            <a:r>
              <a:t>I’m Lindsey Dempsey. I’d love your questions — and if useful, I’m ready to pitch one of you live right now.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ursor-lockup-dark.png"/>
          <p:cNvPicPr>
            <a:picLocks noChangeAspect="1"/>
          </p:cNvPicPr>
          <p:nvPr/>
        </p:nvPicPr>
        <p:blipFill>
          <a:blip r:embed="rId2"/>
          <a:stretch>
            <a:fillRect/>
          </a:stretch>
        </p:blipFill>
        <p:spPr>
          <a:xfrm>
            <a:off x="777240" y="502920"/>
            <a:ext cx="1920240" cy="456547"/>
          </a:xfrm>
          <a:prstGeom prst="rect">
            <a:avLst/>
          </a:prstGeom>
        </p:spPr>
      </p:pic>
      <p:sp>
        <p:nvSpPr>
          <p:cNvPr id="4" name="Rectangle 3"/>
          <p:cNvSpPr/>
          <p:nvPr/>
        </p:nvSpPr>
        <p:spPr>
          <a:xfrm>
            <a:off x="777240" y="1874519"/>
            <a:ext cx="1280160"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103120"/>
            <a:ext cx="10515600" cy="822960"/>
          </a:xfrm>
          <a:prstGeom prst="rect">
            <a:avLst/>
          </a:prstGeom>
          <a:noFill/>
        </p:spPr>
        <p:txBody>
          <a:bodyPr wrap="square" anchor="t">
            <a:spAutoFit/>
          </a:bodyPr>
          <a:lstStyle/>
          <a:p>
            <a:pPr algn="l"/>
            <a:r>
              <a:rPr sz="4000" b="0">
                <a:solidFill>
                  <a:srgbClr val="26251E"/>
                </a:solidFill>
                <a:latin typeface="Arial"/>
              </a:rPr>
              <a:t>Up-Level the Machine</a:t>
            </a:r>
          </a:p>
        </p:txBody>
      </p:sp>
      <p:sp>
        <p:nvSpPr>
          <p:cNvPr id="6" name="TextBox 5"/>
          <p:cNvSpPr txBox="1"/>
          <p:nvPr/>
        </p:nvSpPr>
        <p:spPr>
          <a:xfrm>
            <a:off x="777240" y="3017520"/>
            <a:ext cx="10515600" cy="411480"/>
          </a:xfrm>
          <a:prstGeom prst="rect">
            <a:avLst/>
          </a:prstGeom>
          <a:noFill/>
        </p:spPr>
        <p:txBody>
          <a:bodyPr wrap="square" anchor="t">
            <a:spAutoFit/>
          </a:bodyPr>
          <a:lstStyle/>
          <a:p>
            <a:pPr algn="l"/>
            <a:r>
              <a:rPr sz="2000" b="0">
                <a:solidFill>
                  <a:srgbClr val="F54E00"/>
                </a:solidFill>
                <a:latin typeface="Arial"/>
              </a:rPr>
              <a:t>Diagnose  →  Protect  →  Experiment  →  Execute</a:t>
            </a:r>
          </a:p>
        </p:txBody>
      </p:sp>
      <p:sp>
        <p:nvSpPr>
          <p:cNvPr id="7" name="TextBox 6"/>
          <p:cNvSpPr txBox="1"/>
          <p:nvPr/>
        </p:nvSpPr>
        <p:spPr>
          <a:xfrm>
            <a:off x="777240" y="3611880"/>
            <a:ext cx="10515600" cy="411480"/>
          </a:xfrm>
          <a:prstGeom prst="rect">
            <a:avLst/>
          </a:prstGeom>
          <a:noFill/>
        </p:spPr>
        <p:txBody>
          <a:bodyPr wrap="square" anchor="t">
            <a:spAutoFit/>
          </a:bodyPr>
          <a:lstStyle/>
          <a:p>
            <a:pPr algn="l"/>
            <a:r>
              <a:rPr sz="1700" b="0">
                <a:solidFill>
                  <a:srgbClr val="807D72"/>
                </a:solidFill>
                <a:latin typeface="Arial"/>
              </a:rPr>
              <a:t>Player-coach plan for a high-performing EMEA SDR org</a:t>
            </a:r>
          </a:p>
        </p:txBody>
      </p:sp>
      <p:sp>
        <p:nvSpPr>
          <p:cNvPr id="8" name="Rectangle 7"/>
          <p:cNvSpPr/>
          <p:nvPr/>
        </p:nvSpPr>
        <p:spPr>
          <a:xfrm>
            <a:off x="0" y="5349240"/>
            <a:ext cx="12191695" cy="1508760"/>
          </a:xfrm>
          <a:prstGeom prst="rect">
            <a:avLst/>
          </a:prstGeom>
          <a:solidFill>
            <a:srgbClr val="2625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5623560"/>
            <a:ext cx="10515600" cy="365760"/>
          </a:xfrm>
          <a:prstGeom prst="rect">
            <a:avLst/>
          </a:prstGeom>
          <a:noFill/>
        </p:spPr>
        <p:txBody>
          <a:bodyPr wrap="square" anchor="t">
            <a:spAutoFit/>
          </a:bodyPr>
          <a:lstStyle/>
          <a:p>
            <a:pPr algn="l"/>
            <a:r>
              <a:rPr sz="1800" b="0">
                <a:solidFill>
                  <a:srgbClr val="FFFFFF"/>
                </a:solidFill>
                <a:latin typeface="Arial"/>
              </a:rPr>
              <a:t>Lindsey Dempsey  ·  EMEA SDR Leader Candidate</a:t>
            </a:r>
          </a:p>
        </p:txBody>
      </p:sp>
      <p:sp>
        <p:nvSpPr>
          <p:cNvPr id="10" name="TextBox 9"/>
          <p:cNvSpPr txBox="1"/>
          <p:nvPr/>
        </p:nvSpPr>
        <p:spPr>
          <a:xfrm>
            <a:off x="777240" y="6035040"/>
            <a:ext cx="10515600" cy="320040"/>
          </a:xfrm>
          <a:prstGeom prst="rect">
            <a:avLst/>
          </a:prstGeom>
          <a:noFill/>
        </p:spPr>
        <p:txBody>
          <a:bodyPr wrap="square" anchor="t">
            <a:spAutoFit/>
          </a:bodyPr>
          <a:lstStyle/>
          <a:p>
            <a:pPr algn="l"/>
            <a:r>
              <a:rPr sz="1400" b="0">
                <a:solidFill>
                  <a:srgbClr val="EFEEE8"/>
                </a:solidFill>
                <a:latin typeface="Arial"/>
              </a:rPr>
              <a:t>Cursor wins on workflow · context · execution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2625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ursor-lockup-light.png"/>
          <p:cNvPicPr>
            <a:picLocks noChangeAspect="1"/>
          </p:cNvPicPr>
          <p:nvPr/>
        </p:nvPicPr>
        <p:blipFill>
          <a:blip r:embed="rId2"/>
          <a:stretch>
            <a:fillRect/>
          </a:stretch>
        </p:blipFill>
        <p:spPr>
          <a:xfrm>
            <a:off x="640080" y="292608"/>
            <a:ext cx="1234440" cy="293494"/>
          </a:xfrm>
          <a:prstGeom prst="rect">
            <a:avLst/>
          </a:prstGeom>
        </p:spPr>
      </p:pic>
      <p:sp>
        <p:nvSpPr>
          <p:cNvPr id="5" name="TextBox 4"/>
          <p:cNvSpPr txBox="1"/>
          <p:nvPr/>
        </p:nvSpPr>
        <p:spPr>
          <a:xfrm>
            <a:off x="2103120" y="292608"/>
            <a:ext cx="9326880" cy="502920"/>
          </a:xfrm>
          <a:prstGeom prst="rect">
            <a:avLst/>
          </a:prstGeom>
          <a:noFill/>
        </p:spPr>
        <p:txBody>
          <a:bodyPr wrap="square" anchor="t">
            <a:spAutoFit/>
          </a:bodyPr>
          <a:lstStyle/>
          <a:p>
            <a:pPr algn="l"/>
            <a:r>
              <a:rPr sz="2200" b="0">
                <a:solidFill>
                  <a:srgbClr val="FFFFFF"/>
                </a:solidFill>
                <a:latin typeface="Arial"/>
              </a:rPr>
              <a:t>Thesis: don’t rebuild a working machine — raise its ceiling</a:t>
            </a:r>
          </a:p>
        </p:txBody>
      </p:sp>
      <p:sp>
        <p:nvSpPr>
          <p:cNvPr id="6" name="Rectangle 5"/>
          <p:cNvSpPr/>
          <p:nvPr/>
        </p:nvSpPr>
        <p:spPr>
          <a:xfrm>
            <a:off x="0" y="1051560"/>
            <a:ext cx="12191695"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371600"/>
            <a:ext cx="10607040" cy="4663440"/>
          </a:xfrm>
          <a:prstGeom prst="rect">
            <a:avLst/>
          </a:prstGeom>
          <a:noFill/>
        </p:spPr>
        <p:txBody>
          <a:bodyPr wrap="square">
            <a:spAutoFit/>
          </a:bodyPr>
          <a:lstStyle/>
          <a:p>
            <a:pPr algn="l">
              <a:spcAft>
                <a:spcPts val="1100"/>
              </a:spcAft>
            </a:pPr>
            <a:r>
              <a:rPr sz="1700" b="0">
                <a:solidFill>
                  <a:srgbClr val="26251E"/>
                </a:solidFill>
                <a:latin typeface="Arial"/>
              </a:rPr>
              <a:t>•  EMEA already high-performing: AI-augmented workflows, clear ICP, eight-figure monthly pipeline</a:t>
            </a:r>
          </a:p>
          <a:p>
            <a:pPr algn="l">
              <a:spcAft>
                <a:spcPts val="1100"/>
              </a:spcAft>
            </a:pPr>
            <a:r>
              <a:rPr sz="1700" b="0">
                <a:solidFill>
                  <a:srgbClr val="26251E"/>
                </a:solidFill>
                <a:latin typeface="Arial"/>
              </a:rPr>
              <a:t>•  Job = find real constraints, protect what works, run a few high-leverage experiments</a:t>
            </a:r>
          </a:p>
          <a:p>
            <a:pPr algn="l">
              <a:spcAft>
                <a:spcPts val="1100"/>
              </a:spcAft>
            </a:pPr>
            <a:r>
              <a:rPr sz="1700" b="0">
                <a:solidFill>
                  <a:srgbClr val="26251E"/>
                </a:solidFill>
                <a:latin typeface="Arial"/>
              </a:rPr>
              <a:t>•  Every SDR fluent in how Cursor wins — workflow, context, execution</a:t>
            </a:r>
          </a:p>
          <a:p>
            <a:pPr algn="l">
              <a:spcAft>
                <a:spcPts val="1100"/>
              </a:spcAft>
            </a:pPr>
            <a:r>
              <a:rPr sz="1700" b="0">
                <a:solidFill>
                  <a:srgbClr val="26251E"/>
                </a:solidFill>
                <a:latin typeface="Arial"/>
              </a:rPr>
              <a:t>•  Lead as a player-coach: trains on time, inspection over activity theater</a:t>
            </a:r>
          </a:p>
          <a:p>
            <a:pPr algn="l">
              <a:spcAft>
                <a:spcPts val="1100"/>
              </a:spcAft>
            </a:pPr>
            <a:r>
              <a:rPr sz="1700" b="0">
                <a:solidFill>
                  <a:srgbClr val="26251E"/>
                </a:solidFill>
                <a:latin typeface="Arial"/>
              </a:rPr>
              <a:t>•  Success = better conversation quality + higher AE acceptance — not a reorg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2625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ursor-lockup-light.png"/>
          <p:cNvPicPr>
            <a:picLocks noChangeAspect="1"/>
          </p:cNvPicPr>
          <p:nvPr/>
        </p:nvPicPr>
        <p:blipFill>
          <a:blip r:embed="rId2"/>
          <a:stretch>
            <a:fillRect/>
          </a:stretch>
        </p:blipFill>
        <p:spPr>
          <a:xfrm>
            <a:off x="640080" y="292608"/>
            <a:ext cx="1234440" cy="293494"/>
          </a:xfrm>
          <a:prstGeom prst="rect">
            <a:avLst/>
          </a:prstGeom>
        </p:spPr>
      </p:pic>
      <p:sp>
        <p:nvSpPr>
          <p:cNvPr id="5" name="TextBox 4"/>
          <p:cNvSpPr txBox="1"/>
          <p:nvPr/>
        </p:nvSpPr>
        <p:spPr>
          <a:xfrm>
            <a:off x="2103120" y="292608"/>
            <a:ext cx="9326880" cy="502920"/>
          </a:xfrm>
          <a:prstGeom prst="rect">
            <a:avLst/>
          </a:prstGeom>
          <a:noFill/>
        </p:spPr>
        <p:txBody>
          <a:bodyPr wrap="square" anchor="t">
            <a:spAutoFit/>
          </a:bodyPr>
          <a:lstStyle/>
          <a:p>
            <a:pPr algn="l"/>
            <a:r>
              <a:rPr sz="2200" b="0">
                <a:solidFill>
                  <a:srgbClr val="FFFFFF"/>
                </a:solidFill>
                <a:latin typeface="Arial"/>
              </a:rPr>
              <a:t>Agenda</a:t>
            </a:r>
          </a:p>
        </p:txBody>
      </p:sp>
      <p:sp>
        <p:nvSpPr>
          <p:cNvPr id="6" name="Rectangle 5"/>
          <p:cNvSpPr/>
          <p:nvPr/>
        </p:nvSpPr>
        <p:spPr>
          <a:xfrm>
            <a:off x="0" y="1051560"/>
            <a:ext cx="12191695"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371600"/>
            <a:ext cx="10607040" cy="4663440"/>
          </a:xfrm>
          <a:prstGeom prst="rect">
            <a:avLst/>
          </a:prstGeom>
          <a:noFill/>
        </p:spPr>
        <p:txBody>
          <a:bodyPr wrap="square">
            <a:spAutoFit/>
          </a:bodyPr>
          <a:lstStyle/>
          <a:p>
            <a:pPr algn="l">
              <a:spcAft>
                <a:spcPts val="1100"/>
              </a:spcAft>
            </a:pPr>
            <a:r>
              <a:rPr sz="1700" b="0">
                <a:solidFill>
                  <a:srgbClr val="26251E"/>
                </a:solidFill>
                <a:latin typeface="Arial"/>
              </a:rPr>
              <a:t>•  Part 1 (20 min) — Diagnosis, 15/30 calendar, protect, gains, experiments, Growth/Sales loops</a:t>
            </a:r>
          </a:p>
          <a:p>
            <a:pPr algn="l">
              <a:spcAft>
                <a:spcPts val="1100"/>
              </a:spcAft>
            </a:pPr>
            <a:r>
              <a:rPr sz="1700" b="0">
                <a:solidFill>
                  <a:srgbClr val="26251E"/>
                </a:solidFill>
                <a:latin typeface="Arial"/>
              </a:rPr>
              <a:t>•  Part 2 (12 min) — AI-era SDR, hiring bar, Tell→Show→Observe coaching</a:t>
            </a:r>
          </a:p>
          <a:p>
            <a:pPr algn="l">
              <a:spcAft>
                <a:spcPts val="1100"/>
              </a:spcAft>
            </a:pPr>
            <a:r>
              <a:rPr sz="1700" b="0">
                <a:solidFill>
                  <a:srgbClr val="26251E"/>
                </a:solidFill>
                <a:latin typeface="Arial"/>
              </a:rPr>
              <a:t>•  Part 3 (~10 min, partly live) — Pitch, personas, attention, why we win</a:t>
            </a:r>
          </a:p>
          <a:p>
            <a:pPr algn="l">
              <a:spcAft>
                <a:spcPts val="1100"/>
              </a:spcAft>
            </a:pPr>
            <a:r>
              <a:rPr sz="1700" b="0">
                <a:solidFill>
                  <a:srgbClr val="26251E"/>
                </a:solidFill>
                <a:latin typeface="Arial"/>
              </a:rPr>
              <a:t>•  Clarity over polish — happy to go live earlier on the pitch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ursor-lockup-dark.png"/>
          <p:cNvPicPr>
            <a:picLocks noChangeAspect="1"/>
          </p:cNvPicPr>
          <p:nvPr/>
        </p:nvPicPr>
        <p:blipFill>
          <a:blip r:embed="rId2"/>
          <a:stretch>
            <a:fillRect/>
          </a:stretch>
        </p:blipFill>
        <p:spPr>
          <a:xfrm>
            <a:off x="777240" y="502920"/>
            <a:ext cx="1645920" cy="391326"/>
          </a:xfrm>
          <a:prstGeom prst="rect">
            <a:avLst/>
          </a:prstGeom>
        </p:spPr>
      </p:pic>
      <p:sp>
        <p:nvSpPr>
          <p:cNvPr id="4" name="Rectangle 3"/>
          <p:cNvSpPr/>
          <p:nvPr/>
        </p:nvSpPr>
        <p:spPr>
          <a:xfrm>
            <a:off x="777240" y="2331720"/>
            <a:ext cx="1234440"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0"/>
            <a:ext cx="10058400" cy="320040"/>
          </a:xfrm>
          <a:prstGeom prst="rect">
            <a:avLst/>
          </a:prstGeom>
          <a:noFill/>
        </p:spPr>
        <p:txBody>
          <a:bodyPr wrap="square" anchor="t">
            <a:spAutoFit/>
          </a:bodyPr>
          <a:lstStyle/>
          <a:p>
            <a:pPr algn="l"/>
            <a:r>
              <a:rPr sz="1300" b="1">
                <a:solidFill>
                  <a:srgbClr val="F54E00"/>
                </a:solidFill>
                <a:latin typeface="Arial"/>
              </a:rPr>
              <a:t>PART 1</a:t>
            </a:r>
          </a:p>
        </p:txBody>
      </p:sp>
      <p:sp>
        <p:nvSpPr>
          <p:cNvPr id="6" name="TextBox 5"/>
          <p:cNvSpPr txBox="1"/>
          <p:nvPr/>
        </p:nvSpPr>
        <p:spPr>
          <a:xfrm>
            <a:off x="777240" y="3017520"/>
            <a:ext cx="10607040" cy="1097280"/>
          </a:xfrm>
          <a:prstGeom prst="rect">
            <a:avLst/>
          </a:prstGeom>
          <a:noFill/>
        </p:spPr>
        <p:txBody>
          <a:bodyPr wrap="square" anchor="t">
            <a:spAutoFit/>
          </a:bodyPr>
          <a:lstStyle/>
          <a:p>
            <a:pPr algn="l"/>
            <a:r>
              <a:rPr sz="3000" b="0">
                <a:solidFill>
                  <a:srgbClr val="26251E"/>
                </a:solidFill>
                <a:latin typeface="Arial"/>
              </a:rPr>
              <a:t>How I’d up-level EMEA in the first sixty days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2625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ursor-lockup-light.png"/>
          <p:cNvPicPr>
            <a:picLocks noChangeAspect="1"/>
          </p:cNvPicPr>
          <p:nvPr/>
        </p:nvPicPr>
        <p:blipFill>
          <a:blip r:embed="rId2"/>
          <a:stretch>
            <a:fillRect/>
          </a:stretch>
        </p:blipFill>
        <p:spPr>
          <a:xfrm>
            <a:off x="640080" y="292608"/>
            <a:ext cx="1234440" cy="293494"/>
          </a:xfrm>
          <a:prstGeom prst="rect">
            <a:avLst/>
          </a:prstGeom>
        </p:spPr>
      </p:pic>
      <p:sp>
        <p:nvSpPr>
          <p:cNvPr id="5" name="TextBox 4"/>
          <p:cNvSpPr txBox="1"/>
          <p:nvPr/>
        </p:nvSpPr>
        <p:spPr>
          <a:xfrm>
            <a:off x="2103120" y="292608"/>
            <a:ext cx="9326880" cy="502920"/>
          </a:xfrm>
          <a:prstGeom prst="rect">
            <a:avLst/>
          </a:prstGeom>
          <a:noFill/>
        </p:spPr>
        <p:txBody>
          <a:bodyPr wrap="square" anchor="t">
            <a:spAutoFit/>
          </a:bodyPr>
          <a:lstStyle/>
          <a:p>
            <a:pPr algn="l"/>
            <a:r>
              <a:rPr sz="2200" b="0">
                <a:solidFill>
                  <a:srgbClr val="FFFFFF"/>
                </a:solidFill>
                <a:latin typeface="Arial"/>
              </a:rPr>
              <a:t>Diagnosis first — learn before you change anything</a:t>
            </a:r>
          </a:p>
        </p:txBody>
      </p:sp>
      <p:sp>
        <p:nvSpPr>
          <p:cNvPr id="6" name="Rectangle 5"/>
          <p:cNvSpPr/>
          <p:nvPr/>
        </p:nvSpPr>
        <p:spPr>
          <a:xfrm>
            <a:off x="0" y="1051560"/>
            <a:ext cx="12191695"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280160"/>
            <a:ext cx="3611880" cy="4800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508760"/>
            <a:ext cx="685800"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737360"/>
            <a:ext cx="3200400" cy="365760"/>
          </a:xfrm>
          <a:prstGeom prst="rect">
            <a:avLst/>
          </a:prstGeom>
          <a:noFill/>
        </p:spPr>
        <p:txBody>
          <a:bodyPr wrap="square" anchor="t">
            <a:spAutoFit/>
          </a:bodyPr>
          <a:lstStyle/>
          <a:p>
            <a:pPr algn="l"/>
            <a:r>
              <a:rPr sz="1500" b="1">
                <a:solidFill>
                  <a:srgbClr val="26251E"/>
                </a:solidFill>
                <a:latin typeface="Arial"/>
              </a:rPr>
              <a:t>AE acceptance truth</a:t>
            </a:r>
          </a:p>
        </p:txBody>
      </p:sp>
      <p:sp>
        <p:nvSpPr>
          <p:cNvPr id="10" name="TextBox 9"/>
          <p:cNvSpPr txBox="1"/>
          <p:nvPr/>
        </p:nvSpPr>
        <p:spPr>
          <a:xfrm>
            <a:off x="640080" y="2240280"/>
            <a:ext cx="3200400" cy="3566160"/>
          </a:xfrm>
          <a:prstGeom prst="rect">
            <a:avLst/>
          </a:prstGeom>
          <a:noFill/>
        </p:spPr>
        <p:txBody>
          <a:bodyPr wrap="square">
            <a:spAutoFit/>
          </a:bodyPr>
          <a:lstStyle/>
          <a:p>
            <a:pPr algn="l">
              <a:spcAft>
                <a:spcPts val="700"/>
              </a:spcAft>
            </a:pPr>
            <a:r>
              <a:rPr sz="1300" b="0">
                <a:solidFill>
                  <a:srgbClr val="26251E"/>
                </a:solidFill>
                <a:latin typeface="Arial"/>
              </a:rPr>
              <a:t>•  % meetings → qualified vs unqualified</a:t>
            </a:r>
          </a:p>
          <a:p>
            <a:pPr algn="l">
              <a:spcAft>
                <a:spcPts val="700"/>
              </a:spcAft>
            </a:pPr>
            <a:r>
              <a:rPr sz="1300" b="0">
                <a:solidFill>
                  <a:srgbClr val="26251E"/>
                </a:solidFill>
                <a:latin typeface="Arial"/>
              </a:rPr>
              <a:t>•  Unqualified = wasted AE time</a:t>
            </a:r>
          </a:p>
          <a:p>
            <a:pPr algn="l">
              <a:spcAft>
                <a:spcPts val="700"/>
              </a:spcAft>
            </a:pPr>
            <a:r>
              <a:rPr sz="1300" b="0">
                <a:solidFill>
                  <a:srgbClr val="26251E"/>
                </a:solidFill>
                <a:latin typeface="Arial"/>
              </a:rPr>
              <a:t>•  Talk to AEs: where did it fall flat?</a:t>
            </a:r>
          </a:p>
          <a:p>
            <a:pPr algn="l">
              <a:spcAft>
                <a:spcPts val="700"/>
              </a:spcAft>
            </a:pPr>
            <a:r>
              <a:rPr sz="1300" b="0">
                <a:solidFill>
                  <a:srgbClr val="26251E"/>
                </a:solidFill>
                <a:latin typeface="Arial"/>
              </a:rPr>
              <a:t>•  Pattern hunt: titles · pain · industry</a:t>
            </a:r>
          </a:p>
          <a:p>
            <a:pPr algn="l">
              <a:spcAft>
                <a:spcPts val="700"/>
              </a:spcAft>
            </a:pPr>
            <a:r>
              <a:rPr sz="1300" b="0">
                <a:solidFill>
                  <a:srgbClr val="26251E"/>
                </a:solidFill>
                <a:latin typeface="Arial"/>
              </a:rPr>
              <a:t>•  Competitor? Why no next steps?</a:t>
            </a:r>
          </a:p>
          <a:p>
            <a:pPr algn="l">
              <a:spcAft>
                <a:spcPts val="700"/>
              </a:spcAft>
            </a:pPr>
            <a:r>
              <a:rPr sz="1300" b="0">
                <a:solidFill>
                  <a:srgbClr val="26251E"/>
                </a:solidFill>
                <a:latin typeface="Arial"/>
              </a:rPr>
              <a:t>•  Gaps → coaching plan</a:t>
            </a:r>
          </a:p>
        </p:txBody>
      </p:sp>
      <p:sp>
        <p:nvSpPr>
          <p:cNvPr id="11" name="Rectangle 10"/>
          <p:cNvSpPr/>
          <p:nvPr/>
        </p:nvSpPr>
        <p:spPr>
          <a:xfrm>
            <a:off x="4206240" y="1280160"/>
            <a:ext cx="3611880" cy="4800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89120" y="1508760"/>
            <a:ext cx="685800"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9120" y="1737360"/>
            <a:ext cx="3200400" cy="365760"/>
          </a:xfrm>
          <a:prstGeom prst="rect">
            <a:avLst/>
          </a:prstGeom>
          <a:noFill/>
        </p:spPr>
        <p:txBody>
          <a:bodyPr wrap="square" anchor="t">
            <a:spAutoFit/>
          </a:bodyPr>
          <a:lstStyle/>
          <a:p>
            <a:pPr algn="l"/>
            <a:r>
              <a:rPr sz="1500" b="1">
                <a:solidFill>
                  <a:srgbClr val="26251E"/>
                </a:solidFill>
                <a:latin typeface="Arial"/>
              </a:rPr>
              <a:t>Funnel leaks</a:t>
            </a:r>
          </a:p>
        </p:txBody>
      </p:sp>
      <p:sp>
        <p:nvSpPr>
          <p:cNvPr id="14" name="TextBox 13"/>
          <p:cNvSpPr txBox="1"/>
          <p:nvPr/>
        </p:nvSpPr>
        <p:spPr>
          <a:xfrm>
            <a:off x="4389120" y="2240280"/>
            <a:ext cx="3200400" cy="3566160"/>
          </a:xfrm>
          <a:prstGeom prst="rect">
            <a:avLst/>
          </a:prstGeom>
          <a:noFill/>
        </p:spPr>
        <p:txBody>
          <a:bodyPr wrap="square">
            <a:spAutoFit/>
          </a:bodyPr>
          <a:lstStyle/>
          <a:p>
            <a:pPr algn="l">
              <a:spcAft>
                <a:spcPts val="700"/>
              </a:spcAft>
            </a:pPr>
            <a:r>
              <a:rPr sz="1300" b="0">
                <a:solidFill>
                  <a:srgbClr val="26251E"/>
                </a:solidFill>
                <a:latin typeface="Arial"/>
              </a:rPr>
              <a:t>•  Connect rate</a:t>
            </a:r>
          </a:p>
          <a:p>
            <a:pPr algn="l">
              <a:spcAft>
                <a:spcPts val="700"/>
              </a:spcAft>
            </a:pPr>
            <a:r>
              <a:rPr sz="1300" b="0">
                <a:solidFill>
                  <a:srgbClr val="26251E"/>
                </a:solidFill>
                <a:latin typeface="Arial"/>
              </a:rPr>
              <a:t>•  Connect → conversation</a:t>
            </a:r>
          </a:p>
          <a:p>
            <a:pPr algn="l">
              <a:spcAft>
                <a:spcPts val="700"/>
              </a:spcAft>
            </a:pPr>
            <a:r>
              <a:rPr sz="1300" b="0">
                <a:solidFill>
                  <a:srgbClr val="26251E"/>
                </a:solidFill>
                <a:latin typeface="Arial"/>
              </a:rPr>
              <a:t>•  Conversation → meeting</a:t>
            </a:r>
          </a:p>
          <a:p>
            <a:pPr algn="l">
              <a:spcAft>
                <a:spcPts val="700"/>
              </a:spcAft>
            </a:pPr>
            <a:r>
              <a:rPr sz="1300" b="0">
                <a:solidFill>
                  <a:srgbClr val="26251E"/>
                </a:solidFill>
                <a:latin typeface="Arial"/>
              </a:rPr>
              <a:t>•  Low C→Conv: openers / objections → objection training</a:t>
            </a:r>
          </a:p>
          <a:p>
            <a:pPr algn="l">
              <a:spcAft>
                <a:spcPts val="700"/>
              </a:spcAft>
            </a:pPr>
            <a:r>
              <a:rPr sz="1300" b="0">
                <a:solidFill>
                  <a:srgbClr val="26251E"/>
                </a:solidFill>
                <a:latin typeface="Arial"/>
              </a:rPr>
              <a:t>•  Low Conv→Mtg: discovery / pain → differentiator or competitor training</a:t>
            </a:r>
          </a:p>
          <a:p>
            <a:pPr algn="l">
              <a:spcAft>
                <a:spcPts val="700"/>
              </a:spcAft>
            </a:pPr>
            <a:r>
              <a:rPr sz="1300" b="0">
                <a:solidFill>
                  <a:srgbClr val="26251E"/>
                </a:solidFill>
                <a:latin typeface="Arial"/>
              </a:rPr>
              <a:t>•  Already using a competitor? Train the frame</a:t>
            </a:r>
          </a:p>
        </p:txBody>
      </p:sp>
      <p:sp>
        <p:nvSpPr>
          <p:cNvPr id="15" name="Rectangle 14"/>
          <p:cNvSpPr/>
          <p:nvPr/>
        </p:nvSpPr>
        <p:spPr>
          <a:xfrm>
            <a:off x="7955279" y="1280160"/>
            <a:ext cx="3611880" cy="4800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38159" y="1508760"/>
            <a:ext cx="685800"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38159" y="1737360"/>
            <a:ext cx="3200400" cy="365760"/>
          </a:xfrm>
          <a:prstGeom prst="rect">
            <a:avLst/>
          </a:prstGeom>
          <a:noFill/>
        </p:spPr>
        <p:txBody>
          <a:bodyPr wrap="square" anchor="t">
            <a:spAutoFit/>
          </a:bodyPr>
          <a:lstStyle/>
          <a:p>
            <a:pPr algn="l"/>
            <a:r>
              <a:rPr sz="1500" b="1">
                <a:solidFill>
                  <a:srgbClr val="26251E"/>
                </a:solidFill>
                <a:latin typeface="Arial"/>
              </a:rPr>
              <a:t>Channel mix</a:t>
            </a:r>
          </a:p>
        </p:txBody>
      </p:sp>
      <p:sp>
        <p:nvSpPr>
          <p:cNvPr id="18" name="TextBox 17"/>
          <p:cNvSpPr txBox="1"/>
          <p:nvPr/>
        </p:nvSpPr>
        <p:spPr>
          <a:xfrm>
            <a:off x="8138159" y="2240280"/>
            <a:ext cx="3200400" cy="3566160"/>
          </a:xfrm>
          <a:prstGeom prst="rect">
            <a:avLst/>
          </a:prstGeom>
          <a:noFill/>
        </p:spPr>
        <p:txBody>
          <a:bodyPr wrap="square">
            <a:spAutoFit/>
          </a:bodyPr>
          <a:lstStyle/>
          <a:p>
            <a:pPr algn="l">
              <a:spcAft>
                <a:spcPts val="700"/>
              </a:spcAft>
            </a:pPr>
            <a:r>
              <a:rPr sz="1300" b="0">
                <a:solidFill>
                  <a:srgbClr val="26251E"/>
                </a:solidFill>
                <a:latin typeface="Arial"/>
              </a:rPr>
              <a:t>•  % meetings via email</a:t>
            </a:r>
          </a:p>
          <a:p>
            <a:pPr algn="l">
              <a:spcAft>
                <a:spcPts val="700"/>
              </a:spcAft>
            </a:pPr>
            <a:r>
              <a:rPr sz="1300" b="0">
                <a:solidFill>
                  <a:srgbClr val="26251E"/>
                </a:solidFill>
                <a:latin typeface="Arial"/>
              </a:rPr>
              <a:t>•  % meetings via LinkedIn</a:t>
            </a:r>
          </a:p>
          <a:p>
            <a:pPr algn="l">
              <a:spcAft>
                <a:spcPts val="700"/>
              </a:spcAft>
            </a:pPr>
            <a:r>
              <a:rPr sz="1300" b="0">
                <a:solidFill>
                  <a:srgbClr val="26251E"/>
                </a:solidFill>
                <a:latin typeface="Arial"/>
              </a:rPr>
              <a:t>•  % meetings via phone</a:t>
            </a:r>
          </a:p>
          <a:p>
            <a:pPr algn="l">
              <a:spcAft>
                <a:spcPts val="700"/>
              </a:spcAft>
            </a:pPr>
            <a:r>
              <a:rPr sz="1300" b="0">
                <a:solidFill>
                  <a:srgbClr val="26251E"/>
                </a:solidFill>
                <a:latin typeface="Arial"/>
              </a:rPr>
              <a:t>•  Which is strongest?</a:t>
            </a:r>
          </a:p>
          <a:p>
            <a:pPr algn="l">
              <a:spcAft>
                <a:spcPts val="700"/>
              </a:spcAft>
            </a:pPr>
            <a:r>
              <a:rPr sz="1300" b="0">
                <a:solidFill>
                  <a:srgbClr val="26251E"/>
                </a:solidFill>
                <a:latin typeface="Arial"/>
              </a:rPr>
              <a:t>•  Which is weakest?</a:t>
            </a:r>
          </a:p>
          <a:p>
            <a:pPr algn="l">
              <a:spcAft>
                <a:spcPts val="700"/>
              </a:spcAft>
            </a:pPr>
            <a:r>
              <a:rPr sz="1300" b="0">
                <a:solidFill>
                  <a:srgbClr val="26251E"/>
                </a:solidFill>
                <a:latin typeface="Arial"/>
              </a:rPr>
              <a:t>•  Double down on what’s working — lift the weak bucket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2625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ursor-lockup-light.png"/>
          <p:cNvPicPr>
            <a:picLocks noChangeAspect="1"/>
          </p:cNvPicPr>
          <p:nvPr/>
        </p:nvPicPr>
        <p:blipFill>
          <a:blip r:embed="rId2"/>
          <a:stretch>
            <a:fillRect/>
          </a:stretch>
        </p:blipFill>
        <p:spPr>
          <a:xfrm>
            <a:off x="640080" y="292608"/>
            <a:ext cx="1234440" cy="293494"/>
          </a:xfrm>
          <a:prstGeom prst="rect">
            <a:avLst/>
          </a:prstGeom>
        </p:spPr>
      </p:pic>
      <p:sp>
        <p:nvSpPr>
          <p:cNvPr id="5" name="TextBox 4"/>
          <p:cNvSpPr txBox="1"/>
          <p:nvPr/>
        </p:nvSpPr>
        <p:spPr>
          <a:xfrm>
            <a:off x="2103120" y="292608"/>
            <a:ext cx="9326880" cy="502920"/>
          </a:xfrm>
          <a:prstGeom prst="rect">
            <a:avLst/>
          </a:prstGeom>
          <a:noFill/>
        </p:spPr>
        <p:txBody>
          <a:bodyPr wrap="square" anchor="t">
            <a:spAutoFit/>
          </a:bodyPr>
          <a:lstStyle/>
          <a:p>
            <a:pPr algn="l"/>
            <a:r>
              <a:rPr sz="2200" b="0">
                <a:solidFill>
                  <a:srgbClr val="FFFFFF"/>
                </a:solidFill>
                <a:latin typeface="Arial"/>
              </a:rPr>
              <a:t>Operating calendar — first 15 and 30 days</a:t>
            </a:r>
          </a:p>
        </p:txBody>
      </p:sp>
      <p:sp>
        <p:nvSpPr>
          <p:cNvPr id="6" name="Rectangle 5"/>
          <p:cNvSpPr/>
          <p:nvPr/>
        </p:nvSpPr>
        <p:spPr>
          <a:xfrm>
            <a:off x="0" y="1051560"/>
            <a:ext cx="12191695"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80160"/>
            <a:ext cx="5486400" cy="4846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280160"/>
            <a:ext cx="5486400" cy="640080"/>
          </a:xfrm>
          <a:prstGeom prst="rect">
            <a:avLst/>
          </a:prstGeom>
          <a:solidFill>
            <a:srgbClr val="2625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371600"/>
            <a:ext cx="5029200" cy="228600"/>
          </a:xfrm>
          <a:prstGeom prst="rect">
            <a:avLst/>
          </a:prstGeom>
          <a:noFill/>
        </p:spPr>
        <p:txBody>
          <a:bodyPr wrap="square" anchor="t">
            <a:spAutoFit/>
          </a:bodyPr>
          <a:lstStyle/>
          <a:p>
            <a:pPr algn="l"/>
            <a:r>
              <a:rPr sz="1200" b="1">
                <a:solidFill>
                  <a:srgbClr val="F54E00"/>
                </a:solidFill>
                <a:latin typeface="Arial"/>
              </a:rPr>
              <a:t>DAYS 1–15</a:t>
            </a:r>
          </a:p>
        </p:txBody>
      </p:sp>
      <p:sp>
        <p:nvSpPr>
          <p:cNvPr id="10" name="TextBox 9"/>
          <p:cNvSpPr txBox="1"/>
          <p:nvPr/>
        </p:nvSpPr>
        <p:spPr>
          <a:xfrm>
            <a:off x="685800" y="1627632"/>
            <a:ext cx="5029200" cy="228600"/>
          </a:xfrm>
          <a:prstGeom prst="rect">
            <a:avLst/>
          </a:prstGeom>
          <a:noFill/>
        </p:spPr>
        <p:txBody>
          <a:bodyPr wrap="square" anchor="t">
            <a:spAutoFit/>
          </a:bodyPr>
          <a:lstStyle/>
          <a:p>
            <a:pPr algn="l"/>
            <a:r>
              <a:rPr sz="1600" b="1">
                <a:solidFill>
                  <a:srgbClr val="FFFFFF"/>
                </a:solidFill>
                <a:latin typeface="Arial"/>
              </a:rPr>
              <a:t>Inspection · Data · Training design</a:t>
            </a:r>
          </a:p>
        </p:txBody>
      </p:sp>
      <p:sp>
        <p:nvSpPr>
          <p:cNvPr id="11" name="TextBox 10"/>
          <p:cNvSpPr txBox="1"/>
          <p:nvPr/>
        </p:nvSpPr>
        <p:spPr>
          <a:xfrm>
            <a:off x="731520" y="2148840"/>
            <a:ext cx="4937760" cy="3657600"/>
          </a:xfrm>
          <a:prstGeom prst="rect">
            <a:avLst/>
          </a:prstGeom>
          <a:noFill/>
        </p:spPr>
        <p:txBody>
          <a:bodyPr wrap="square">
            <a:spAutoFit/>
          </a:bodyPr>
          <a:lstStyle/>
          <a:p>
            <a:pPr algn="l">
              <a:spcAft>
                <a:spcPts val="800"/>
              </a:spcAft>
            </a:pPr>
            <a:r>
              <a:rPr sz="1400" b="0">
                <a:solidFill>
                  <a:srgbClr val="26251E"/>
                </a:solidFill>
                <a:latin typeface="Arial"/>
              </a:rPr>
              <a:t>•  Inspect the machine — no big changes yet</a:t>
            </a:r>
          </a:p>
          <a:p>
            <a:pPr algn="l">
              <a:spcAft>
                <a:spcPts val="800"/>
              </a:spcAft>
            </a:pPr>
            <a:r>
              <a:rPr sz="1400" b="0">
                <a:solidFill>
                  <a:srgbClr val="26251E"/>
                </a:solidFill>
                <a:latin typeface="Arial"/>
              </a:rPr>
              <a:t>•  Pull hard data: qualified vs unqualified meetings</a:t>
            </a:r>
          </a:p>
          <a:p>
            <a:pPr algn="l">
              <a:spcAft>
                <a:spcPts val="800"/>
              </a:spcAft>
            </a:pPr>
            <a:r>
              <a:rPr sz="1400" b="0">
                <a:solidFill>
                  <a:srgbClr val="26251E"/>
                </a:solidFill>
                <a:latin typeface="Arial"/>
              </a:rPr>
              <a:t>•  AE interviews: titles, pain, industry, competitor, next steps</a:t>
            </a:r>
          </a:p>
          <a:p>
            <a:pPr algn="l">
              <a:spcAft>
                <a:spcPts val="800"/>
              </a:spcAft>
            </a:pPr>
            <a:r>
              <a:rPr sz="1400" b="0">
                <a:solidFill>
                  <a:srgbClr val="26251E"/>
                </a:solidFill>
                <a:latin typeface="Arial"/>
              </a:rPr>
              <a:t>•  Funnel: connect → conversation → meeting</a:t>
            </a:r>
          </a:p>
          <a:p>
            <a:pPr algn="l">
              <a:spcAft>
                <a:spcPts val="800"/>
              </a:spcAft>
            </a:pPr>
            <a:r>
              <a:rPr sz="1400" b="0">
                <a:solidFill>
                  <a:srgbClr val="26251E"/>
                </a:solidFill>
                <a:latin typeface="Arial"/>
              </a:rPr>
              <a:t>•  Channel mix: email vs LinkedIn vs phone</a:t>
            </a:r>
          </a:p>
          <a:p>
            <a:pPr algn="l">
              <a:spcAft>
                <a:spcPts val="800"/>
              </a:spcAft>
            </a:pPr>
            <a:r>
              <a:rPr sz="1400" b="0">
                <a:solidFill>
                  <a:srgbClr val="26251E"/>
                </a:solidFill>
                <a:latin typeface="Arial"/>
              </a:rPr>
              <a:t>•  Spot patterns → design coaching &amp; training</a:t>
            </a:r>
          </a:p>
          <a:p>
            <a:pPr algn="l">
              <a:spcAft>
                <a:spcPts val="800"/>
              </a:spcAft>
            </a:pPr>
            <a:r>
              <a:rPr sz="1400" b="0">
                <a:solidFill>
                  <a:srgbClr val="26251E"/>
                </a:solidFill>
                <a:latin typeface="Arial"/>
              </a:rPr>
              <a:t>•  Build objection, discovery, and differentiator modules</a:t>
            </a:r>
          </a:p>
        </p:txBody>
      </p:sp>
      <p:sp>
        <p:nvSpPr>
          <p:cNvPr id="12" name="Rectangle 11"/>
          <p:cNvSpPr/>
          <p:nvPr/>
        </p:nvSpPr>
        <p:spPr>
          <a:xfrm>
            <a:off x="6172200" y="1280160"/>
            <a:ext cx="5486400" cy="4846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280160"/>
            <a:ext cx="5486400" cy="640080"/>
          </a:xfrm>
          <a:prstGeom prst="rect">
            <a:avLst/>
          </a:prstGeom>
          <a:solidFill>
            <a:srgbClr val="3A38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1371600"/>
            <a:ext cx="5029200" cy="228600"/>
          </a:xfrm>
          <a:prstGeom prst="rect">
            <a:avLst/>
          </a:prstGeom>
          <a:noFill/>
        </p:spPr>
        <p:txBody>
          <a:bodyPr wrap="square" anchor="t">
            <a:spAutoFit/>
          </a:bodyPr>
          <a:lstStyle/>
          <a:p>
            <a:pPr algn="l"/>
            <a:r>
              <a:rPr sz="1200" b="1">
                <a:solidFill>
                  <a:srgbClr val="F54E00"/>
                </a:solidFill>
                <a:latin typeface="Arial"/>
              </a:rPr>
              <a:t>DAYS 16–30</a:t>
            </a:r>
          </a:p>
        </p:txBody>
      </p:sp>
      <p:sp>
        <p:nvSpPr>
          <p:cNvPr id="15" name="TextBox 14"/>
          <p:cNvSpPr txBox="1"/>
          <p:nvPr/>
        </p:nvSpPr>
        <p:spPr>
          <a:xfrm>
            <a:off x="6355080" y="1627632"/>
            <a:ext cx="5029200" cy="228600"/>
          </a:xfrm>
          <a:prstGeom prst="rect">
            <a:avLst/>
          </a:prstGeom>
          <a:noFill/>
        </p:spPr>
        <p:txBody>
          <a:bodyPr wrap="square" anchor="t">
            <a:spAutoFit/>
          </a:bodyPr>
          <a:lstStyle/>
          <a:p>
            <a:pPr algn="l"/>
            <a:r>
              <a:rPr sz="1600" b="1">
                <a:solidFill>
                  <a:srgbClr val="FFFFFF"/>
                </a:solidFill>
                <a:latin typeface="Arial"/>
              </a:rPr>
              <a:t>Train · Activity · Daily cadence</a:t>
            </a:r>
          </a:p>
        </p:txBody>
      </p:sp>
      <p:sp>
        <p:nvSpPr>
          <p:cNvPr id="16" name="TextBox 15"/>
          <p:cNvSpPr txBox="1"/>
          <p:nvPr/>
        </p:nvSpPr>
        <p:spPr>
          <a:xfrm>
            <a:off x="6400800" y="2148840"/>
            <a:ext cx="4937760" cy="3657600"/>
          </a:xfrm>
          <a:prstGeom prst="rect">
            <a:avLst/>
          </a:prstGeom>
          <a:noFill/>
        </p:spPr>
        <p:txBody>
          <a:bodyPr wrap="square">
            <a:spAutoFit/>
          </a:bodyPr>
          <a:lstStyle/>
          <a:p>
            <a:pPr algn="l">
              <a:spcAft>
                <a:spcPts val="600"/>
              </a:spcAft>
            </a:pPr>
            <a:r>
              <a:rPr sz="1300" b="0">
                <a:solidFill>
                  <a:srgbClr val="26251E"/>
                </a:solidFill>
                <a:latin typeface="Arial"/>
              </a:rPr>
              <a:t>•  Run the training (openers, objections, discovery)</a:t>
            </a:r>
          </a:p>
          <a:p>
            <a:pPr algn="l">
              <a:spcAft>
                <a:spcPts val="600"/>
              </a:spcAft>
            </a:pPr>
            <a:r>
              <a:rPr sz="1300" b="0">
                <a:solidFill>
                  <a:srgbClr val="26251E"/>
                </a:solidFill>
                <a:latin typeface="Arial"/>
              </a:rPr>
              <a:t>•  Increase activity metrics once diagnosis is clear</a:t>
            </a:r>
          </a:p>
          <a:p>
            <a:pPr algn="l">
              <a:spcAft>
                <a:spcPts val="600"/>
              </a:spcAft>
            </a:pPr>
            <a:r>
              <a:rPr sz="1300" b="0">
                <a:solidFill>
                  <a:srgbClr val="26251E"/>
                </a:solidFill>
                <a:latin typeface="Arial"/>
              </a:rPr>
              <a:t>•  Daily data pull — what worked yesterday?</a:t>
            </a:r>
          </a:p>
          <a:p>
            <a:pPr algn="l">
              <a:spcAft>
                <a:spcPts val="600"/>
              </a:spcAft>
            </a:pPr>
            <a:r>
              <a:rPr sz="1300" b="0">
                <a:solidFill>
                  <a:srgbClr val="26251E"/>
                </a:solidFill>
                <a:latin typeface="Arial"/>
              </a:rPr>
              <a:t>•  Daily team call — first 15 minutes of the day</a:t>
            </a:r>
          </a:p>
          <a:p>
            <a:pPr algn="l">
              <a:spcAft>
                <a:spcPts val="600"/>
              </a:spcAft>
            </a:pPr>
            <a:r>
              <a:rPr sz="1300" b="0">
                <a:solidFill>
                  <a:srgbClr val="26251E"/>
                </a:solidFill>
                <a:latin typeface="Arial"/>
              </a:rPr>
              <a:t>•  Review: pitch landing · personas · differentiator that won</a:t>
            </a:r>
          </a:p>
          <a:p>
            <a:pPr algn="l">
              <a:spcAft>
                <a:spcPts val="600"/>
              </a:spcAft>
            </a:pPr>
            <a:r>
              <a:rPr sz="1300" b="0">
                <a:solidFill>
                  <a:srgbClr val="26251E"/>
                </a:solidFill>
                <a:latin typeface="Arial"/>
              </a:rPr>
              <a:t>•  One customer story reviewed every day</a:t>
            </a:r>
          </a:p>
          <a:p>
            <a:pPr algn="l">
              <a:spcAft>
                <a:spcPts val="600"/>
              </a:spcAft>
            </a:pPr>
            <a:r>
              <a:rPr sz="1300" b="0">
                <a:solidFill>
                  <a:srgbClr val="26251E"/>
                </a:solidFill>
                <a:latin typeface="Arial"/>
              </a:rPr>
              <a:t>•  Models that leapfrogged overnight → update talk tracks</a:t>
            </a:r>
          </a:p>
          <a:p>
            <a:pPr algn="l">
              <a:spcAft>
                <a:spcPts val="600"/>
              </a:spcAft>
            </a:pPr>
            <a:r>
              <a:rPr sz="1300" b="0">
                <a:solidFill>
                  <a:srgbClr val="26251E"/>
                </a:solidFill>
                <a:latin typeface="Arial"/>
              </a:rPr>
              <a:t>•  Game-plan the day for success before dials start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2625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ursor-lockup-light.png"/>
          <p:cNvPicPr>
            <a:picLocks noChangeAspect="1"/>
          </p:cNvPicPr>
          <p:nvPr/>
        </p:nvPicPr>
        <p:blipFill>
          <a:blip r:embed="rId2"/>
          <a:stretch>
            <a:fillRect/>
          </a:stretch>
        </p:blipFill>
        <p:spPr>
          <a:xfrm>
            <a:off x="640080" y="292608"/>
            <a:ext cx="1234440" cy="293494"/>
          </a:xfrm>
          <a:prstGeom prst="rect">
            <a:avLst/>
          </a:prstGeom>
        </p:spPr>
      </p:pic>
      <p:sp>
        <p:nvSpPr>
          <p:cNvPr id="5" name="TextBox 4"/>
          <p:cNvSpPr txBox="1"/>
          <p:nvPr/>
        </p:nvSpPr>
        <p:spPr>
          <a:xfrm>
            <a:off x="2103120" y="292608"/>
            <a:ext cx="9326880" cy="502920"/>
          </a:xfrm>
          <a:prstGeom prst="rect">
            <a:avLst/>
          </a:prstGeom>
          <a:noFill/>
        </p:spPr>
        <p:txBody>
          <a:bodyPr wrap="square" anchor="t">
            <a:spAutoFit/>
          </a:bodyPr>
          <a:lstStyle/>
          <a:p>
            <a:pPr algn="l"/>
            <a:r>
              <a:rPr sz="2200" b="0">
                <a:solidFill>
                  <a:srgbClr val="FFFFFF"/>
                </a:solidFill>
                <a:latin typeface="Arial"/>
              </a:rPr>
              <a:t>What I’d protect in the first 60 days</a:t>
            </a:r>
          </a:p>
        </p:txBody>
      </p:sp>
      <p:sp>
        <p:nvSpPr>
          <p:cNvPr id="6" name="Rectangle 5"/>
          <p:cNvSpPr/>
          <p:nvPr/>
        </p:nvSpPr>
        <p:spPr>
          <a:xfrm>
            <a:off x="0" y="1051560"/>
            <a:ext cx="12191695"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371600"/>
            <a:ext cx="10607040" cy="4663440"/>
          </a:xfrm>
          <a:prstGeom prst="rect">
            <a:avLst/>
          </a:prstGeom>
          <a:noFill/>
        </p:spPr>
        <p:txBody>
          <a:bodyPr wrap="square">
            <a:spAutoFit/>
          </a:bodyPr>
          <a:lstStyle/>
          <a:p>
            <a:pPr algn="l">
              <a:spcAft>
                <a:spcPts val="1100"/>
              </a:spcAft>
            </a:pPr>
            <a:r>
              <a:rPr sz="1700" b="0">
                <a:solidFill>
                  <a:srgbClr val="26251E"/>
                </a:solidFill>
                <a:latin typeface="Arial"/>
              </a:rPr>
              <a:t>•  What’s already working well — don’t rip out a motion that produces pipeline</a:t>
            </a:r>
          </a:p>
          <a:p>
            <a:pPr algn="l">
              <a:spcAft>
                <a:spcPts val="1100"/>
              </a:spcAft>
            </a:pPr>
            <a:r>
              <a:rPr sz="1700" b="0">
                <a:solidFill>
                  <a:srgbClr val="26251E"/>
                </a:solidFill>
                <a:latin typeface="Arial"/>
              </a:rPr>
              <a:t>•  Knowing the Cursor pitch — keep that fluency intact</a:t>
            </a:r>
          </a:p>
          <a:p>
            <a:pPr algn="l">
              <a:spcAft>
                <a:spcPts val="1100"/>
              </a:spcAft>
            </a:pPr>
            <a:r>
              <a:rPr sz="1700" b="0">
                <a:solidFill>
                  <a:srgbClr val="26251E"/>
                </a:solidFill>
                <a:latin typeface="Arial"/>
              </a:rPr>
              <a:t>•  Reaching out to the right people — ICP and persona discipline</a:t>
            </a:r>
          </a:p>
          <a:p>
            <a:pPr algn="l">
              <a:spcAft>
                <a:spcPts val="1100"/>
              </a:spcAft>
            </a:pPr>
            <a:r>
              <a:rPr sz="1700" b="0">
                <a:solidFill>
                  <a:srgbClr val="26251E"/>
                </a:solidFill>
                <a:latin typeface="Arial"/>
              </a:rPr>
              <a:t>•  I’m here to diagnose leaks and raise conversion quality — not reinvent the org chart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2625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ursor-lockup-light.png"/>
          <p:cNvPicPr>
            <a:picLocks noChangeAspect="1"/>
          </p:cNvPicPr>
          <p:nvPr/>
        </p:nvPicPr>
        <p:blipFill>
          <a:blip r:embed="rId2"/>
          <a:stretch>
            <a:fillRect/>
          </a:stretch>
        </p:blipFill>
        <p:spPr>
          <a:xfrm>
            <a:off x="640080" y="292608"/>
            <a:ext cx="1234440" cy="293494"/>
          </a:xfrm>
          <a:prstGeom prst="rect">
            <a:avLst/>
          </a:prstGeom>
        </p:spPr>
      </p:pic>
      <p:sp>
        <p:nvSpPr>
          <p:cNvPr id="5" name="TextBox 4"/>
          <p:cNvSpPr txBox="1"/>
          <p:nvPr/>
        </p:nvSpPr>
        <p:spPr>
          <a:xfrm>
            <a:off x="2103120" y="292608"/>
            <a:ext cx="9326880" cy="502920"/>
          </a:xfrm>
          <a:prstGeom prst="rect">
            <a:avLst/>
          </a:prstGeom>
          <a:noFill/>
        </p:spPr>
        <p:txBody>
          <a:bodyPr wrap="square" anchor="t">
            <a:spAutoFit/>
          </a:bodyPr>
          <a:lstStyle/>
          <a:p>
            <a:pPr algn="l"/>
            <a:r>
              <a:rPr sz="2200" b="0">
                <a:solidFill>
                  <a:srgbClr val="FFFFFF"/>
                </a:solidFill>
                <a:latin typeface="Arial"/>
              </a:rPr>
              <a:t>Where the next level of gains come from</a:t>
            </a:r>
          </a:p>
        </p:txBody>
      </p:sp>
      <p:sp>
        <p:nvSpPr>
          <p:cNvPr id="6" name="Rectangle 5"/>
          <p:cNvSpPr/>
          <p:nvPr/>
        </p:nvSpPr>
        <p:spPr>
          <a:xfrm>
            <a:off x="0" y="1051560"/>
            <a:ext cx="12191695"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371600"/>
            <a:ext cx="10607040" cy="4663440"/>
          </a:xfrm>
          <a:prstGeom prst="rect">
            <a:avLst/>
          </a:prstGeom>
          <a:noFill/>
        </p:spPr>
        <p:txBody>
          <a:bodyPr wrap="square">
            <a:spAutoFit/>
          </a:bodyPr>
          <a:lstStyle/>
          <a:p>
            <a:pPr algn="l">
              <a:spcAft>
                <a:spcPts val="1100"/>
              </a:spcAft>
            </a:pPr>
            <a:r>
              <a:rPr sz="1700" b="0">
                <a:solidFill>
                  <a:srgbClr val="26251E"/>
                </a:solidFill>
                <a:latin typeface="Arial"/>
              </a:rPr>
              <a:t>•  Call openers + objection handling (after we know the real objections)</a:t>
            </a:r>
          </a:p>
          <a:p>
            <a:pPr algn="l">
              <a:spcAft>
                <a:spcPts val="1100"/>
              </a:spcAft>
            </a:pPr>
            <a:r>
              <a:rPr sz="1700" b="0">
                <a:solidFill>
                  <a:srgbClr val="26251E"/>
                </a:solidFill>
                <a:latin typeface="Arial"/>
              </a:rPr>
              <a:t>•  Discovery that creates enough pain to earn the meeting</a:t>
            </a:r>
          </a:p>
          <a:p>
            <a:pPr algn="l">
              <a:spcAft>
                <a:spcPts val="1100"/>
              </a:spcAft>
            </a:pPr>
            <a:r>
              <a:rPr sz="1700" b="0">
                <a:solidFill>
                  <a:srgbClr val="26251E"/>
                </a:solidFill>
                <a:latin typeface="Arial"/>
              </a:rPr>
              <a:t>•  Competitor / differentiator fluency when Copilot or Claude Code is already in</a:t>
            </a:r>
          </a:p>
          <a:p>
            <a:pPr algn="l">
              <a:spcAft>
                <a:spcPts val="1100"/>
              </a:spcAft>
            </a:pPr>
            <a:r>
              <a:rPr sz="1700" b="0">
                <a:solidFill>
                  <a:srgbClr val="26251E"/>
                </a:solidFill>
                <a:latin typeface="Arial"/>
              </a:rPr>
              <a:t>•  Channel mix — double down on the strongest; lift the weakest</a:t>
            </a:r>
          </a:p>
          <a:p>
            <a:pPr algn="l">
              <a:spcAft>
                <a:spcPts val="1100"/>
              </a:spcAft>
            </a:pPr>
            <a:r>
              <a:rPr sz="1700" b="0">
                <a:solidFill>
                  <a:srgbClr val="26251E"/>
                </a:solidFill>
                <a:latin typeface="Arial"/>
              </a:rPr>
              <a:t>•  Test before betting: connect · conversation · meetings · % that convert to qualified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2625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ursor-lockup-light.png"/>
          <p:cNvPicPr>
            <a:picLocks noChangeAspect="1"/>
          </p:cNvPicPr>
          <p:nvPr/>
        </p:nvPicPr>
        <p:blipFill>
          <a:blip r:embed="rId2"/>
          <a:stretch>
            <a:fillRect/>
          </a:stretch>
        </p:blipFill>
        <p:spPr>
          <a:xfrm>
            <a:off x="640080" y="292608"/>
            <a:ext cx="1234440" cy="293494"/>
          </a:xfrm>
          <a:prstGeom prst="rect">
            <a:avLst/>
          </a:prstGeom>
        </p:spPr>
      </p:pic>
      <p:sp>
        <p:nvSpPr>
          <p:cNvPr id="5" name="TextBox 4"/>
          <p:cNvSpPr txBox="1"/>
          <p:nvPr/>
        </p:nvSpPr>
        <p:spPr>
          <a:xfrm>
            <a:off x="2103120" y="292608"/>
            <a:ext cx="9326880" cy="502920"/>
          </a:xfrm>
          <a:prstGeom prst="rect">
            <a:avLst/>
          </a:prstGeom>
          <a:noFill/>
        </p:spPr>
        <p:txBody>
          <a:bodyPr wrap="square" anchor="t">
            <a:spAutoFit/>
          </a:bodyPr>
          <a:lstStyle/>
          <a:p>
            <a:pPr algn="l"/>
            <a:r>
              <a:rPr sz="2200" b="0">
                <a:solidFill>
                  <a:srgbClr val="FFFFFF"/>
                </a:solidFill>
                <a:latin typeface="Arial"/>
              </a:rPr>
              <a:t>Competitor differentiation — market map</a:t>
            </a:r>
          </a:p>
        </p:txBody>
      </p:sp>
      <p:sp>
        <p:nvSpPr>
          <p:cNvPr id="6" name="Rectangle 5"/>
          <p:cNvSpPr/>
          <p:nvPr/>
        </p:nvSpPr>
        <p:spPr>
          <a:xfrm>
            <a:off x="0" y="1051560"/>
            <a:ext cx="12191695"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34440"/>
            <a:ext cx="539496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325880"/>
            <a:ext cx="5029200" cy="274320"/>
          </a:xfrm>
          <a:prstGeom prst="rect">
            <a:avLst/>
          </a:prstGeom>
          <a:noFill/>
        </p:spPr>
        <p:txBody>
          <a:bodyPr wrap="square" anchor="t">
            <a:spAutoFit/>
          </a:bodyPr>
          <a:lstStyle/>
          <a:p>
            <a:pPr algn="l"/>
            <a:r>
              <a:rPr sz="1400" b="1">
                <a:solidFill>
                  <a:srgbClr val="26251E"/>
                </a:solidFill>
                <a:latin typeface="Arial"/>
              </a:rPr>
              <a:t>AI-native IDE</a:t>
            </a:r>
          </a:p>
        </p:txBody>
      </p:sp>
      <p:sp>
        <p:nvSpPr>
          <p:cNvPr id="9" name="TextBox 8"/>
          <p:cNvSpPr txBox="1"/>
          <p:nvPr/>
        </p:nvSpPr>
        <p:spPr>
          <a:xfrm>
            <a:off x="731520" y="1645920"/>
            <a:ext cx="5029200" cy="822960"/>
          </a:xfrm>
          <a:prstGeom prst="rect">
            <a:avLst/>
          </a:prstGeom>
          <a:noFill/>
        </p:spPr>
        <p:txBody>
          <a:bodyPr wrap="square" anchor="t">
            <a:spAutoFit/>
          </a:bodyPr>
          <a:lstStyle/>
          <a:p>
            <a:pPr algn="l"/>
            <a:r>
              <a:rPr sz="1300" b="0">
                <a:solidFill>
                  <a:srgbClr val="807D72"/>
                </a:solidFill>
                <a:latin typeface="Arial"/>
              </a:rPr>
              <a:t>Cursor · Windsurf
Rebuild the editor around agents — not bolt AI onto an existing one.</a:t>
            </a:r>
          </a:p>
        </p:txBody>
      </p:sp>
      <p:sp>
        <p:nvSpPr>
          <p:cNvPr id="10" name="Rectangle 9"/>
          <p:cNvSpPr/>
          <p:nvPr/>
        </p:nvSpPr>
        <p:spPr>
          <a:xfrm>
            <a:off x="6172200" y="1234440"/>
            <a:ext cx="539496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325880"/>
            <a:ext cx="5029200" cy="274320"/>
          </a:xfrm>
          <a:prstGeom prst="rect">
            <a:avLst/>
          </a:prstGeom>
          <a:noFill/>
        </p:spPr>
        <p:txBody>
          <a:bodyPr wrap="square" anchor="t">
            <a:spAutoFit/>
          </a:bodyPr>
          <a:lstStyle/>
          <a:p>
            <a:pPr algn="l"/>
            <a:r>
              <a:rPr sz="1400" b="1">
                <a:solidFill>
                  <a:srgbClr val="26251E"/>
                </a:solidFill>
                <a:latin typeface="Arial"/>
              </a:rPr>
              <a:t>IDE plugin / extension</a:t>
            </a:r>
          </a:p>
        </p:txBody>
      </p:sp>
      <p:sp>
        <p:nvSpPr>
          <p:cNvPr id="12" name="TextBox 11"/>
          <p:cNvSpPr txBox="1"/>
          <p:nvPr/>
        </p:nvSpPr>
        <p:spPr>
          <a:xfrm>
            <a:off x="6355080" y="1645920"/>
            <a:ext cx="5029200" cy="822960"/>
          </a:xfrm>
          <a:prstGeom prst="rect">
            <a:avLst/>
          </a:prstGeom>
          <a:noFill/>
        </p:spPr>
        <p:txBody>
          <a:bodyPr wrap="square" anchor="t">
            <a:spAutoFit/>
          </a:bodyPr>
          <a:lstStyle/>
          <a:p>
            <a:pPr algn="l"/>
            <a:r>
              <a:rPr sz="1300" b="0">
                <a:solidFill>
                  <a:srgbClr val="807D72"/>
                </a:solidFill>
                <a:latin typeface="Arial"/>
              </a:rPr>
              <a:t>GitHub Copilot · JetBrains AI · Amazon Q
Keep the current toolchain; add AI as a layer.</a:t>
            </a:r>
          </a:p>
        </p:txBody>
      </p:sp>
      <p:sp>
        <p:nvSpPr>
          <p:cNvPr id="13" name="Rectangle 12"/>
          <p:cNvSpPr/>
          <p:nvPr/>
        </p:nvSpPr>
        <p:spPr>
          <a:xfrm>
            <a:off x="548640" y="2834640"/>
            <a:ext cx="5394960" cy="2148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2834640"/>
            <a:ext cx="5394960" cy="384048"/>
          </a:xfrm>
          <a:prstGeom prst="rect">
            <a:avLst/>
          </a:prstGeom>
          <a:solidFill>
            <a:srgbClr val="2625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2880360"/>
            <a:ext cx="5029200" cy="320040"/>
          </a:xfrm>
          <a:prstGeom prst="rect">
            <a:avLst/>
          </a:prstGeom>
          <a:noFill/>
        </p:spPr>
        <p:txBody>
          <a:bodyPr wrap="square" anchor="t">
            <a:spAutoFit/>
          </a:bodyPr>
          <a:lstStyle/>
          <a:p>
            <a:pPr algn="l"/>
            <a:r>
              <a:rPr sz="1300" b="1">
                <a:solidFill>
                  <a:srgbClr val="F54E00"/>
                </a:solidFill>
                <a:latin typeface="Arial"/>
              </a:rPr>
              <a:t>Layer 1 — Harness / product</a:t>
            </a:r>
          </a:p>
        </p:txBody>
      </p:sp>
      <p:sp>
        <p:nvSpPr>
          <p:cNvPr id="16" name="TextBox 15"/>
          <p:cNvSpPr txBox="1"/>
          <p:nvPr/>
        </p:nvSpPr>
        <p:spPr>
          <a:xfrm>
            <a:off x="731520" y="3383280"/>
            <a:ext cx="5029200" cy="1417320"/>
          </a:xfrm>
          <a:prstGeom prst="rect">
            <a:avLst/>
          </a:prstGeom>
          <a:noFill/>
        </p:spPr>
        <p:txBody>
          <a:bodyPr wrap="square">
            <a:spAutoFit/>
          </a:bodyPr>
          <a:lstStyle/>
          <a:p>
            <a:pPr algn="l">
              <a:spcAft>
                <a:spcPts val="500"/>
              </a:spcAft>
            </a:pPr>
            <a:r>
              <a:rPr sz="1300" b="0">
                <a:solidFill>
                  <a:srgbClr val="26251E"/>
                </a:solidFill>
                <a:latin typeface="Arial"/>
              </a:rPr>
              <a:t>•  Plans, tools, repo navigation, workflow fit</a:t>
            </a:r>
          </a:p>
          <a:p>
            <a:pPr algn="l">
              <a:spcAft>
                <a:spcPts val="500"/>
              </a:spcAft>
            </a:pPr>
            <a:r>
              <a:rPr sz="1300" b="0">
                <a:solidFill>
                  <a:srgbClr val="26251E"/>
                </a:solidFill>
                <a:latin typeface="Arial"/>
              </a:rPr>
              <a:t>•  What buyers feel in first conversations</a:t>
            </a:r>
          </a:p>
          <a:p>
            <a:pPr algn="l">
              <a:spcAft>
                <a:spcPts val="500"/>
              </a:spcAft>
            </a:pPr>
            <a:r>
              <a:rPr sz="1300" b="0">
                <a:solidFill>
                  <a:srgbClr val="26251E"/>
                </a:solidFill>
                <a:latin typeface="Arial"/>
              </a:rPr>
              <a:t>•  Cursor’s established commercial strength</a:t>
            </a:r>
          </a:p>
        </p:txBody>
      </p:sp>
      <p:sp>
        <p:nvSpPr>
          <p:cNvPr id="17" name="Rectangle 16"/>
          <p:cNvSpPr/>
          <p:nvPr/>
        </p:nvSpPr>
        <p:spPr>
          <a:xfrm>
            <a:off x="6172200" y="2834640"/>
            <a:ext cx="5394960" cy="2148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72200" y="2834640"/>
            <a:ext cx="5394960" cy="384048"/>
          </a:xfrm>
          <a:prstGeom prst="rect">
            <a:avLst/>
          </a:prstGeom>
          <a:solidFill>
            <a:srgbClr val="3A38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5080" y="2880360"/>
            <a:ext cx="5029200" cy="320040"/>
          </a:xfrm>
          <a:prstGeom prst="rect">
            <a:avLst/>
          </a:prstGeom>
          <a:noFill/>
        </p:spPr>
        <p:txBody>
          <a:bodyPr wrap="square" anchor="t">
            <a:spAutoFit/>
          </a:bodyPr>
          <a:lstStyle/>
          <a:p>
            <a:pPr algn="l"/>
            <a:r>
              <a:rPr sz="1300" b="1">
                <a:solidFill>
                  <a:srgbClr val="FFFFFF"/>
                </a:solidFill>
                <a:latin typeface="Arial"/>
              </a:rPr>
              <a:t>Layer 2 — Model</a:t>
            </a:r>
          </a:p>
        </p:txBody>
      </p:sp>
      <p:sp>
        <p:nvSpPr>
          <p:cNvPr id="20" name="TextBox 19"/>
          <p:cNvSpPr txBox="1"/>
          <p:nvPr/>
        </p:nvSpPr>
        <p:spPr>
          <a:xfrm>
            <a:off x="6355080" y="3383280"/>
            <a:ext cx="5029200" cy="1417320"/>
          </a:xfrm>
          <a:prstGeom prst="rect">
            <a:avLst/>
          </a:prstGeom>
          <a:noFill/>
        </p:spPr>
        <p:txBody>
          <a:bodyPr wrap="square">
            <a:spAutoFit/>
          </a:bodyPr>
          <a:lstStyle/>
          <a:p>
            <a:pPr algn="l">
              <a:spcAft>
                <a:spcPts val="500"/>
              </a:spcAft>
            </a:pPr>
            <a:r>
              <a:rPr sz="1300" b="0">
                <a:solidFill>
                  <a:srgbClr val="26251E"/>
                </a:solidFill>
                <a:latin typeface="Arial"/>
              </a:rPr>
              <a:t>•  Reasoning + long-horizon coding quality</a:t>
            </a:r>
          </a:p>
          <a:p>
            <a:pPr algn="l">
              <a:spcAft>
                <a:spcPts val="500"/>
              </a:spcAft>
            </a:pPr>
            <a:r>
              <a:rPr sz="1300" b="0">
                <a:solidFill>
                  <a:srgbClr val="26251E"/>
                </a:solidFill>
                <a:latin typeface="Arial"/>
              </a:rPr>
              <a:t>•  Composer = Cursor coding-specialist path</a:t>
            </a:r>
          </a:p>
          <a:p>
            <a:pPr algn="l">
              <a:spcAft>
                <a:spcPts val="500"/>
              </a:spcAft>
            </a:pPr>
            <a:r>
              <a:rPr sz="1300" b="0">
                <a:solidFill>
                  <a:srgbClr val="26251E"/>
                </a:solidFill>
                <a:latin typeface="Arial"/>
              </a:rPr>
              <a:t>•  Labs can be suppliers and competitors</a:t>
            </a:r>
          </a:p>
        </p:txBody>
      </p:sp>
      <p:sp>
        <p:nvSpPr>
          <p:cNvPr id="21" name="Rectangle 20"/>
          <p:cNvSpPr/>
          <p:nvPr/>
        </p:nvSpPr>
        <p:spPr>
          <a:xfrm>
            <a:off x="548640" y="5166360"/>
            <a:ext cx="11018520" cy="1051560"/>
          </a:xfrm>
          <a:prstGeom prst="rect">
            <a:avLst/>
          </a:prstGeom>
          <a:solidFill>
            <a:srgbClr val="2625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5303520"/>
            <a:ext cx="10607040" cy="777240"/>
          </a:xfrm>
          <a:prstGeom prst="rect">
            <a:avLst/>
          </a:prstGeom>
          <a:noFill/>
        </p:spPr>
        <p:txBody>
          <a:bodyPr wrap="square" anchor="t">
            <a:spAutoFit/>
          </a:bodyPr>
          <a:lstStyle/>
          <a:p>
            <a:pPr algn="l"/>
            <a:r>
              <a:rPr sz="1300" b="0">
                <a:solidFill>
                  <a:srgbClr val="EFEEE8"/>
                </a:solidFill>
                <a:latin typeface="Arial"/>
              </a:rPr>
              <a:t>Shapes:  Cursor = platform  ·  Copilot = plugin / GitHub ecosystem  ·  Claude Code = terminal agent  ·  Windsurf = Cascade IDE challenger  ·  Codex = OpenAI async agents  ·  Often the real rival = ungoverned shadow AI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2625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ursor-lockup-light.png"/>
          <p:cNvPicPr>
            <a:picLocks noChangeAspect="1"/>
          </p:cNvPicPr>
          <p:nvPr/>
        </p:nvPicPr>
        <p:blipFill>
          <a:blip r:embed="rId2"/>
          <a:stretch>
            <a:fillRect/>
          </a:stretch>
        </p:blipFill>
        <p:spPr>
          <a:xfrm>
            <a:off x="640080" y="292608"/>
            <a:ext cx="1234440" cy="293494"/>
          </a:xfrm>
          <a:prstGeom prst="rect">
            <a:avLst/>
          </a:prstGeom>
        </p:spPr>
      </p:pic>
      <p:sp>
        <p:nvSpPr>
          <p:cNvPr id="5" name="TextBox 4"/>
          <p:cNvSpPr txBox="1"/>
          <p:nvPr/>
        </p:nvSpPr>
        <p:spPr>
          <a:xfrm>
            <a:off x="2103120" y="292608"/>
            <a:ext cx="9326880" cy="502920"/>
          </a:xfrm>
          <a:prstGeom prst="rect">
            <a:avLst/>
          </a:prstGeom>
          <a:noFill/>
        </p:spPr>
        <p:txBody>
          <a:bodyPr wrap="square" anchor="t">
            <a:spAutoFit/>
          </a:bodyPr>
          <a:lstStyle/>
          <a:p>
            <a:pPr algn="l"/>
            <a:r>
              <a:rPr sz="2200" b="0">
                <a:solidFill>
                  <a:srgbClr val="FFFFFF"/>
                </a:solidFill>
                <a:latin typeface="Arial"/>
              </a:rPr>
              <a:t>Cursor positioning — workflow · context · execution</a:t>
            </a:r>
          </a:p>
        </p:txBody>
      </p:sp>
      <p:sp>
        <p:nvSpPr>
          <p:cNvPr id="6" name="Rectangle 5"/>
          <p:cNvSpPr/>
          <p:nvPr/>
        </p:nvSpPr>
        <p:spPr>
          <a:xfrm>
            <a:off x="0" y="1051560"/>
            <a:ext cx="12191695"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34440"/>
            <a:ext cx="11018520" cy="777240"/>
          </a:xfrm>
          <a:prstGeom prst="rect">
            <a:avLst/>
          </a:prstGeom>
          <a:solidFill>
            <a:srgbClr val="2625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325880"/>
            <a:ext cx="10607040" cy="594360"/>
          </a:xfrm>
          <a:prstGeom prst="rect">
            <a:avLst/>
          </a:prstGeom>
          <a:noFill/>
        </p:spPr>
        <p:txBody>
          <a:bodyPr wrap="square" anchor="t">
            <a:spAutoFit/>
          </a:bodyPr>
          <a:lstStyle/>
          <a:p>
            <a:pPr algn="l"/>
            <a:r>
              <a:rPr sz="1300" b="0">
                <a:solidFill>
                  <a:srgbClr val="EFEEE8"/>
                </a:solidFill>
                <a:latin typeface="Arial"/>
              </a:rPr>
              <a:t>Leading agentic coding platform — a coding agent across IDE, CLI, Automations, and Cloud Agents with a shared AI layer on the codebase. Helps teams get more from frontier models via better workflow, context, and integrated execution.</a:t>
            </a:r>
          </a:p>
        </p:txBody>
      </p:sp>
      <p:sp>
        <p:nvSpPr>
          <p:cNvPr id="9" name="Rectangle 8"/>
          <p:cNvSpPr/>
          <p:nvPr/>
        </p:nvSpPr>
        <p:spPr>
          <a:xfrm>
            <a:off x="548640" y="2194560"/>
            <a:ext cx="2697480" cy="1005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2331720"/>
            <a:ext cx="548640"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2514600"/>
            <a:ext cx="2331720" cy="256032"/>
          </a:xfrm>
          <a:prstGeom prst="rect">
            <a:avLst/>
          </a:prstGeom>
          <a:noFill/>
        </p:spPr>
        <p:txBody>
          <a:bodyPr wrap="square" anchor="t">
            <a:spAutoFit/>
          </a:bodyPr>
          <a:lstStyle/>
          <a:p>
            <a:pPr algn="l"/>
            <a:r>
              <a:rPr sz="1400" b="1">
                <a:solidFill>
                  <a:srgbClr val="26251E"/>
                </a:solidFill>
                <a:latin typeface="Arial"/>
              </a:rPr>
              <a:t>IDE</a:t>
            </a:r>
          </a:p>
        </p:txBody>
      </p:sp>
      <p:sp>
        <p:nvSpPr>
          <p:cNvPr id="12" name="TextBox 11"/>
          <p:cNvSpPr txBox="1"/>
          <p:nvPr/>
        </p:nvSpPr>
        <p:spPr>
          <a:xfrm>
            <a:off x="713232" y="2834640"/>
            <a:ext cx="2331720" cy="228600"/>
          </a:xfrm>
          <a:prstGeom prst="rect">
            <a:avLst/>
          </a:prstGeom>
          <a:noFill/>
        </p:spPr>
        <p:txBody>
          <a:bodyPr wrap="square" anchor="t">
            <a:spAutoFit/>
          </a:bodyPr>
          <a:lstStyle/>
          <a:p>
            <a:pPr algn="l"/>
            <a:r>
              <a:rPr sz="1200" b="0">
                <a:solidFill>
                  <a:srgbClr val="807D72"/>
                </a:solidFill>
                <a:latin typeface="Arial"/>
              </a:rPr>
              <a:t>Desktop agentic</a:t>
            </a:r>
          </a:p>
        </p:txBody>
      </p:sp>
      <p:sp>
        <p:nvSpPr>
          <p:cNvPr id="13" name="Rectangle 12"/>
          <p:cNvSpPr/>
          <p:nvPr/>
        </p:nvSpPr>
        <p:spPr>
          <a:xfrm>
            <a:off x="3383280" y="2194560"/>
            <a:ext cx="2697480" cy="1005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47872" y="2331720"/>
            <a:ext cx="548640"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47872" y="2514600"/>
            <a:ext cx="2331720" cy="256032"/>
          </a:xfrm>
          <a:prstGeom prst="rect">
            <a:avLst/>
          </a:prstGeom>
          <a:noFill/>
        </p:spPr>
        <p:txBody>
          <a:bodyPr wrap="square" anchor="t">
            <a:spAutoFit/>
          </a:bodyPr>
          <a:lstStyle/>
          <a:p>
            <a:pPr algn="l"/>
            <a:r>
              <a:rPr sz="1400" b="1">
                <a:solidFill>
                  <a:srgbClr val="26251E"/>
                </a:solidFill>
                <a:latin typeface="Arial"/>
              </a:rPr>
              <a:t>CLI</a:t>
            </a:r>
          </a:p>
        </p:txBody>
      </p:sp>
      <p:sp>
        <p:nvSpPr>
          <p:cNvPr id="16" name="TextBox 15"/>
          <p:cNvSpPr txBox="1"/>
          <p:nvPr/>
        </p:nvSpPr>
        <p:spPr>
          <a:xfrm>
            <a:off x="3547872" y="2834640"/>
            <a:ext cx="2331720" cy="228600"/>
          </a:xfrm>
          <a:prstGeom prst="rect">
            <a:avLst/>
          </a:prstGeom>
          <a:noFill/>
        </p:spPr>
        <p:txBody>
          <a:bodyPr wrap="square" anchor="t">
            <a:spAutoFit/>
          </a:bodyPr>
          <a:lstStyle/>
          <a:p>
            <a:pPr algn="l"/>
            <a:r>
              <a:rPr sz="1200" b="0">
                <a:solidFill>
                  <a:srgbClr val="807D72"/>
                </a:solidFill>
                <a:latin typeface="Arial"/>
              </a:rPr>
              <a:t>Terminal / scripts</a:t>
            </a:r>
          </a:p>
        </p:txBody>
      </p:sp>
      <p:sp>
        <p:nvSpPr>
          <p:cNvPr id="17" name="Rectangle 16"/>
          <p:cNvSpPr/>
          <p:nvPr/>
        </p:nvSpPr>
        <p:spPr>
          <a:xfrm>
            <a:off x="6217920" y="2194560"/>
            <a:ext cx="2697480" cy="1005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382512" y="2331720"/>
            <a:ext cx="548640"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82512" y="2514600"/>
            <a:ext cx="2331720" cy="256032"/>
          </a:xfrm>
          <a:prstGeom prst="rect">
            <a:avLst/>
          </a:prstGeom>
          <a:noFill/>
        </p:spPr>
        <p:txBody>
          <a:bodyPr wrap="square" anchor="t">
            <a:spAutoFit/>
          </a:bodyPr>
          <a:lstStyle/>
          <a:p>
            <a:pPr algn="l"/>
            <a:r>
              <a:rPr sz="1400" b="1">
                <a:solidFill>
                  <a:srgbClr val="26251E"/>
                </a:solidFill>
                <a:latin typeface="Arial"/>
              </a:rPr>
              <a:t>Automations</a:t>
            </a:r>
          </a:p>
        </p:txBody>
      </p:sp>
      <p:sp>
        <p:nvSpPr>
          <p:cNvPr id="20" name="TextBox 19"/>
          <p:cNvSpPr txBox="1"/>
          <p:nvPr/>
        </p:nvSpPr>
        <p:spPr>
          <a:xfrm>
            <a:off x="6382512" y="2834640"/>
            <a:ext cx="2331720" cy="228600"/>
          </a:xfrm>
          <a:prstGeom prst="rect">
            <a:avLst/>
          </a:prstGeom>
          <a:noFill/>
        </p:spPr>
        <p:txBody>
          <a:bodyPr wrap="square" anchor="t">
            <a:spAutoFit/>
          </a:bodyPr>
          <a:lstStyle/>
          <a:p>
            <a:pPr algn="l"/>
            <a:r>
              <a:rPr sz="1200" b="0">
                <a:solidFill>
                  <a:srgbClr val="807D72"/>
                </a:solidFill>
                <a:latin typeface="Arial"/>
              </a:rPr>
              <a:t>Event-driven</a:t>
            </a:r>
          </a:p>
        </p:txBody>
      </p:sp>
      <p:sp>
        <p:nvSpPr>
          <p:cNvPr id="21" name="Rectangle 20"/>
          <p:cNvSpPr/>
          <p:nvPr/>
        </p:nvSpPr>
        <p:spPr>
          <a:xfrm>
            <a:off x="9052560" y="2194560"/>
            <a:ext cx="2697480" cy="1005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217152" y="2331720"/>
            <a:ext cx="548640"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217152" y="2514600"/>
            <a:ext cx="2331720" cy="256032"/>
          </a:xfrm>
          <a:prstGeom prst="rect">
            <a:avLst/>
          </a:prstGeom>
          <a:noFill/>
        </p:spPr>
        <p:txBody>
          <a:bodyPr wrap="square" anchor="t">
            <a:spAutoFit/>
          </a:bodyPr>
          <a:lstStyle/>
          <a:p>
            <a:pPr algn="l"/>
            <a:r>
              <a:rPr sz="1400" b="1">
                <a:solidFill>
                  <a:srgbClr val="26251E"/>
                </a:solidFill>
                <a:latin typeface="Arial"/>
              </a:rPr>
              <a:t>Cloud Agents</a:t>
            </a:r>
          </a:p>
        </p:txBody>
      </p:sp>
      <p:sp>
        <p:nvSpPr>
          <p:cNvPr id="24" name="TextBox 23"/>
          <p:cNvSpPr txBox="1"/>
          <p:nvPr/>
        </p:nvSpPr>
        <p:spPr>
          <a:xfrm>
            <a:off x="9217152" y="2834640"/>
            <a:ext cx="2331720" cy="228600"/>
          </a:xfrm>
          <a:prstGeom prst="rect">
            <a:avLst/>
          </a:prstGeom>
          <a:noFill/>
        </p:spPr>
        <p:txBody>
          <a:bodyPr wrap="square" anchor="t">
            <a:spAutoFit/>
          </a:bodyPr>
          <a:lstStyle/>
          <a:p>
            <a:pPr algn="l"/>
            <a:r>
              <a:rPr sz="1200" b="0">
                <a:solidFill>
                  <a:srgbClr val="807D72"/>
                </a:solidFill>
                <a:latin typeface="Arial"/>
              </a:rPr>
              <a:t>Async / mobile</a:t>
            </a:r>
          </a:p>
        </p:txBody>
      </p:sp>
      <p:sp>
        <p:nvSpPr>
          <p:cNvPr id="25" name="Rectangle 24"/>
          <p:cNvSpPr/>
          <p:nvPr/>
        </p:nvSpPr>
        <p:spPr>
          <a:xfrm>
            <a:off x="548640" y="3383280"/>
            <a:ext cx="365760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3520440"/>
            <a:ext cx="3246120" cy="274320"/>
          </a:xfrm>
          <a:prstGeom prst="rect">
            <a:avLst/>
          </a:prstGeom>
          <a:noFill/>
        </p:spPr>
        <p:txBody>
          <a:bodyPr wrap="square" anchor="t">
            <a:spAutoFit/>
          </a:bodyPr>
          <a:lstStyle/>
          <a:p>
            <a:pPr algn="l"/>
            <a:r>
              <a:rPr sz="1400" b="1">
                <a:solidFill>
                  <a:srgbClr val="26251E"/>
                </a:solidFill>
                <a:latin typeface="Arial"/>
              </a:rPr>
              <a:t>Productivity</a:t>
            </a:r>
          </a:p>
        </p:txBody>
      </p:sp>
      <p:sp>
        <p:nvSpPr>
          <p:cNvPr id="27" name="TextBox 26"/>
          <p:cNvSpPr txBox="1"/>
          <p:nvPr/>
        </p:nvSpPr>
        <p:spPr>
          <a:xfrm>
            <a:off x="731520" y="3886200"/>
            <a:ext cx="3246120" cy="731520"/>
          </a:xfrm>
          <a:prstGeom prst="rect">
            <a:avLst/>
          </a:prstGeom>
          <a:noFill/>
        </p:spPr>
        <p:txBody>
          <a:bodyPr wrap="square" anchor="t">
            <a:spAutoFit/>
          </a:bodyPr>
          <a:lstStyle/>
          <a:p>
            <a:pPr algn="l"/>
            <a:r>
              <a:rPr sz="1200" b="0">
                <a:solidFill>
                  <a:srgbClr val="807D72"/>
                </a:solidFill>
                <a:latin typeface="Arial"/>
              </a:rPr>
              <a:t>Multi-file agents, codebase context, task completion — not just autocomplete</a:t>
            </a:r>
          </a:p>
        </p:txBody>
      </p:sp>
      <p:sp>
        <p:nvSpPr>
          <p:cNvPr id="28" name="Rectangle 27"/>
          <p:cNvSpPr/>
          <p:nvPr/>
        </p:nvSpPr>
        <p:spPr>
          <a:xfrm>
            <a:off x="4343400" y="3383280"/>
            <a:ext cx="365760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26280" y="3520440"/>
            <a:ext cx="3246120" cy="274320"/>
          </a:xfrm>
          <a:prstGeom prst="rect">
            <a:avLst/>
          </a:prstGeom>
          <a:noFill/>
        </p:spPr>
        <p:txBody>
          <a:bodyPr wrap="square" anchor="t">
            <a:spAutoFit/>
          </a:bodyPr>
          <a:lstStyle/>
          <a:p>
            <a:pPr algn="l"/>
            <a:r>
              <a:rPr sz="1400" b="1">
                <a:solidFill>
                  <a:srgbClr val="26251E"/>
                </a:solidFill>
                <a:latin typeface="Arial"/>
              </a:rPr>
              <a:t>Governance</a:t>
            </a:r>
          </a:p>
        </p:txBody>
      </p:sp>
      <p:sp>
        <p:nvSpPr>
          <p:cNvPr id="30" name="TextBox 29"/>
          <p:cNvSpPr txBox="1"/>
          <p:nvPr/>
        </p:nvSpPr>
        <p:spPr>
          <a:xfrm>
            <a:off x="4526280" y="3886200"/>
            <a:ext cx="3246120" cy="731520"/>
          </a:xfrm>
          <a:prstGeom prst="rect">
            <a:avLst/>
          </a:prstGeom>
          <a:noFill/>
        </p:spPr>
        <p:txBody>
          <a:bodyPr wrap="square" anchor="t">
            <a:spAutoFit/>
          </a:bodyPr>
          <a:lstStyle/>
          <a:p>
            <a:pPr algn="l"/>
            <a:r>
              <a:rPr sz="1200" b="0">
                <a:solidFill>
                  <a:srgbClr val="807D72"/>
                </a:solidFill>
                <a:latin typeface="Arial"/>
              </a:rPr>
              <a:t>SSO · SCIM · RBAC · audit logs · admin controls over models / repos / MCP</a:t>
            </a:r>
          </a:p>
        </p:txBody>
      </p:sp>
      <p:sp>
        <p:nvSpPr>
          <p:cNvPr id="31" name="Rectangle 30"/>
          <p:cNvSpPr/>
          <p:nvPr/>
        </p:nvSpPr>
        <p:spPr>
          <a:xfrm>
            <a:off x="8138160" y="3383280"/>
            <a:ext cx="365760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321040" y="3520440"/>
            <a:ext cx="3246120" cy="274320"/>
          </a:xfrm>
          <a:prstGeom prst="rect">
            <a:avLst/>
          </a:prstGeom>
          <a:noFill/>
        </p:spPr>
        <p:txBody>
          <a:bodyPr wrap="square" anchor="t">
            <a:spAutoFit/>
          </a:bodyPr>
          <a:lstStyle/>
          <a:p>
            <a:pPr algn="l"/>
            <a:r>
              <a:rPr sz="1400" b="1">
                <a:solidFill>
                  <a:srgbClr val="26251E"/>
                </a:solidFill>
                <a:latin typeface="Arial"/>
              </a:rPr>
              <a:t>Privacy &amp; security</a:t>
            </a:r>
          </a:p>
        </p:txBody>
      </p:sp>
      <p:sp>
        <p:nvSpPr>
          <p:cNvPr id="33" name="TextBox 32"/>
          <p:cNvSpPr txBox="1"/>
          <p:nvPr/>
        </p:nvSpPr>
        <p:spPr>
          <a:xfrm>
            <a:off x="8321040" y="3886200"/>
            <a:ext cx="3246120" cy="731520"/>
          </a:xfrm>
          <a:prstGeom prst="rect">
            <a:avLst/>
          </a:prstGeom>
          <a:noFill/>
        </p:spPr>
        <p:txBody>
          <a:bodyPr wrap="square" anchor="t">
            <a:spAutoFit/>
          </a:bodyPr>
          <a:lstStyle/>
          <a:p>
            <a:pPr algn="l"/>
            <a:r>
              <a:rPr sz="1200" b="0">
                <a:solidFill>
                  <a:srgbClr val="807D72"/>
                </a:solidFill>
                <a:latin typeface="Arial"/>
              </a:rPr>
              <a:t>Privacy Mode / ZDR · SOC 2 Type II · CMEK · reduce shadow AI risk</a:t>
            </a:r>
          </a:p>
        </p:txBody>
      </p:sp>
      <p:sp>
        <p:nvSpPr>
          <p:cNvPr id="34" name="TextBox 33"/>
          <p:cNvSpPr txBox="1"/>
          <p:nvPr/>
        </p:nvSpPr>
        <p:spPr>
          <a:xfrm>
            <a:off x="731520" y="5029200"/>
            <a:ext cx="10607040" cy="1097280"/>
          </a:xfrm>
          <a:prstGeom prst="rect">
            <a:avLst/>
          </a:prstGeom>
          <a:noFill/>
        </p:spPr>
        <p:txBody>
          <a:bodyPr wrap="square" anchor="t">
            <a:spAutoFit/>
          </a:bodyPr>
          <a:lstStyle/>
          <a:p>
            <a:pPr algn="l"/>
            <a:r>
              <a:rPr sz="1300" b="0">
                <a:solidFill>
                  <a:srgbClr val="807D72"/>
                </a:solidFill>
                <a:latin typeface="Arial"/>
              </a:rPr>
              <a:t>Harness = the engineering layer between developer and model (context packing, tool use, turn management, routing).
Proof: Coinbase (agent-first) · Stripe (standardized rollout) · PayPal (enterprise velocity) — outcomes, not vanity AI metrics.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2625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ursor-lockup-light.png"/>
          <p:cNvPicPr>
            <a:picLocks noChangeAspect="1"/>
          </p:cNvPicPr>
          <p:nvPr/>
        </p:nvPicPr>
        <p:blipFill>
          <a:blip r:embed="rId2"/>
          <a:stretch>
            <a:fillRect/>
          </a:stretch>
        </p:blipFill>
        <p:spPr>
          <a:xfrm>
            <a:off x="640080" y="292608"/>
            <a:ext cx="1234440" cy="293494"/>
          </a:xfrm>
          <a:prstGeom prst="rect">
            <a:avLst/>
          </a:prstGeom>
        </p:spPr>
      </p:pic>
      <p:sp>
        <p:nvSpPr>
          <p:cNvPr id="5" name="TextBox 4"/>
          <p:cNvSpPr txBox="1"/>
          <p:nvPr/>
        </p:nvSpPr>
        <p:spPr>
          <a:xfrm>
            <a:off x="2103120" y="292608"/>
            <a:ext cx="9326880" cy="502920"/>
          </a:xfrm>
          <a:prstGeom prst="rect">
            <a:avLst/>
          </a:prstGeom>
          <a:noFill/>
        </p:spPr>
        <p:txBody>
          <a:bodyPr wrap="square" anchor="t">
            <a:spAutoFit/>
          </a:bodyPr>
          <a:lstStyle/>
          <a:p>
            <a:pPr algn="l"/>
            <a:r>
              <a:rPr sz="2200" b="0">
                <a:solidFill>
                  <a:srgbClr val="FFFFFF"/>
                </a:solidFill>
                <a:latin typeface="Arial"/>
              </a:rPr>
              <a:t>Four differentiators — lead with one based on buyer pain</a:t>
            </a:r>
          </a:p>
        </p:txBody>
      </p:sp>
      <p:sp>
        <p:nvSpPr>
          <p:cNvPr id="6" name="Rectangle 5"/>
          <p:cNvSpPr/>
          <p:nvPr/>
        </p:nvSpPr>
        <p:spPr>
          <a:xfrm>
            <a:off x="0" y="1051560"/>
            <a:ext cx="12191695"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80160"/>
            <a:ext cx="5394960" cy="2148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508760"/>
            <a:ext cx="640080"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691640"/>
            <a:ext cx="777240" cy="274320"/>
          </a:xfrm>
          <a:prstGeom prst="rect">
            <a:avLst/>
          </a:prstGeom>
          <a:noFill/>
        </p:spPr>
        <p:txBody>
          <a:bodyPr wrap="square" anchor="t">
            <a:spAutoFit/>
          </a:bodyPr>
          <a:lstStyle/>
          <a:p>
            <a:pPr algn="l"/>
            <a:r>
              <a:rPr sz="1500" b="1">
                <a:solidFill>
                  <a:srgbClr val="26251E"/>
                </a:solidFill>
                <a:latin typeface="Arial"/>
              </a:rPr>
              <a:t>01</a:t>
            </a:r>
          </a:p>
        </p:txBody>
      </p:sp>
      <p:sp>
        <p:nvSpPr>
          <p:cNvPr id="10" name="TextBox 9"/>
          <p:cNvSpPr txBox="1"/>
          <p:nvPr/>
        </p:nvSpPr>
        <p:spPr>
          <a:xfrm>
            <a:off x="1554480" y="1691640"/>
            <a:ext cx="4023360" cy="274320"/>
          </a:xfrm>
          <a:prstGeom prst="rect">
            <a:avLst/>
          </a:prstGeom>
          <a:noFill/>
        </p:spPr>
        <p:txBody>
          <a:bodyPr wrap="square" anchor="t">
            <a:spAutoFit/>
          </a:bodyPr>
          <a:lstStyle/>
          <a:p>
            <a:pPr algn="l"/>
            <a:r>
              <a:rPr sz="1500" b="1">
                <a:solidFill>
                  <a:srgbClr val="26251E"/>
                </a:solidFill>
                <a:latin typeface="Arial"/>
              </a:rPr>
              <a:t>Model neutrality</a:t>
            </a:r>
          </a:p>
        </p:txBody>
      </p:sp>
      <p:sp>
        <p:nvSpPr>
          <p:cNvPr id="11" name="TextBox 10"/>
          <p:cNvSpPr txBox="1"/>
          <p:nvPr/>
        </p:nvSpPr>
        <p:spPr>
          <a:xfrm>
            <a:off x="777240" y="2194560"/>
            <a:ext cx="4892040" cy="960120"/>
          </a:xfrm>
          <a:prstGeom prst="rect">
            <a:avLst/>
          </a:prstGeom>
          <a:noFill/>
        </p:spPr>
        <p:txBody>
          <a:bodyPr wrap="square" anchor="t">
            <a:spAutoFit/>
          </a:bodyPr>
          <a:lstStyle/>
          <a:p>
            <a:pPr algn="l"/>
            <a:r>
              <a:rPr sz="1300" b="0">
                <a:solidFill>
                  <a:srgbClr val="807D72"/>
                </a:solidFill>
                <a:latin typeface="Arial"/>
              </a:rPr>
              <a:t>Best model changes. No single-vendor lock-in. Labs are suppliers and competitors — optionality is strategic.</a:t>
            </a:r>
          </a:p>
        </p:txBody>
      </p:sp>
      <p:sp>
        <p:nvSpPr>
          <p:cNvPr id="12" name="Rectangle 11"/>
          <p:cNvSpPr/>
          <p:nvPr/>
        </p:nvSpPr>
        <p:spPr>
          <a:xfrm>
            <a:off x="6172200" y="1280160"/>
            <a:ext cx="5394960" cy="2148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00800" y="1508760"/>
            <a:ext cx="640080"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691640"/>
            <a:ext cx="777240" cy="274320"/>
          </a:xfrm>
          <a:prstGeom prst="rect">
            <a:avLst/>
          </a:prstGeom>
          <a:noFill/>
        </p:spPr>
        <p:txBody>
          <a:bodyPr wrap="square" anchor="t">
            <a:spAutoFit/>
          </a:bodyPr>
          <a:lstStyle/>
          <a:p>
            <a:pPr algn="l"/>
            <a:r>
              <a:rPr sz="1500" b="1">
                <a:solidFill>
                  <a:srgbClr val="26251E"/>
                </a:solidFill>
                <a:latin typeface="Arial"/>
              </a:rPr>
              <a:t>02</a:t>
            </a:r>
          </a:p>
        </p:txBody>
      </p:sp>
      <p:sp>
        <p:nvSpPr>
          <p:cNvPr id="15" name="TextBox 14"/>
          <p:cNvSpPr txBox="1"/>
          <p:nvPr/>
        </p:nvSpPr>
        <p:spPr>
          <a:xfrm>
            <a:off x="7178040" y="1691640"/>
            <a:ext cx="4023360" cy="274320"/>
          </a:xfrm>
          <a:prstGeom prst="rect">
            <a:avLst/>
          </a:prstGeom>
          <a:noFill/>
        </p:spPr>
        <p:txBody>
          <a:bodyPr wrap="square" anchor="t">
            <a:spAutoFit/>
          </a:bodyPr>
          <a:lstStyle/>
          <a:p>
            <a:pPr algn="l"/>
            <a:r>
              <a:rPr sz="1500" b="1">
                <a:solidFill>
                  <a:srgbClr val="26251E"/>
                </a:solidFill>
                <a:latin typeface="Arial"/>
              </a:rPr>
              <a:t>Large codebase / harness</a:t>
            </a:r>
          </a:p>
        </p:txBody>
      </p:sp>
      <p:sp>
        <p:nvSpPr>
          <p:cNvPr id="16" name="TextBox 15"/>
          <p:cNvSpPr txBox="1"/>
          <p:nvPr/>
        </p:nvSpPr>
        <p:spPr>
          <a:xfrm>
            <a:off x="6400800" y="2194560"/>
            <a:ext cx="4892040" cy="960120"/>
          </a:xfrm>
          <a:prstGeom prst="rect">
            <a:avLst/>
          </a:prstGeom>
          <a:noFill/>
        </p:spPr>
        <p:txBody>
          <a:bodyPr wrap="square" anchor="t">
            <a:spAutoFit/>
          </a:bodyPr>
          <a:lstStyle/>
          <a:p>
            <a:pPr algn="l"/>
            <a:r>
              <a:rPr sz="1300" b="0">
                <a:solidFill>
                  <a:srgbClr val="807D72"/>
                </a:solidFill>
                <a:latin typeface="Arial"/>
              </a:rPr>
              <a:t>Not just wrapping a model. Better finding + using context in messy enterprise repos. Buyers feel this day one.</a:t>
            </a:r>
          </a:p>
        </p:txBody>
      </p:sp>
      <p:sp>
        <p:nvSpPr>
          <p:cNvPr id="17" name="Rectangle 16"/>
          <p:cNvSpPr/>
          <p:nvPr/>
        </p:nvSpPr>
        <p:spPr>
          <a:xfrm>
            <a:off x="548640" y="3657600"/>
            <a:ext cx="5394960" cy="2148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886200"/>
            <a:ext cx="640080"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4069080"/>
            <a:ext cx="777240" cy="274320"/>
          </a:xfrm>
          <a:prstGeom prst="rect">
            <a:avLst/>
          </a:prstGeom>
          <a:noFill/>
        </p:spPr>
        <p:txBody>
          <a:bodyPr wrap="square" anchor="t">
            <a:spAutoFit/>
          </a:bodyPr>
          <a:lstStyle/>
          <a:p>
            <a:pPr algn="l"/>
            <a:r>
              <a:rPr sz="1500" b="1">
                <a:solidFill>
                  <a:srgbClr val="26251E"/>
                </a:solidFill>
                <a:latin typeface="Arial"/>
              </a:rPr>
              <a:t>03</a:t>
            </a:r>
          </a:p>
        </p:txBody>
      </p:sp>
      <p:sp>
        <p:nvSpPr>
          <p:cNvPr id="20" name="TextBox 19"/>
          <p:cNvSpPr txBox="1"/>
          <p:nvPr/>
        </p:nvSpPr>
        <p:spPr>
          <a:xfrm>
            <a:off x="1554480" y="4069080"/>
            <a:ext cx="4023360" cy="274320"/>
          </a:xfrm>
          <a:prstGeom prst="rect">
            <a:avLst/>
          </a:prstGeom>
          <a:noFill/>
        </p:spPr>
        <p:txBody>
          <a:bodyPr wrap="square" anchor="t">
            <a:spAutoFit/>
          </a:bodyPr>
          <a:lstStyle/>
          <a:p>
            <a:pPr algn="l"/>
            <a:r>
              <a:rPr sz="1500" b="1">
                <a:solidFill>
                  <a:srgbClr val="26251E"/>
                </a:solidFill>
                <a:latin typeface="Arial"/>
              </a:rPr>
              <a:t>Faster time to value</a:t>
            </a:r>
          </a:p>
        </p:txBody>
      </p:sp>
      <p:sp>
        <p:nvSpPr>
          <p:cNvPr id="21" name="TextBox 20"/>
          <p:cNvSpPr txBox="1"/>
          <p:nvPr/>
        </p:nvSpPr>
        <p:spPr>
          <a:xfrm>
            <a:off x="777240" y="4572000"/>
            <a:ext cx="4892040" cy="960120"/>
          </a:xfrm>
          <a:prstGeom prst="rect">
            <a:avLst/>
          </a:prstGeom>
          <a:noFill/>
        </p:spPr>
        <p:txBody>
          <a:bodyPr wrap="square" anchor="t">
            <a:spAutoFit/>
          </a:bodyPr>
          <a:lstStyle/>
          <a:p>
            <a:pPr algn="l"/>
            <a:r>
              <a:rPr sz="1300" b="0">
                <a:solidFill>
                  <a:srgbClr val="807D72"/>
                </a:solidFill>
                <a:latin typeface="Arial"/>
              </a:rPr>
              <a:t>Strong out of the box. Standardize without every developer inventing a custom setup. Adoption + consistency.</a:t>
            </a:r>
          </a:p>
        </p:txBody>
      </p:sp>
      <p:sp>
        <p:nvSpPr>
          <p:cNvPr id="22" name="Rectangle 21"/>
          <p:cNvSpPr/>
          <p:nvPr/>
        </p:nvSpPr>
        <p:spPr>
          <a:xfrm>
            <a:off x="6172200" y="3657600"/>
            <a:ext cx="5394960" cy="2148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0" y="3886200"/>
            <a:ext cx="640080"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0" y="4069080"/>
            <a:ext cx="777240" cy="274320"/>
          </a:xfrm>
          <a:prstGeom prst="rect">
            <a:avLst/>
          </a:prstGeom>
          <a:noFill/>
        </p:spPr>
        <p:txBody>
          <a:bodyPr wrap="square" anchor="t">
            <a:spAutoFit/>
          </a:bodyPr>
          <a:lstStyle/>
          <a:p>
            <a:pPr algn="l"/>
            <a:r>
              <a:rPr sz="1500" b="1">
                <a:solidFill>
                  <a:srgbClr val="26251E"/>
                </a:solidFill>
                <a:latin typeface="Arial"/>
              </a:rPr>
              <a:t>04</a:t>
            </a:r>
          </a:p>
        </p:txBody>
      </p:sp>
      <p:sp>
        <p:nvSpPr>
          <p:cNvPr id="25" name="TextBox 24"/>
          <p:cNvSpPr txBox="1"/>
          <p:nvPr/>
        </p:nvSpPr>
        <p:spPr>
          <a:xfrm>
            <a:off x="7178040" y="4069080"/>
            <a:ext cx="4023360" cy="274320"/>
          </a:xfrm>
          <a:prstGeom prst="rect">
            <a:avLst/>
          </a:prstGeom>
          <a:noFill/>
        </p:spPr>
        <p:txBody>
          <a:bodyPr wrap="square" anchor="t">
            <a:spAutoFit/>
          </a:bodyPr>
          <a:lstStyle/>
          <a:p>
            <a:pPr algn="l"/>
            <a:r>
              <a:rPr sz="1500" b="1">
                <a:solidFill>
                  <a:srgbClr val="26251E"/>
                </a:solidFill>
                <a:latin typeface="Arial"/>
              </a:rPr>
              <a:t>Platform across the SDLC</a:t>
            </a:r>
          </a:p>
        </p:txBody>
      </p:sp>
      <p:sp>
        <p:nvSpPr>
          <p:cNvPr id="26" name="TextBox 25"/>
          <p:cNvSpPr txBox="1"/>
          <p:nvPr/>
        </p:nvSpPr>
        <p:spPr>
          <a:xfrm>
            <a:off x="6400800" y="4572000"/>
            <a:ext cx="4892040" cy="960120"/>
          </a:xfrm>
          <a:prstGeom prst="rect">
            <a:avLst/>
          </a:prstGeom>
          <a:noFill/>
        </p:spPr>
        <p:txBody>
          <a:bodyPr wrap="square" anchor="t">
            <a:spAutoFit/>
          </a:bodyPr>
          <a:lstStyle/>
          <a:p>
            <a:pPr algn="l"/>
            <a:r>
              <a:rPr sz="1300" b="0">
                <a:solidFill>
                  <a:srgbClr val="807D72"/>
                </a:solidFill>
                <a:latin typeface="Arial"/>
              </a:rPr>
              <a:t>Bugbot, Agent Review, Automations. Clear the review bottleneck AI creates. Better execution, not just answers.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2625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ursor-lockup-light.png"/>
          <p:cNvPicPr>
            <a:picLocks noChangeAspect="1"/>
          </p:cNvPicPr>
          <p:nvPr/>
        </p:nvPicPr>
        <p:blipFill>
          <a:blip r:embed="rId2"/>
          <a:stretch>
            <a:fillRect/>
          </a:stretch>
        </p:blipFill>
        <p:spPr>
          <a:xfrm>
            <a:off x="640080" y="292608"/>
            <a:ext cx="1234440" cy="293494"/>
          </a:xfrm>
          <a:prstGeom prst="rect">
            <a:avLst/>
          </a:prstGeom>
        </p:spPr>
      </p:pic>
      <p:sp>
        <p:nvSpPr>
          <p:cNvPr id="5" name="TextBox 4"/>
          <p:cNvSpPr txBox="1"/>
          <p:nvPr/>
        </p:nvSpPr>
        <p:spPr>
          <a:xfrm>
            <a:off x="2103120" y="292608"/>
            <a:ext cx="9326880" cy="502920"/>
          </a:xfrm>
          <a:prstGeom prst="rect">
            <a:avLst/>
          </a:prstGeom>
          <a:noFill/>
        </p:spPr>
        <p:txBody>
          <a:bodyPr wrap="square" anchor="t">
            <a:spAutoFit/>
          </a:bodyPr>
          <a:lstStyle/>
          <a:p>
            <a:pPr algn="l"/>
            <a:r>
              <a:rPr sz="2200" b="0">
                <a:solidFill>
                  <a:srgbClr val="FFFFFF"/>
                </a:solidFill>
                <a:latin typeface="Arial"/>
              </a:rPr>
              <a:t>Two experiments — test first, measure hard</a:t>
            </a:r>
          </a:p>
        </p:txBody>
      </p:sp>
      <p:sp>
        <p:nvSpPr>
          <p:cNvPr id="6" name="Rectangle 5"/>
          <p:cNvSpPr/>
          <p:nvPr/>
        </p:nvSpPr>
        <p:spPr>
          <a:xfrm>
            <a:off x="0" y="1051560"/>
            <a:ext cx="12191695"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80160"/>
            <a:ext cx="5394960" cy="4800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1508760"/>
            <a:ext cx="731520"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737360"/>
            <a:ext cx="4846320" cy="320040"/>
          </a:xfrm>
          <a:prstGeom prst="rect">
            <a:avLst/>
          </a:prstGeom>
          <a:noFill/>
        </p:spPr>
        <p:txBody>
          <a:bodyPr wrap="square" anchor="t">
            <a:spAutoFit/>
          </a:bodyPr>
          <a:lstStyle/>
          <a:p>
            <a:pPr algn="l"/>
            <a:r>
              <a:rPr sz="1600" b="1">
                <a:solidFill>
                  <a:srgbClr val="26251E"/>
                </a:solidFill>
                <a:latin typeface="Arial"/>
              </a:rPr>
              <a:t>1 — Skill then activity</a:t>
            </a:r>
          </a:p>
        </p:txBody>
      </p:sp>
      <p:sp>
        <p:nvSpPr>
          <p:cNvPr id="10" name="TextBox 9"/>
          <p:cNvSpPr txBox="1"/>
          <p:nvPr/>
        </p:nvSpPr>
        <p:spPr>
          <a:xfrm>
            <a:off x="822960" y="2194560"/>
            <a:ext cx="4846320" cy="3566160"/>
          </a:xfrm>
          <a:prstGeom prst="rect">
            <a:avLst/>
          </a:prstGeom>
          <a:noFill/>
        </p:spPr>
        <p:txBody>
          <a:bodyPr wrap="square">
            <a:spAutoFit/>
          </a:bodyPr>
          <a:lstStyle/>
          <a:p>
            <a:pPr algn="l">
              <a:spcAft>
                <a:spcPts val="700"/>
              </a:spcAft>
            </a:pPr>
            <a:r>
              <a:rPr sz="1400" b="0">
                <a:solidFill>
                  <a:srgbClr val="26251E"/>
                </a:solidFill>
                <a:latin typeface="Arial"/>
              </a:rPr>
              <a:t>•  Diagnose openers, objection handling, and discovery first</a:t>
            </a:r>
          </a:p>
          <a:p>
            <a:pPr algn="l">
              <a:spcAft>
                <a:spcPts val="700"/>
              </a:spcAft>
            </a:pPr>
            <a:r>
              <a:rPr sz="1400" b="0">
                <a:solidFill>
                  <a:srgbClr val="26251E"/>
                </a:solidFill>
                <a:latin typeface="Arial"/>
              </a:rPr>
              <a:t>•  Then increase activity metrics — don’t crank dials into a broken talk track</a:t>
            </a:r>
          </a:p>
          <a:p>
            <a:pPr algn="l">
              <a:spcAft>
                <a:spcPts val="700"/>
              </a:spcAft>
            </a:pPr>
            <a:r>
              <a:rPr sz="1400" b="0">
                <a:solidFill>
                  <a:srgbClr val="26251E"/>
                </a:solidFill>
                <a:latin typeface="Arial"/>
              </a:rPr>
              <a:t>•  Measure: connect · conversation · meetings</a:t>
            </a:r>
          </a:p>
          <a:p>
            <a:pPr algn="l">
              <a:spcAft>
                <a:spcPts val="700"/>
              </a:spcAft>
            </a:pPr>
            <a:r>
              <a:rPr sz="1400" b="0">
                <a:solidFill>
                  <a:srgbClr val="26251E"/>
                </a:solidFill>
                <a:latin typeface="Arial"/>
              </a:rPr>
              <a:t>•  Quality check: % converting to qualified meetings</a:t>
            </a:r>
          </a:p>
        </p:txBody>
      </p:sp>
      <p:sp>
        <p:nvSpPr>
          <p:cNvPr id="11" name="Rectangle 10"/>
          <p:cNvSpPr/>
          <p:nvPr/>
        </p:nvSpPr>
        <p:spPr>
          <a:xfrm>
            <a:off x="6172200" y="1280160"/>
            <a:ext cx="5394960" cy="4800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46520" y="1508760"/>
            <a:ext cx="731520"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6520" y="1737360"/>
            <a:ext cx="4846320" cy="320040"/>
          </a:xfrm>
          <a:prstGeom prst="rect">
            <a:avLst/>
          </a:prstGeom>
          <a:noFill/>
        </p:spPr>
        <p:txBody>
          <a:bodyPr wrap="square" anchor="t">
            <a:spAutoFit/>
          </a:bodyPr>
          <a:lstStyle/>
          <a:p>
            <a:pPr algn="l"/>
            <a:r>
              <a:rPr sz="1600" b="1">
                <a:solidFill>
                  <a:srgbClr val="26251E"/>
                </a:solidFill>
                <a:latin typeface="Arial"/>
              </a:rPr>
              <a:t>2 — Messaging currency</a:t>
            </a:r>
          </a:p>
        </p:txBody>
      </p:sp>
      <p:sp>
        <p:nvSpPr>
          <p:cNvPr id="14" name="TextBox 13"/>
          <p:cNvSpPr txBox="1"/>
          <p:nvPr/>
        </p:nvSpPr>
        <p:spPr>
          <a:xfrm>
            <a:off x="6446520" y="2194560"/>
            <a:ext cx="4846320" cy="3566160"/>
          </a:xfrm>
          <a:prstGeom prst="rect">
            <a:avLst/>
          </a:prstGeom>
          <a:noFill/>
        </p:spPr>
        <p:txBody>
          <a:bodyPr wrap="square">
            <a:spAutoFit/>
          </a:bodyPr>
          <a:lstStyle/>
          <a:p>
            <a:pPr algn="l">
              <a:spcAft>
                <a:spcPts val="700"/>
              </a:spcAft>
            </a:pPr>
            <a:r>
              <a:rPr sz="1400" b="0">
                <a:solidFill>
                  <a:srgbClr val="26251E"/>
                </a:solidFill>
                <a:latin typeface="Arial"/>
              </a:rPr>
              <a:t>•  Personalization that earns the next 30 seconds</a:t>
            </a:r>
          </a:p>
          <a:p>
            <a:pPr algn="l">
              <a:spcAft>
                <a:spcPts val="700"/>
              </a:spcAft>
            </a:pPr>
            <a:r>
              <a:rPr sz="1400" b="0">
                <a:solidFill>
                  <a:srgbClr val="26251E"/>
                </a:solidFill>
                <a:latin typeface="Arial"/>
              </a:rPr>
              <a:t>•  Stay current as AI models and labs release improvements</a:t>
            </a:r>
          </a:p>
          <a:p>
            <a:pPr algn="l">
              <a:spcAft>
                <a:spcPts val="700"/>
              </a:spcAft>
            </a:pPr>
            <a:r>
              <a:rPr sz="1400" b="0">
                <a:solidFill>
                  <a:srgbClr val="26251E"/>
                </a:solidFill>
                <a:latin typeface="Arial"/>
              </a:rPr>
              <a:t>•  Daily: which models leapfrogged → update talk tracks</a:t>
            </a:r>
          </a:p>
          <a:p>
            <a:pPr algn="l">
              <a:spcAft>
                <a:spcPts val="700"/>
              </a:spcAft>
            </a:pPr>
            <a:r>
              <a:rPr sz="1400" b="0">
                <a:solidFill>
                  <a:srgbClr val="26251E"/>
                </a:solidFill>
                <a:latin typeface="Arial"/>
              </a:rPr>
              <a:t>•  What worked / what didn’t — keep or kill on data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2625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ursor-lockup-light.png"/>
          <p:cNvPicPr>
            <a:picLocks noChangeAspect="1"/>
          </p:cNvPicPr>
          <p:nvPr/>
        </p:nvPicPr>
        <p:blipFill>
          <a:blip r:embed="rId2"/>
          <a:stretch>
            <a:fillRect/>
          </a:stretch>
        </p:blipFill>
        <p:spPr>
          <a:xfrm>
            <a:off x="640080" y="292608"/>
            <a:ext cx="1234440" cy="293494"/>
          </a:xfrm>
          <a:prstGeom prst="rect">
            <a:avLst/>
          </a:prstGeom>
        </p:spPr>
      </p:pic>
      <p:sp>
        <p:nvSpPr>
          <p:cNvPr id="5" name="TextBox 4"/>
          <p:cNvSpPr txBox="1"/>
          <p:nvPr/>
        </p:nvSpPr>
        <p:spPr>
          <a:xfrm>
            <a:off x="2103120" y="292608"/>
            <a:ext cx="9326880" cy="502920"/>
          </a:xfrm>
          <a:prstGeom prst="rect">
            <a:avLst/>
          </a:prstGeom>
          <a:noFill/>
        </p:spPr>
        <p:txBody>
          <a:bodyPr wrap="square" anchor="t">
            <a:spAutoFit/>
          </a:bodyPr>
          <a:lstStyle/>
          <a:p>
            <a:pPr algn="l"/>
            <a:r>
              <a:rPr sz="2200" b="0">
                <a:solidFill>
                  <a:srgbClr val="FFFFFF"/>
                </a:solidFill>
                <a:latin typeface="Arial"/>
              </a:rPr>
              <a:t>Working with Growth &amp; Sales — faster feedback loops</a:t>
            </a:r>
          </a:p>
        </p:txBody>
      </p:sp>
      <p:sp>
        <p:nvSpPr>
          <p:cNvPr id="6" name="Rectangle 5"/>
          <p:cNvSpPr/>
          <p:nvPr/>
        </p:nvSpPr>
        <p:spPr>
          <a:xfrm>
            <a:off x="0" y="1051560"/>
            <a:ext cx="12191695"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371600"/>
            <a:ext cx="10607040" cy="4663440"/>
          </a:xfrm>
          <a:prstGeom prst="rect">
            <a:avLst/>
          </a:prstGeom>
          <a:noFill/>
        </p:spPr>
        <p:txBody>
          <a:bodyPr wrap="square">
            <a:spAutoFit/>
          </a:bodyPr>
          <a:lstStyle/>
          <a:p>
            <a:pPr algn="l">
              <a:spcAft>
                <a:spcPts val="1100"/>
              </a:spcAft>
            </a:pPr>
            <a:r>
              <a:rPr sz="1700" b="0">
                <a:solidFill>
                  <a:srgbClr val="26251E"/>
                </a:solidFill>
                <a:latin typeface="Arial"/>
              </a:rPr>
              <a:t>•  Loops already exist — make them quicker and implement change faster</a:t>
            </a:r>
          </a:p>
          <a:p>
            <a:pPr algn="l">
              <a:spcAft>
                <a:spcPts val="1100"/>
              </a:spcAft>
            </a:pPr>
            <a:r>
              <a:rPr sz="1700" b="0">
                <a:solidFill>
                  <a:srgbClr val="26251E"/>
                </a:solidFill>
                <a:latin typeface="Arial"/>
              </a:rPr>
              <a:t>•  Weekly SE sessions — product + competitive sharpness</a:t>
            </a:r>
          </a:p>
          <a:p>
            <a:pPr algn="l">
              <a:spcAft>
                <a:spcPts val="1100"/>
              </a:spcAft>
            </a:pPr>
            <a:r>
              <a:rPr sz="1700" b="0">
                <a:solidFill>
                  <a:srgbClr val="26251E"/>
                </a:solidFill>
                <a:latin typeface="Arial"/>
              </a:rPr>
              <a:t>•  Mandatory SDR ↔ AE connects — real-time meeting quality feedback</a:t>
            </a:r>
          </a:p>
          <a:p>
            <a:pPr algn="l">
              <a:spcAft>
                <a:spcPts val="1100"/>
              </a:spcAft>
            </a:pPr>
            <a:r>
              <a:rPr sz="1700" b="0">
                <a:solidFill>
                  <a:srgbClr val="26251E"/>
                </a:solidFill>
                <a:latin typeface="Arial"/>
              </a:rPr>
              <a:t>•  Weekly recaps to AEs, SVPs, RDs, and SEs by territory</a:t>
            </a:r>
          </a:p>
          <a:p>
            <a:pPr algn="l">
              <a:spcAft>
                <a:spcPts val="1100"/>
              </a:spcAft>
            </a:pPr>
            <a:r>
              <a:rPr sz="1700" b="0">
                <a:solidFill>
                  <a:srgbClr val="26251E"/>
                </a:solidFill>
                <a:latin typeface="Arial"/>
              </a:rPr>
              <a:t>•  What converted · what failed · one change we’re making</a:t>
            </a:r>
          </a:p>
          <a:p>
            <a:pPr algn="l">
              <a:spcAft>
                <a:spcPts val="1100"/>
              </a:spcAft>
            </a:pPr>
            <a:r>
              <a:rPr sz="1700" b="0">
                <a:solidFill>
                  <a:srgbClr val="26251E"/>
                </a:solidFill>
                <a:latin typeface="Arial"/>
              </a:rPr>
              <a:t>•  Clear owners. Faster loops. Trains on time.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ursor-lockup-dark.png"/>
          <p:cNvPicPr>
            <a:picLocks noChangeAspect="1"/>
          </p:cNvPicPr>
          <p:nvPr/>
        </p:nvPicPr>
        <p:blipFill>
          <a:blip r:embed="rId2"/>
          <a:stretch>
            <a:fillRect/>
          </a:stretch>
        </p:blipFill>
        <p:spPr>
          <a:xfrm>
            <a:off x="777240" y="502920"/>
            <a:ext cx="1645920" cy="391326"/>
          </a:xfrm>
          <a:prstGeom prst="rect">
            <a:avLst/>
          </a:prstGeom>
        </p:spPr>
      </p:pic>
      <p:sp>
        <p:nvSpPr>
          <p:cNvPr id="4" name="Rectangle 3"/>
          <p:cNvSpPr/>
          <p:nvPr/>
        </p:nvSpPr>
        <p:spPr>
          <a:xfrm>
            <a:off x="777240" y="2331720"/>
            <a:ext cx="1234440"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0"/>
            <a:ext cx="10058400" cy="320040"/>
          </a:xfrm>
          <a:prstGeom prst="rect">
            <a:avLst/>
          </a:prstGeom>
          <a:noFill/>
        </p:spPr>
        <p:txBody>
          <a:bodyPr wrap="square" anchor="t">
            <a:spAutoFit/>
          </a:bodyPr>
          <a:lstStyle/>
          <a:p>
            <a:pPr algn="l"/>
            <a:r>
              <a:rPr sz="1300" b="1">
                <a:solidFill>
                  <a:srgbClr val="F54E00"/>
                </a:solidFill>
                <a:latin typeface="Arial"/>
              </a:rPr>
              <a:t>PART 2</a:t>
            </a:r>
          </a:p>
        </p:txBody>
      </p:sp>
      <p:sp>
        <p:nvSpPr>
          <p:cNvPr id="6" name="TextBox 5"/>
          <p:cNvSpPr txBox="1"/>
          <p:nvPr/>
        </p:nvSpPr>
        <p:spPr>
          <a:xfrm>
            <a:off x="777240" y="3017520"/>
            <a:ext cx="10607040" cy="1097280"/>
          </a:xfrm>
          <a:prstGeom prst="rect">
            <a:avLst/>
          </a:prstGeom>
          <a:noFill/>
        </p:spPr>
        <p:txBody>
          <a:bodyPr wrap="square" anchor="t">
            <a:spAutoFit/>
          </a:bodyPr>
          <a:lstStyle/>
          <a:p>
            <a:pPr algn="l"/>
            <a:r>
              <a:rPr sz="3000" b="0">
                <a:solidFill>
                  <a:srgbClr val="26251E"/>
                </a:solidFill>
                <a:latin typeface="Arial"/>
              </a:rPr>
              <a:t>Fundamentals — how I lead day to day as a player-coach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2625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ursor-lockup-light.png"/>
          <p:cNvPicPr>
            <a:picLocks noChangeAspect="1"/>
          </p:cNvPicPr>
          <p:nvPr/>
        </p:nvPicPr>
        <p:blipFill>
          <a:blip r:embed="rId2"/>
          <a:stretch>
            <a:fillRect/>
          </a:stretch>
        </p:blipFill>
        <p:spPr>
          <a:xfrm>
            <a:off x="640080" y="292608"/>
            <a:ext cx="1234440" cy="293494"/>
          </a:xfrm>
          <a:prstGeom prst="rect">
            <a:avLst/>
          </a:prstGeom>
        </p:spPr>
      </p:pic>
      <p:sp>
        <p:nvSpPr>
          <p:cNvPr id="5" name="TextBox 4"/>
          <p:cNvSpPr txBox="1"/>
          <p:nvPr/>
        </p:nvSpPr>
        <p:spPr>
          <a:xfrm>
            <a:off x="2103120" y="292608"/>
            <a:ext cx="9326880" cy="502920"/>
          </a:xfrm>
          <a:prstGeom prst="rect">
            <a:avLst/>
          </a:prstGeom>
          <a:noFill/>
        </p:spPr>
        <p:txBody>
          <a:bodyPr wrap="square" anchor="t">
            <a:spAutoFit/>
          </a:bodyPr>
          <a:lstStyle/>
          <a:p>
            <a:pPr algn="l"/>
            <a:r>
              <a:rPr sz="2200" b="0">
                <a:solidFill>
                  <a:srgbClr val="FFFFFF"/>
                </a:solidFill>
                <a:latin typeface="Arial"/>
              </a:rPr>
              <a:t>The ideal AI-era SDR</a:t>
            </a:r>
          </a:p>
        </p:txBody>
      </p:sp>
      <p:sp>
        <p:nvSpPr>
          <p:cNvPr id="6" name="Rectangle 5"/>
          <p:cNvSpPr/>
          <p:nvPr/>
        </p:nvSpPr>
        <p:spPr>
          <a:xfrm>
            <a:off x="0" y="1051560"/>
            <a:ext cx="12191695"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371600"/>
            <a:ext cx="10607040" cy="4663440"/>
          </a:xfrm>
          <a:prstGeom prst="rect">
            <a:avLst/>
          </a:prstGeom>
          <a:noFill/>
        </p:spPr>
        <p:txBody>
          <a:bodyPr wrap="square">
            <a:spAutoFit/>
          </a:bodyPr>
          <a:lstStyle/>
          <a:p>
            <a:pPr algn="l">
              <a:spcAft>
                <a:spcPts val="1100"/>
              </a:spcAft>
            </a:pPr>
            <a:r>
              <a:rPr sz="1600" b="0">
                <a:solidFill>
                  <a:srgbClr val="26251E"/>
                </a:solidFill>
                <a:latin typeface="Arial"/>
              </a:rPr>
              <a:t>•  AI takes the rote work — humans still want to be sold to by humans</a:t>
            </a:r>
          </a:p>
          <a:p>
            <a:pPr algn="l">
              <a:spcAft>
                <a:spcPts val="1100"/>
              </a:spcAft>
            </a:pPr>
            <a:r>
              <a:rPr sz="1600" b="0">
                <a:solidFill>
                  <a:srgbClr val="26251E"/>
                </a:solidFill>
                <a:latin typeface="Arial"/>
              </a:rPr>
              <a:t>•  Humanize messaging and cold calls — stand out by helping, not spamming</a:t>
            </a:r>
          </a:p>
          <a:p>
            <a:pPr algn="l">
              <a:spcAft>
                <a:spcPts val="1100"/>
              </a:spcAft>
            </a:pPr>
            <a:r>
              <a:rPr sz="1600" b="0">
                <a:solidFill>
                  <a:srgbClr val="26251E"/>
                </a:solidFill>
                <a:latin typeface="Arial"/>
              </a:rPr>
              <a:t>•  Exceptional: AI for prep + genuine discovery, care, current-state pain, use-case stories</a:t>
            </a:r>
          </a:p>
          <a:p>
            <a:pPr algn="l">
              <a:spcAft>
                <a:spcPts val="1100"/>
              </a:spcAft>
            </a:pPr>
            <a:r>
              <a:rPr sz="1600" b="0">
                <a:solidFill>
                  <a:srgbClr val="26251E"/>
                </a:solidFill>
                <a:latin typeface="Arial"/>
              </a:rPr>
              <a:t>•  Skills: org/time management · research/intuition · written &amp; verbal</a:t>
            </a:r>
          </a:p>
          <a:p>
            <a:pPr algn="l">
              <a:spcAft>
                <a:spcPts val="1100"/>
              </a:spcAft>
            </a:pPr>
            <a:r>
              <a:rPr sz="1600" b="0">
                <a:solidFill>
                  <a:srgbClr val="26251E"/>
                </a:solidFill>
                <a:latin typeface="Arial"/>
              </a:rPr>
              <a:t>•  Active listening + adaptability — carry the conversation and react with value</a:t>
            </a:r>
          </a:p>
          <a:p>
            <a:pPr algn="l">
              <a:spcAft>
                <a:spcPts val="1100"/>
              </a:spcAft>
            </a:pPr>
            <a:r>
              <a:rPr sz="1600" b="0">
                <a:solidFill>
                  <a:srgbClr val="26251E"/>
                </a:solidFill>
                <a:latin typeface="Arial"/>
              </a:rPr>
              <a:t>•  Objection handling + storytelling — technical pain and business value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2625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ursor-lockup-light.png"/>
          <p:cNvPicPr>
            <a:picLocks noChangeAspect="1"/>
          </p:cNvPicPr>
          <p:nvPr/>
        </p:nvPicPr>
        <p:blipFill>
          <a:blip r:embed="rId2"/>
          <a:stretch>
            <a:fillRect/>
          </a:stretch>
        </p:blipFill>
        <p:spPr>
          <a:xfrm>
            <a:off x="640080" y="292608"/>
            <a:ext cx="1234440" cy="293494"/>
          </a:xfrm>
          <a:prstGeom prst="rect">
            <a:avLst/>
          </a:prstGeom>
        </p:spPr>
      </p:pic>
      <p:sp>
        <p:nvSpPr>
          <p:cNvPr id="5" name="TextBox 4"/>
          <p:cNvSpPr txBox="1"/>
          <p:nvPr/>
        </p:nvSpPr>
        <p:spPr>
          <a:xfrm>
            <a:off x="2103120" y="292608"/>
            <a:ext cx="9326880" cy="502920"/>
          </a:xfrm>
          <a:prstGeom prst="rect">
            <a:avLst/>
          </a:prstGeom>
          <a:noFill/>
        </p:spPr>
        <p:txBody>
          <a:bodyPr wrap="square" anchor="t">
            <a:spAutoFit/>
          </a:bodyPr>
          <a:lstStyle/>
          <a:p>
            <a:pPr algn="l"/>
            <a:r>
              <a:rPr sz="2200" b="0">
                <a:solidFill>
                  <a:srgbClr val="FFFFFF"/>
                </a:solidFill>
                <a:latin typeface="Arial"/>
              </a:rPr>
              <a:t>Hiring great talent</a:t>
            </a:r>
          </a:p>
        </p:txBody>
      </p:sp>
      <p:sp>
        <p:nvSpPr>
          <p:cNvPr id="6" name="Rectangle 5"/>
          <p:cNvSpPr/>
          <p:nvPr/>
        </p:nvSpPr>
        <p:spPr>
          <a:xfrm>
            <a:off x="0" y="1051560"/>
            <a:ext cx="12191695"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80160"/>
            <a:ext cx="5394960" cy="4800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1508760"/>
            <a:ext cx="731520"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737360"/>
            <a:ext cx="4846320" cy="320040"/>
          </a:xfrm>
          <a:prstGeom prst="rect">
            <a:avLst/>
          </a:prstGeom>
          <a:noFill/>
        </p:spPr>
        <p:txBody>
          <a:bodyPr wrap="square" anchor="t">
            <a:spAutoFit/>
          </a:bodyPr>
          <a:lstStyle/>
          <a:p>
            <a:pPr algn="l"/>
            <a:r>
              <a:rPr sz="1600" b="1">
                <a:solidFill>
                  <a:srgbClr val="26251E"/>
                </a:solidFill>
                <a:latin typeface="Arial"/>
              </a:rPr>
              <a:t>Bar</a:t>
            </a:r>
          </a:p>
        </p:txBody>
      </p:sp>
      <p:sp>
        <p:nvSpPr>
          <p:cNvPr id="10" name="TextBox 9"/>
          <p:cNvSpPr txBox="1"/>
          <p:nvPr/>
        </p:nvSpPr>
        <p:spPr>
          <a:xfrm>
            <a:off x="822960" y="2194560"/>
            <a:ext cx="4846320" cy="3566160"/>
          </a:xfrm>
          <a:prstGeom prst="rect">
            <a:avLst/>
          </a:prstGeom>
          <a:noFill/>
        </p:spPr>
        <p:txBody>
          <a:bodyPr wrap="square">
            <a:spAutoFit/>
          </a:bodyPr>
          <a:lstStyle/>
          <a:p>
            <a:pPr algn="l">
              <a:spcAft>
                <a:spcPts val="700"/>
              </a:spcAft>
            </a:pPr>
            <a:r>
              <a:rPr sz="1400" b="0">
                <a:solidFill>
                  <a:srgbClr val="26251E"/>
                </a:solidFill>
                <a:latin typeface="Arial"/>
              </a:rPr>
              <a:t>•  Excited every day — can I see them in the next role?</a:t>
            </a:r>
          </a:p>
          <a:p>
            <a:pPr algn="l">
              <a:spcAft>
                <a:spcPts val="700"/>
              </a:spcAft>
            </a:pPr>
            <a:r>
              <a:rPr sz="1400" b="0">
                <a:solidFill>
                  <a:srgbClr val="26251E"/>
                </a:solidFill>
                <a:latin typeface="Arial"/>
              </a:rPr>
              <a:t>•  1–2 years sales or technical / high-intelligence background</a:t>
            </a:r>
          </a:p>
          <a:p>
            <a:pPr algn="l">
              <a:spcAft>
                <a:spcPts val="700"/>
              </a:spcAft>
            </a:pPr>
            <a:r>
              <a:rPr sz="1400" b="0">
                <a:solidFill>
                  <a:srgbClr val="26251E"/>
                </a:solidFill>
                <a:latin typeface="Arial"/>
              </a:rPr>
              <a:t>•  Teachers &amp; career-switchers often win — they learn concepts fast</a:t>
            </a:r>
          </a:p>
          <a:p>
            <a:pPr algn="l">
              <a:spcAft>
                <a:spcPts val="700"/>
              </a:spcAft>
            </a:pPr>
            <a:r>
              <a:rPr sz="1400" b="0">
                <a:solidFill>
                  <a:srgbClr val="26251E"/>
                </a:solidFill>
                <a:latin typeface="Arial"/>
              </a:rPr>
              <a:t>•  LinkedIn Recruiter · prefer native language for the role</a:t>
            </a:r>
          </a:p>
        </p:txBody>
      </p:sp>
      <p:sp>
        <p:nvSpPr>
          <p:cNvPr id="11" name="Rectangle 10"/>
          <p:cNvSpPr/>
          <p:nvPr/>
        </p:nvSpPr>
        <p:spPr>
          <a:xfrm>
            <a:off x="6172200" y="1280160"/>
            <a:ext cx="5394960" cy="4800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46520" y="1508760"/>
            <a:ext cx="731520"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6520" y="1737360"/>
            <a:ext cx="4846320" cy="320040"/>
          </a:xfrm>
          <a:prstGeom prst="rect">
            <a:avLst/>
          </a:prstGeom>
          <a:noFill/>
        </p:spPr>
        <p:txBody>
          <a:bodyPr wrap="square" anchor="t">
            <a:spAutoFit/>
          </a:bodyPr>
          <a:lstStyle/>
          <a:p>
            <a:pPr algn="l"/>
            <a:r>
              <a:rPr sz="1600" b="1">
                <a:solidFill>
                  <a:srgbClr val="26251E"/>
                </a:solidFill>
                <a:latin typeface="Arial"/>
              </a:rPr>
              <a:t>Must-haves</a:t>
            </a:r>
          </a:p>
        </p:txBody>
      </p:sp>
      <p:sp>
        <p:nvSpPr>
          <p:cNvPr id="14" name="TextBox 13"/>
          <p:cNvSpPr txBox="1"/>
          <p:nvPr/>
        </p:nvSpPr>
        <p:spPr>
          <a:xfrm>
            <a:off x="6446520" y="2194560"/>
            <a:ext cx="4846320" cy="3566160"/>
          </a:xfrm>
          <a:prstGeom prst="rect">
            <a:avLst/>
          </a:prstGeom>
          <a:noFill/>
        </p:spPr>
        <p:txBody>
          <a:bodyPr wrap="square">
            <a:spAutoFit/>
          </a:bodyPr>
          <a:lstStyle/>
          <a:p>
            <a:pPr algn="l">
              <a:spcAft>
                <a:spcPts val="700"/>
              </a:spcAft>
            </a:pPr>
            <a:r>
              <a:rPr sz="1400" b="0">
                <a:solidFill>
                  <a:srgbClr val="26251E"/>
                </a:solidFill>
                <a:latin typeface="Arial"/>
              </a:rPr>
              <a:t>•  Intelligence — can gain knowledge</a:t>
            </a:r>
          </a:p>
          <a:p>
            <a:pPr algn="l">
              <a:spcAft>
                <a:spcPts val="700"/>
              </a:spcAft>
            </a:pPr>
            <a:r>
              <a:rPr sz="1400" b="0">
                <a:solidFill>
                  <a:srgbClr val="26251E"/>
                </a:solidFill>
                <a:latin typeface="Arial"/>
              </a:rPr>
              <a:t>•  Drive — will gain the skills</a:t>
            </a:r>
          </a:p>
          <a:p>
            <a:pPr algn="l">
              <a:spcAft>
                <a:spcPts val="700"/>
              </a:spcAft>
            </a:pPr>
            <a:r>
              <a:rPr sz="1400" b="0">
                <a:solidFill>
                  <a:srgbClr val="26251E"/>
                </a:solidFill>
                <a:latin typeface="Arial"/>
              </a:rPr>
              <a:t>•  Coachable — adapt to change</a:t>
            </a:r>
          </a:p>
          <a:p>
            <a:pPr algn="l">
              <a:spcAft>
                <a:spcPts val="700"/>
              </a:spcAft>
            </a:pPr>
            <a:r>
              <a:rPr sz="1400" b="0">
                <a:solidFill>
                  <a:srgbClr val="26251E"/>
                </a:solidFill>
                <a:latin typeface="Arial"/>
              </a:rPr>
              <a:t>•  Integrity — honest</a:t>
            </a:r>
          </a:p>
          <a:p>
            <a:pPr algn="l">
              <a:spcAft>
                <a:spcPts val="700"/>
              </a:spcAft>
            </a:pPr>
            <a:r>
              <a:rPr sz="1400" b="0">
                <a:solidFill>
                  <a:srgbClr val="26251E"/>
                </a:solidFill>
                <a:latin typeface="Arial"/>
              </a:rPr>
              <a:t>•  Obsessed with AI + Cursor — not just “hot company”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2625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ursor-lockup-light.png"/>
          <p:cNvPicPr>
            <a:picLocks noChangeAspect="1"/>
          </p:cNvPicPr>
          <p:nvPr/>
        </p:nvPicPr>
        <p:blipFill>
          <a:blip r:embed="rId2"/>
          <a:stretch>
            <a:fillRect/>
          </a:stretch>
        </p:blipFill>
        <p:spPr>
          <a:xfrm>
            <a:off x="640080" y="292608"/>
            <a:ext cx="1234440" cy="293494"/>
          </a:xfrm>
          <a:prstGeom prst="rect">
            <a:avLst/>
          </a:prstGeom>
        </p:spPr>
      </p:pic>
      <p:sp>
        <p:nvSpPr>
          <p:cNvPr id="5" name="TextBox 4"/>
          <p:cNvSpPr txBox="1"/>
          <p:nvPr/>
        </p:nvSpPr>
        <p:spPr>
          <a:xfrm>
            <a:off x="2103120" y="292608"/>
            <a:ext cx="9326880" cy="502920"/>
          </a:xfrm>
          <a:prstGeom prst="rect">
            <a:avLst/>
          </a:prstGeom>
          <a:noFill/>
        </p:spPr>
        <p:txBody>
          <a:bodyPr wrap="square" anchor="t">
            <a:spAutoFit/>
          </a:bodyPr>
          <a:lstStyle/>
          <a:p>
            <a:pPr algn="l"/>
            <a:r>
              <a:rPr sz="2200" b="0">
                <a:solidFill>
                  <a:srgbClr val="FFFFFF"/>
                </a:solidFill>
                <a:latin typeface="Arial"/>
              </a:rPr>
              <a:t>Coaching system — Tell → Show → Observe → Feedback</a:t>
            </a:r>
          </a:p>
        </p:txBody>
      </p:sp>
      <p:sp>
        <p:nvSpPr>
          <p:cNvPr id="6" name="Rectangle 5"/>
          <p:cNvSpPr/>
          <p:nvPr/>
        </p:nvSpPr>
        <p:spPr>
          <a:xfrm>
            <a:off x="0" y="1051560"/>
            <a:ext cx="12191695"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371600"/>
            <a:ext cx="10607040" cy="4663440"/>
          </a:xfrm>
          <a:prstGeom prst="rect">
            <a:avLst/>
          </a:prstGeom>
          <a:noFill/>
        </p:spPr>
        <p:txBody>
          <a:bodyPr wrap="square">
            <a:spAutoFit/>
          </a:bodyPr>
          <a:lstStyle/>
          <a:p>
            <a:pPr algn="l">
              <a:spcAft>
                <a:spcPts val="1100"/>
              </a:spcAft>
            </a:pPr>
            <a:r>
              <a:rPr sz="1500" b="0">
                <a:solidFill>
                  <a:srgbClr val="26251E"/>
                </a:solidFill>
                <a:latin typeface="Arial"/>
              </a:rPr>
              <a:t>•  Tell (what / who / why) → Show good → Observe (let them struggle) → Feedback (ask them first) → Repeat</a:t>
            </a:r>
          </a:p>
          <a:p>
            <a:pPr algn="l">
              <a:spcAft>
                <a:spcPts val="1100"/>
              </a:spcAft>
            </a:pPr>
            <a:r>
              <a:rPr sz="1500" b="0">
                <a:solidFill>
                  <a:srgbClr val="26251E"/>
                </a:solidFill>
                <a:latin typeface="Arial"/>
              </a:rPr>
              <a:t>•  Ramp: 90-day plan by week + homework + buddy system + heavy on the why</a:t>
            </a:r>
          </a:p>
          <a:p>
            <a:pPr algn="l">
              <a:spcAft>
                <a:spcPts val="1100"/>
              </a:spcAft>
            </a:pPr>
            <a:r>
              <a:rPr sz="1500" b="0">
                <a:solidFill>
                  <a:srgbClr val="26251E"/>
                </a:solidFill>
                <a:latin typeface="Arial"/>
              </a:rPr>
              <a:t>•  Top performers: learn motivation early · catch them doing good · make them mentors</a:t>
            </a:r>
          </a:p>
          <a:p>
            <a:pPr algn="l">
              <a:spcAft>
                <a:spcPts val="1100"/>
              </a:spcAft>
            </a:pPr>
            <a:r>
              <a:rPr sz="1500" b="0">
                <a:solidFill>
                  <a:srgbClr val="26251E"/>
                </a:solidFill>
                <a:latin typeface="Arial"/>
              </a:rPr>
              <a:t>•  Underperformance: coaching plan as soon as someone is off track — structure early</a:t>
            </a:r>
          </a:p>
          <a:p>
            <a:pPr algn="l">
              <a:spcAft>
                <a:spcPts val="1100"/>
              </a:spcAft>
            </a:pPr>
            <a:r>
              <a:rPr sz="1500" b="0">
                <a:solidFill>
                  <a:srgbClr val="26251E"/>
                </a:solidFill>
                <a:latin typeface="Arial"/>
              </a:rPr>
              <a:t>•  Culture: scoreboards · competitions · collaboration · Friday shoutouts for someone else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ursor-lockup-dark.png"/>
          <p:cNvPicPr>
            <a:picLocks noChangeAspect="1"/>
          </p:cNvPicPr>
          <p:nvPr/>
        </p:nvPicPr>
        <p:blipFill>
          <a:blip r:embed="rId2"/>
          <a:stretch>
            <a:fillRect/>
          </a:stretch>
        </p:blipFill>
        <p:spPr>
          <a:xfrm>
            <a:off x="777240" y="502920"/>
            <a:ext cx="1645920" cy="391326"/>
          </a:xfrm>
          <a:prstGeom prst="rect">
            <a:avLst/>
          </a:prstGeom>
        </p:spPr>
      </p:pic>
      <p:sp>
        <p:nvSpPr>
          <p:cNvPr id="4" name="Rectangle 3"/>
          <p:cNvSpPr/>
          <p:nvPr/>
        </p:nvSpPr>
        <p:spPr>
          <a:xfrm>
            <a:off x="777240" y="2331720"/>
            <a:ext cx="1234440"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0"/>
            <a:ext cx="10058400" cy="320040"/>
          </a:xfrm>
          <a:prstGeom prst="rect">
            <a:avLst/>
          </a:prstGeom>
          <a:noFill/>
        </p:spPr>
        <p:txBody>
          <a:bodyPr wrap="square" anchor="t">
            <a:spAutoFit/>
          </a:bodyPr>
          <a:lstStyle/>
          <a:p>
            <a:pPr algn="l"/>
            <a:r>
              <a:rPr sz="1300" b="1">
                <a:solidFill>
                  <a:srgbClr val="F54E00"/>
                </a:solidFill>
                <a:latin typeface="Arial"/>
              </a:rPr>
              <a:t>PART 3</a:t>
            </a:r>
          </a:p>
        </p:txBody>
      </p:sp>
      <p:sp>
        <p:nvSpPr>
          <p:cNvPr id="6" name="TextBox 5"/>
          <p:cNvSpPr txBox="1"/>
          <p:nvPr/>
        </p:nvSpPr>
        <p:spPr>
          <a:xfrm>
            <a:off x="777240" y="3017520"/>
            <a:ext cx="10607040" cy="1097280"/>
          </a:xfrm>
          <a:prstGeom prst="rect">
            <a:avLst/>
          </a:prstGeom>
          <a:noFill/>
        </p:spPr>
        <p:txBody>
          <a:bodyPr wrap="square" anchor="t">
            <a:spAutoFit/>
          </a:bodyPr>
          <a:lstStyle/>
          <a:p>
            <a:pPr algn="l"/>
            <a:r>
              <a:rPr sz="3000" b="0">
                <a:solidFill>
                  <a:srgbClr val="26251E"/>
                </a:solidFill>
                <a:latin typeface="Arial"/>
              </a:rPr>
              <a:t>Craft &amp; curiosity — lighter slides, mostly live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2625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ursor-lockup-light.png"/>
          <p:cNvPicPr>
            <a:picLocks noChangeAspect="1"/>
          </p:cNvPicPr>
          <p:nvPr/>
        </p:nvPicPr>
        <p:blipFill>
          <a:blip r:embed="rId2"/>
          <a:stretch>
            <a:fillRect/>
          </a:stretch>
        </p:blipFill>
        <p:spPr>
          <a:xfrm>
            <a:off x="640080" y="292608"/>
            <a:ext cx="1234440" cy="293494"/>
          </a:xfrm>
          <a:prstGeom prst="rect">
            <a:avLst/>
          </a:prstGeom>
        </p:spPr>
      </p:pic>
      <p:sp>
        <p:nvSpPr>
          <p:cNvPr id="5" name="TextBox 4"/>
          <p:cNvSpPr txBox="1"/>
          <p:nvPr/>
        </p:nvSpPr>
        <p:spPr>
          <a:xfrm>
            <a:off x="2103120" y="292608"/>
            <a:ext cx="9326880" cy="502920"/>
          </a:xfrm>
          <a:prstGeom prst="rect">
            <a:avLst/>
          </a:prstGeom>
          <a:noFill/>
        </p:spPr>
        <p:txBody>
          <a:bodyPr wrap="square" anchor="t">
            <a:spAutoFit/>
          </a:bodyPr>
          <a:lstStyle/>
          <a:p>
            <a:pPr algn="l"/>
            <a:r>
              <a:rPr sz="2200" b="0">
                <a:solidFill>
                  <a:srgbClr val="FFFFFF"/>
                </a:solidFill>
                <a:latin typeface="Arial"/>
              </a:rPr>
              <a:t>Live pitch — earn the first meeting (whiteboard craft)</a:t>
            </a:r>
          </a:p>
        </p:txBody>
      </p:sp>
      <p:sp>
        <p:nvSpPr>
          <p:cNvPr id="6" name="Rectangle 5"/>
          <p:cNvSpPr/>
          <p:nvPr/>
        </p:nvSpPr>
        <p:spPr>
          <a:xfrm>
            <a:off x="0" y="1051560"/>
            <a:ext cx="12191695"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280160"/>
            <a:ext cx="594360" cy="292608"/>
          </a:xfrm>
          <a:prstGeom prst="rect">
            <a:avLst/>
          </a:prstGeom>
          <a:noFill/>
        </p:spPr>
        <p:txBody>
          <a:bodyPr wrap="square" anchor="t">
            <a:spAutoFit/>
          </a:bodyPr>
          <a:lstStyle/>
          <a:p>
            <a:pPr algn="l"/>
            <a:r>
              <a:rPr sz="1600" b="1">
                <a:solidFill>
                  <a:srgbClr val="26251E"/>
                </a:solidFill>
                <a:latin typeface="Arial"/>
              </a:rPr>
              <a:t>01</a:t>
            </a:r>
          </a:p>
        </p:txBody>
      </p:sp>
      <p:sp>
        <p:nvSpPr>
          <p:cNvPr id="8" name="TextBox 7"/>
          <p:cNvSpPr txBox="1"/>
          <p:nvPr/>
        </p:nvSpPr>
        <p:spPr>
          <a:xfrm>
            <a:off x="1371600" y="1280160"/>
            <a:ext cx="9966960" cy="274320"/>
          </a:xfrm>
          <a:prstGeom prst="rect">
            <a:avLst/>
          </a:prstGeom>
          <a:noFill/>
        </p:spPr>
        <p:txBody>
          <a:bodyPr wrap="square" anchor="t">
            <a:spAutoFit/>
          </a:bodyPr>
          <a:lstStyle/>
          <a:p>
            <a:pPr algn="l"/>
            <a:r>
              <a:rPr sz="1500" b="1">
                <a:solidFill>
                  <a:srgbClr val="26251E"/>
                </a:solidFill>
                <a:latin typeface="Arial"/>
              </a:rPr>
              <a:t>Open</a:t>
            </a:r>
          </a:p>
        </p:txBody>
      </p:sp>
      <p:sp>
        <p:nvSpPr>
          <p:cNvPr id="9" name="TextBox 8"/>
          <p:cNvSpPr txBox="1"/>
          <p:nvPr/>
        </p:nvSpPr>
        <p:spPr>
          <a:xfrm>
            <a:off x="1371600" y="1572768"/>
            <a:ext cx="9966960" cy="457200"/>
          </a:xfrm>
          <a:prstGeom prst="rect">
            <a:avLst/>
          </a:prstGeom>
          <a:noFill/>
        </p:spPr>
        <p:txBody>
          <a:bodyPr wrap="square" anchor="t">
            <a:spAutoFit/>
          </a:bodyPr>
          <a:lstStyle/>
          <a:p>
            <a:pPr algn="l"/>
            <a:r>
              <a:rPr sz="1300" b="0">
                <a:solidFill>
                  <a:srgbClr val="807D72"/>
                </a:solidFill>
                <a:latin typeface="Arial"/>
              </a:rPr>
              <a:t>Permission, not slide-ware. “What prompted the call?” — or: writing faster → stuck before production.</a:t>
            </a:r>
          </a:p>
        </p:txBody>
      </p:sp>
      <p:sp>
        <p:nvSpPr>
          <p:cNvPr id="10" name="TextBox 9"/>
          <p:cNvSpPr txBox="1"/>
          <p:nvPr/>
        </p:nvSpPr>
        <p:spPr>
          <a:xfrm>
            <a:off x="731520" y="2331720"/>
            <a:ext cx="594360" cy="292608"/>
          </a:xfrm>
          <a:prstGeom prst="rect">
            <a:avLst/>
          </a:prstGeom>
          <a:noFill/>
        </p:spPr>
        <p:txBody>
          <a:bodyPr wrap="square" anchor="t">
            <a:spAutoFit/>
          </a:bodyPr>
          <a:lstStyle/>
          <a:p>
            <a:pPr algn="l"/>
            <a:r>
              <a:rPr sz="1600" b="1">
                <a:solidFill>
                  <a:srgbClr val="26251E"/>
                </a:solidFill>
                <a:latin typeface="Arial"/>
              </a:rPr>
              <a:t>02</a:t>
            </a:r>
          </a:p>
        </p:txBody>
      </p:sp>
      <p:sp>
        <p:nvSpPr>
          <p:cNvPr id="11" name="TextBox 10"/>
          <p:cNvSpPr txBox="1"/>
          <p:nvPr/>
        </p:nvSpPr>
        <p:spPr>
          <a:xfrm>
            <a:off x="1371600" y="2331720"/>
            <a:ext cx="9966960" cy="274320"/>
          </a:xfrm>
          <a:prstGeom prst="rect">
            <a:avLst/>
          </a:prstGeom>
          <a:noFill/>
        </p:spPr>
        <p:txBody>
          <a:bodyPr wrap="square" anchor="t">
            <a:spAutoFit/>
          </a:bodyPr>
          <a:lstStyle/>
          <a:p>
            <a:pPr algn="l"/>
            <a:r>
              <a:rPr sz="1500" b="1">
                <a:solidFill>
                  <a:srgbClr val="26251E"/>
                </a:solidFill>
                <a:latin typeface="Arial"/>
              </a:rPr>
              <a:t>Diagnose</a:t>
            </a:r>
          </a:p>
        </p:txBody>
      </p:sp>
      <p:sp>
        <p:nvSpPr>
          <p:cNvPr id="12" name="TextBox 11"/>
          <p:cNvSpPr txBox="1"/>
          <p:nvPr/>
        </p:nvSpPr>
        <p:spPr>
          <a:xfrm>
            <a:off x="1371600" y="2624328"/>
            <a:ext cx="9966960" cy="457200"/>
          </a:xfrm>
          <a:prstGeom prst="rect">
            <a:avLst/>
          </a:prstGeom>
          <a:noFill/>
        </p:spPr>
        <p:txBody>
          <a:bodyPr wrap="square" anchor="t">
            <a:spAutoFit/>
          </a:bodyPr>
          <a:lstStyle/>
          <a:p>
            <a:pPr algn="l"/>
            <a:r>
              <a:rPr sz="1300" b="0">
                <a:solidFill>
                  <a:srgbClr val="807D72"/>
                </a:solidFill>
                <a:latin typeface="Arial"/>
              </a:rPr>
              <a:t>Time split: KTLO / refactor / innovate / moonshot. Maturity: assisted → agentic → cloud → governed factory.</a:t>
            </a:r>
          </a:p>
        </p:txBody>
      </p:sp>
      <p:sp>
        <p:nvSpPr>
          <p:cNvPr id="13" name="TextBox 12"/>
          <p:cNvSpPr txBox="1"/>
          <p:nvPr/>
        </p:nvSpPr>
        <p:spPr>
          <a:xfrm>
            <a:off x="731520" y="3383280"/>
            <a:ext cx="594360" cy="292608"/>
          </a:xfrm>
          <a:prstGeom prst="rect">
            <a:avLst/>
          </a:prstGeom>
          <a:noFill/>
        </p:spPr>
        <p:txBody>
          <a:bodyPr wrap="square" anchor="t">
            <a:spAutoFit/>
          </a:bodyPr>
          <a:lstStyle/>
          <a:p>
            <a:pPr algn="l"/>
            <a:r>
              <a:rPr sz="1600" b="1">
                <a:solidFill>
                  <a:srgbClr val="26251E"/>
                </a:solidFill>
                <a:latin typeface="Arial"/>
              </a:rPr>
              <a:t>03</a:t>
            </a:r>
          </a:p>
        </p:txBody>
      </p:sp>
      <p:sp>
        <p:nvSpPr>
          <p:cNvPr id="14" name="TextBox 13"/>
          <p:cNvSpPr txBox="1"/>
          <p:nvPr/>
        </p:nvSpPr>
        <p:spPr>
          <a:xfrm>
            <a:off x="1371600" y="3383280"/>
            <a:ext cx="9966960" cy="274320"/>
          </a:xfrm>
          <a:prstGeom prst="rect">
            <a:avLst/>
          </a:prstGeom>
          <a:noFill/>
        </p:spPr>
        <p:txBody>
          <a:bodyPr wrap="square" anchor="t">
            <a:spAutoFit/>
          </a:bodyPr>
          <a:lstStyle/>
          <a:p>
            <a:pPr algn="l"/>
            <a:r>
              <a:rPr sz="1500" b="1">
                <a:solidFill>
                  <a:srgbClr val="26251E"/>
                </a:solidFill>
                <a:latin typeface="Arial"/>
              </a:rPr>
              <a:t>Position</a:t>
            </a:r>
          </a:p>
        </p:txBody>
      </p:sp>
      <p:sp>
        <p:nvSpPr>
          <p:cNvPr id="15" name="TextBox 14"/>
          <p:cNvSpPr txBox="1"/>
          <p:nvPr/>
        </p:nvSpPr>
        <p:spPr>
          <a:xfrm>
            <a:off x="1371600" y="3675888"/>
            <a:ext cx="9966960" cy="457200"/>
          </a:xfrm>
          <a:prstGeom prst="rect">
            <a:avLst/>
          </a:prstGeom>
          <a:noFill/>
        </p:spPr>
        <p:txBody>
          <a:bodyPr wrap="square" anchor="t">
            <a:spAutoFit/>
          </a:bodyPr>
          <a:lstStyle/>
          <a:p>
            <a:pPr algn="l"/>
            <a:r>
              <a:rPr sz="1300" b="0">
                <a:solidFill>
                  <a:srgbClr val="807D72"/>
                </a:solidFill>
                <a:latin typeface="Arial"/>
              </a:rPr>
              <a:t>Software factory: ideas in → valuable outputs out. Competitor in? Don’t trash-talk — meet them on the curve.</a:t>
            </a:r>
          </a:p>
        </p:txBody>
      </p:sp>
      <p:sp>
        <p:nvSpPr>
          <p:cNvPr id="16" name="TextBox 15"/>
          <p:cNvSpPr txBox="1"/>
          <p:nvPr/>
        </p:nvSpPr>
        <p:spPr>
          <a:xfrm>
            <a:off x="731520" y="4434840"/>
            <a:ext cx="594360" cy="292608"/>
          </a:xfrm>
          <a:prstGeom prst="rect">
            <a:avLst/>
          </a:prstGeom>
          <a:noFill/>
        </p:spPr>
        <p:txBody>
          <a:bodyPr wrap="square" anchor="t">
            <a:spAutoFit/>
          </a:bodyPr>
          <a:lstStyle/>
          <a:p>
            <a:pPr algn="l"/>
            <a:r>
              <a:rPr sz="1600" b="1">
                <a:solidFill>
                  <a:srgbClr val="26251E"/>
                </a:solidFill>
                <a:latin typeface="Arial"/>
              </a:rPr>
              <a:t>04</a:t>
            </a:r>
          </a:p>
        </p:txBody>
      </p:sp>
      <p:sp>
        <p:nvSpPr>
          <p:cNvPr id="17" name="TextBox 16"/>
          <p:cNvSpPr txBox="1"/>
          <p:nvPr/>
        </p:nvSpPr>
        <p:spPr>
          <a:xfrm>
            <a:off x="1371600" y="4434840"/>
            <a:ext cx="9966960" cy="274320"/>
          </a:xfrm>
          <a:prstGeom prst="rect">
            <a:avLst/>
          </a:prstGeom>
          <a:noFill/>
        </p:spPr>
        <p:txBody>
          <a:bodyPr wrap="square" anchor="t">
            <a:spAutoFit/>
          </a:bodyPr>
          <a:lstStyle/>
          <a:p>
            <a:pPr algn="l"/>
            <a:r>
              <a:rPr sz="1500" b="1">
                <a:solidFill>
                  <a:srgbClr val="26251E"/>
                </a:solidFill>
                <a:latin typeface="Arial"/>
              </a:rPr>
              <a:t>Ask</a:t>
            </a:r>
          </a:p>
        </p:txBody>
      </p:sp>
      <p:sp>
        <p:nvSpPr>
          <p:cNvPr id="18" name="TextBox 17"/>
          <p:cNvSpPr txBox="1"/>
          <p:nvPr/>
        </p:nvSpPr>
        <p:spPr>
          <a:xfrm>
            <a:off x="1371600" y="4727448"/>
            <a:ext cx="9966960" cy="457200"/>
          </a:xfrm>
          <a:prstGeom prst="rect">
            <a:avLst/>
          </a:prstGeom>
          <a:noFill/>
        </p:spPr>
        <p:txBody>
          <a:bodyPr wrap="square" anchor="t">
            <a:spAutoFit/>
          </a:bodyPr>
          <a:lstStyle/>
          <a:p>
            <a:pPr algn="l"/>
            <a:r>
              <a:rPr sz="1300" b="0">
                <a:solidFill>
                  <a:srgbClr val="807D72"/>
                </a:solidFill>
                <a:latin typeface="Arial"/>
              </a:rPr>
              <a:t>20 min working session. Brush-off → binary useful email. Close: “Most important thing you saw today?”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2625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ursor-lockup-light.png"/>
          <p:cNvPicPr>
            <a:picLocks noChangeAspect="1"/>
          </p:cNvPicPr>
          <p:nvPr/>
        </p:nvPicPr>
        <p:blipFill>
          <a:blip r:embed="rId2"/>
          <a:stretch>
            <a:fillRect/>
          </a:stretch>
        </p:blipFill>
        <p:spPr>
          <a:xfrm>
            <a:off x="640080" y="292608"/>
            <a:ext cx="1234440" cy="293494"/>
          </a:xfrm>
          <a:prstGeom prst="rect">
            <a:avLst/>
          </a:prstGeom>
        </p:spPr>
      </p:pic>
      <p:sp>
        <p:nvSpPr>
          <p:cNvPr id="5" name="TextBox 4"/>
          <p:cNvSpPr txBox="1"/>
          <p:nvPr/>
        </p:nvSpPr>
        <p:spPr>
          <a:xfrm>
            <a:off x="2103120" y="292608"/>
            <a:ext cx="9326880" cy="502920"/>
          </a:xfrm>
          <a:prstGeom prst="rect">
            <a:avLst/>
          </a:prstGeom>
          <a:noFill/>
        </p:spPr>
        <p:txBody>
          <a:bodyPr wrap="square" anchor="t">
            <a:spAutoFit/>
          </a:bodyPr>
          <a:lstStyle/>
          <a:p>
            <a:pPr algn="l"/>
            <a:r>
              <a:rPr sz="2200" b="0">
                <a:solidFill>
                  <a:srgbClr val="FFFFFF"/>
                </a:solidFill>
                <a:latin typeface="Arial"/>
              </a:rPr>
              <a:t>Cutting through noise — by persona</a:t>
            </a:r>
          </a:p>
        </p:txBody>
      </p:sp>
      <p:sp>
        <p:nvSpPr>
          <p:cNvPr id="6" name="Rectangle 5"/>
          <p:cNvSpPr/>
          <p:nvPr/>
        </p:nvSpPr>
        <p:spPr>
          <a:xfrm>
            <a:off x="0" y="1051560"/>
            <a:ext cx="12191695"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371600"/>
            <a:ext cx="10607040" cy="4663440"/>
          </a:xfrm>
          <a:prstGeom prst="rect">
            <a:avLst/>
          </a:prstGeom>
          <a:noFill/>
        </p:spPr>
        <p:txBody>
          <a:bodyPr wrap="square">
            <a:spAutoFit/>
          </a:bodyPr>
          <a:lstStyle/>
          <a:p>
            <a:pPr algn="l">
              <a:spcAft>
                <a:spcPts val="1100"/>
              </a:spcAft>
            </a:pPr>
            <a:r>
              <a:rPr sz="1500" b="0">
                <a:solidFill>
                  <a:srgbClr val="26251E"/>
                </a:solidFill>
                <a:latin typeface="Arial"/>
              </a:rPr>
              <a:t>•  Developer: real-repo context + daily workflow · peer proof · no ROI theater</a:t>
            </a:r>
          </a:p>
          <a:p>
            <a:pPr algn="l">
              <a:spcAft>
                <a:spcPts val="1100"/>
              </a:spcAft>
            </a:pPr>
            <a:r>
              <a:rPr sz="1500" b="0">
                <a:solidFill>
                  <a:srgbClr val="26251E"/>
                </a:solidFill>
                <a:latin typeface="Arial"/>
              </a:rPr>
              <a:t>•  VP Engineering: standardize AI coding · free KTLO capacity for moonshots · shipping outcomes</a:t>
            </a:r>
          </a:p>
          <a:p>
            <a:pPr algn="l">
              <a:spcAft>
                <a:spcPts val="1100"/>
              </a:spcAft>
            </a:pPr>
            <a:r>
              <a:rPr sz="1500" b="0">
                <a:solidFill>
                  <a:srgbClr val="26251E"/>
                </a:solidFill>
                <a:latin typeface="Arial"/>
              </a:rPr>
              <a:t>•  Security / Platform: governed adoption · Privacy Mode · SSO/SCIM/audit · kill shadow AI</a:t>
            </a:r>
          </a:p>
          <a:p>
            <a:pPr algn="l">
              <a:spcAft>
                <a:spcPts val="1100"/>
              </a:spcAft>
            </a:pPr>
            <a:r>
              <a:rPr sz="1500" b="0">
                <a:solidFill>
                  <a:srgbClr val="26251E"/>
                </a:solidFill>
                <a:latin typeface="Arial"/>
              </a:rPr>
              <a:t>•  Triggers that earn 30 seconds: Copilot sprawl · AI policy · migrations · DevEx ownership</a:t>
            </a:r>
          </a:p>
          <a:p>
            <a:pPr algn="l">
              <a:spcAft>
                <a:spcPts val="1100"/>
              </a:spcAft>
            </a:pPr>
            <a:r>
              <a:rPr sz="1500" b="0">
                <a:solidFill>
                  <a:srgbClr val="26251E"/>
                </a:solidFill>
                <a:latin typeface="Arial"/>
              </a:rPr>
              <a:t>•  Fail: “quick chat,” fake personalization, feature dumps, slide-ware before diagnosis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2625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ursor-lockup-light.png"/>
          <p:cNvPicPr>
            <a:picLocks noChangeAspect="1"/>
          </p:cNvPicPr>
          <p:nvPr/>
        </p:nvPicPr>
        <p:blipFill>
          <a:blip r:embed="rId2"/>
          <a:stretch>
            <a:fillRect/>
          </a:stretch>
        </p:blipFill>
        <p:spPr>
          <a:xfrm>
            <a:off x="640080" y="292608"/>
            <a:ext cx="1234440" cy="293494"/>
          </a:xfrm>
          <a:prstGeom prst="rect">
            <a:avLst/>
          </a:prstGeom>
        </p:spPr>
      </p:pic>
      <p:sp>
        <p:nvSpPr>
          <p:cNvPr id="5" name="TextBox 4"/>
          <p:cNvSpPr txBox="1"/>
          <p:nvPr/>
        </p:nvSpPr>
        <p:spPr>
          <a:xfrm>
            <a:off x="2103120" y="292608"/>
            <a:ext cx="9326880" cy="502920"/>
          </a:xfrm>
          <a:prstGeom prst="rect">
            <a:avLst/>
          </a:prstGeom>
          <a:noFill/>
        </p:spPr>
        <p:txBody>
          <a:bodyPr wrap="square" anchor="t">
            <a:spAutoFit/>
          </a:bodyPr>
          <a:lstStyle/>
          <a:p>
            <a:pPr algn="l"/>
            <a:r>
              <a:rPr sz="2200" b="0">
                <a:solidFill>
                  <a:srgbClr val="FFFFFF"/>
                </a:solidFill>
                <a:latin typeface="Arial"/>
              </a:rPr>
              <a:t>Getting attention — what works / what dies</a:t>
            </a:r>
          </a:p>
        </p:txBody>
      </p:sp>
      <p:sp>
        <p:nvSpPr>
          <p:cNvPr id="6" name="Rectangle 5"/>
          <p:cNvSpPr/>
          <p:nvPr/>
        </p:nvSpPr>
        <p:spPr>
          <a:xfrm>
            <a:off x="0" y="1051560"/>
            <a:ext cx="12191695"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80160"/>
            <a:ext cx="5394960" cy="4800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1508760"/>
            <a:ext cx="731520"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737360"/>
            <a:ext cx="4846320" cy="320040"/>
          </a:xfrm>
          <a:prstGeom prst="rect">
            <a:avLst/>
          </a:prstGeom>
          <a:noFill/>
        </p:spPr>
        <p:txBody>
          <a:bodyPr wrap="square" anchor="t">
            <a:spAutoFit/>
          </a:bodyPr>
          <a:lstStyle/>
          <a:p>
            <a:pPr algn="l"/>
            <a:r>
              <a:rPr sz="1600" b="1">
                <a:solidFill>
                  <a:srgbClr val="26251E"/>
                </a:solidFill>
                <a:latin typeface="Arial"/>
              </a:rPr>
              <a:t>Works now</a:t>
            </a:r>
          </a:p>
        </p:txBody>
      </p:sp>
      <p:sp>
        <p:nvSpPr>
          <p:cNvPr id="10" name="TextBox 9"/>
          <p:cNvSpPr txBox="1"/>
          <p:nvPr/>
        </p:nvSpPr>
        <p:spPr>
          <a:xfrm>
            <a:off x="822960" y="2194560"/>
            <a:ext cx="4846320" cy="3566160"/>
          </a:xfrm>
          <a:prstGeom prst="rect">
            <a:avLst/>
          </a:prstGeom>
          <a:noFill/>
        </p:spPr>
        <p:txBody>
          <a:bodyPr wrap="square">
            <a:spAutoFit/>
          </a:bodyPr>
          <a:lstStyle/>
          <a:p>
            <a:pPr algn="l">
              <a:spcAft>
                <a:spcPts val="700"/>
              </a:spcAft>
            </a:pPr>
            <a:r>
              <a:rPr sz="1300" b="0">
                <a:solidFill>
                  <a:srgbClr val="26251E"/>
                </a:solidFill>
                <a:latin typeface="Arial"/>
              </a:rPr>
              <a:t>•  Reason for the call tied to their world</a:t>
            </a:r>
          </a:p>
          <a:p>
            <a:pPr algn="l">
              <a:spcAft>
                <a:spcPts val="700"/>
              </a:spcAft>
            </a:pPr>
            <a:r>
              <a:rPr sz="1300" b="0">
                <a:solidFill>
                  <a:srgbClr val="26251E"/>
                </a:solidFill>
                <a:latin typeface="Arial"/>
              </a:rPr>
              <a:t>•  Diagnose time split + bottleneck shift</a:t>
            </a:r>
          </a:p>
          <a:p>
            <a:pPr algn="l">
              <a:spcAft>
                <a:spcPts val="700"/>
              </a:spcAft>
            </a:pPr>
            <a:r>
              <a:rPr sz="1300" b="0">
                <a:solidFill>
                  <a:srgbClr val="26251E"/>
                </a:solidFill>
                <a:latin typeface="Arial"/>
              </a:rPr>
              <a:t>•  Meet them on the maturity curve</a:t>
            </a:r>
          </a:p>
          <a:p>
            <a:pPr algn="l">
              <a:spcAft>
                <a:spcPts val="700"/>
              </a:spcAft>
            </a:pPr>
            <a:r>
              <a:rPr sz="1300" b="0">
                <a:solidFill>
                  <a:srgbClr val="26251E"/>
                </a:solidFill>
                <a:latin typeface="Arial"/>
              </a:rPr>
              <a:t>•  Use-case-true stories (Coinbase / Stripe / PayPal · Nike / Amplitude)</a:t>
            </a:r>
          </a:p>
          <a:p>
            <a:pPr algn="l">
              <a:spcAft>
                <a:spcPts val="700"/>
              </a:spcAft>
            </a:pPr>
            <a:r>
              <a:rPr sz="1300" b="0">
                <a:solidFill>
                  <a:srgbClr val="26251E"/>
                </a:solidFill>
                <a:latin typeface="Arial"/>
              </a:rPr>
              <a:t>•  Ask for a working session, not a “quick chat”</a:t>
            </a:r>
          </a:p>
          <a:p>
            <a:pPr algn="l">
              <a:spcAft>
                <a:spcPts val="700"/>
              </a:spcAft>
            </a:pPr>
            <a:r>
              <a:rPr sz="1300" b="0">
                <a:solidFill>
                  <a:srgbClr val="26251E"/>
                </a:solidFill>
                <a:latin typeface="Arial"/>
              </a:rPr>
              <a:t>•  Outcomes per dollar when finance pressure shows up</a:t>
            </a:r>
          </a:p>
        </p:txBody>
      </p:sp>
      <p:sp>
        <p:nvSpPr>
          <p:cNvPr id="11" name="Rectangle 10"/>
          <p:cNvSpPr/>
          <p:nvPr/>
        </p:nvSpPr>
        <p:spPr>
          <a:xfrm>
            <a:off x="6172200" y="1280160"/>
            <a:ext cx="5394960" cy="4800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46520" y="1508760"/>
            <a:ext cx="731520"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6520" y="1737360"/>
            <a:ext cx="4846320" cy="320040"/>
          </a:xfrm>
          <a:prstGeom prst="rect">
            <a:avLst/>
          </a:prstGeom>
          <a:noFill/>
        </p:spPr>
        <p:txBody>
          <a:bodyPr wrap="square" anchor="t">
            <a:spAutoFit/>
          </a:bodyPr>
          <a:lstStyle/>
          <a:p>
            <a:pPr algn="l"/>
            <a:r>
              <a:rPr sz="1600" b="1">
                <a:solidFill>
                  <a:srgbClr val="26251E"/>
                </a:solidFill>
                <a:latin typeface="Arial"/>
              </a:rPr>
              <a:t>Dies with this audience</a:t>
            </a:r>
          </a:p>
        </p:txBody>
      </p:sp>
      <p:sp>
        <p:nvSpPr>
          <p:cNvPr id="14" name="TextBox 13"/>
          <p:cNvSpPr txBox="1"/>
          <p:nvPr/>
        </p:nvSpPr>
        <p:spPr>
          <a:xfrm>
            <a:off x="6446520" y="2194560"/>
            <a:ext cx="4846320" cy="3566160"/>
          </a:xfrm>
          <a:prstGeom prst="rect">
            <a:avLst/>
          </a:prstGeom>
          <a:noFill/>
        </p:spPr>
        <p:txBody>
          <a:bodyPr wrap="square">
            <a:spAutoFit/>
          </a:bodyPr>
          <a:lstStyle/>
          <a:p>
            <a:pPr algn="l">
              <a:spcAft>
                <a:spcPts val="700"/>
              </a:spcAft>
            </a:pPr>
            <a:r>
              <a:rPr sz="1300" b="0">
                <a:solidFill>
                  <a:srgbClr val="26251E"/>
                </a:solidFill>
                <a:latin typeface="Arial"/>
              </a:rPr>
              <a:t>•  Generic sequences / “just checking in”</a:t>
            </a:r>
          </a:p>
          <a:p>
            <a:pPr algn="l">
              <a:spcAft>
                <a:spcPts val="700"/>
              </a:spcAft>
            </a:pPr>
            <a:r>
              <a:rPr sz="1300" b="0">
                <a:solidFill>
                  <a:srgbClr val="26251E"/>
                </a:solidFill>
                <a:latin typeface="Arial"/>
              </a:rPr>
              <a:t>•  ROI theater aimed at developers</a:t>
            </a:r>
          </a:p>
          <a:p>
            <a:pPr algn="l">
              <a:spcAft>
                <a:spcPts val="700"/>
              </a:spcAft>
            </a:pPr>
            <a:r>
              <a:rPr sz="1300" b="0">
                <a:solidFill>
                  <a:srgbClr val="26251E"/>
                </a:solidFill>
                <a:latin typeface="Arial"/>
              </a:rPr>
              <a:t>•  Feature laundry lists</a:t>
            </a:r>
          </a:p>
          <a:p>
            <a:pPr algn="l">
              <a:spcAft>
                <a:spcPts val="700"/>
              </a:spcAft>
            </a:pPr>
            <a:r>
              <a:rPr sz="1300" b="0">
                <a:solidFill>
                  <a:srgbClr val="26251E"/>
                </a:solidFill>
                <a:latin typeface="Arial"/>
              </a:rPr>
              <a:t>•  Fake personalization</a:t>
            </a:r>
          </a:p>
          <a:p>
            <a:pPr algn="l">
              <a:spcAft>
                <a:spcPts val="700"/>
              </a:spcAft>
            </a:pPr>
            <a:r>
              <a:rPr sz="1300" b="0">
                <a:solidFill>
                  <a:srgbClr val="26251E"/>
                </a:solidFill>
                <a:latin typeface="Arial"/>
              </a:rPr>
              <a:t>•  Slide-ware before you’ve earned diagnosis</a:t>
            </a:r>
          </a:p>
          <a:p>
            <a:pPr algn="l">
              <a:spcAft>
                <a:spcPts val="700"/>
              </a:spcAft>
            </a:pPr>
            <a:r>
              <a:rPr sz="1300" b="0">
                <a:solidFill>
                  <a:srgbClr val="26251E"/>
                </a:solidFill>
                <a:latin typeface="Arial"/>
              </a:rPr>
              <a:t>•  Trying to out-engineer the room on a cold call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2625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ursor-lockup-light.png"/>
          <p:cNvPicPr>
            <a:picLocks noChangeAspect="1"/>
          </p:cNvPicPr>
          <p:nvPr/>
        </p:nvPicPr>
        <p:blipFill>
          <a:blip r:embed="rId2"/>
          <a:stretch>
            <a:fillRect/>
          </a:stretch>
        </p:blipFill>
        <p:spPr>
          <a:xfrm>
            <a:off x="640080" y="292608"/>
            <a:ext cx="1234440" cy="293494"/>
          </a:xfrm>
          <a:prstGeom prst="rect">
            <a:avLst/>
          </a:prstGeom>
        </p:spPr>
      </p:pic>
      <p:sp>
        <p:nvSpPr>
          <p:cNvPr id="5" name="TextBox 4"/>
          <p:cNvSpPr txBox="1"/>
          <p:nvPr/>
        </p:nvSpPr>
        <p:spPr>
          <a:xfrm>
            <a:off x="2103120" y="292608"/>
            <a:ext cx="9326880" cy="502920"/>
          </a:xfrm>
          <a:prstGeom prst="rect">
            <a:avLst/>
          </a:prstGeom>
          <a:noFill/>
        </p:spPr>
        <p:txBody>
          <a:bodyPr wrap="square" anchor="t">
            <a:spAutoFit/>
          </a:bodyPr>
          <a:lstStyle/>
          <a:p>
            <a:pPr algn="l"/>
            <a:r>
              <a:rPr sz="2200" b="0">
                <a:solidFill>
                  <a:srgbClr val="FFFFFF"/>
                </a:solidFill>
                <a:latin typeface="Arial"/>
              </a:rPr>
              <a:t>Why we win — my read for a skeptical eng leader</a:t>
            </a:r>
          </a:p>
        </p:txBody>
      </p:sp>
      <p:sp>
        <p:nvSpPr>
          <p:cNvPr id="6" name="Rectangle 5"/>
          <p:cNvSpPr/>
          <p:nvPr/>
        </p:nvSpPr>
        <p:spPr>
          <a:xfrm>
            <a:off x="0" y="1051560"/>
            <a:ext cx="12191695"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371600"/>
            <a:ext cx="10607040" cy="4663440"/>
          </a:xfrm>
          <a:prstGeom prst="rect">
            <a:avLst/>
          </a:prstGeom>
          <a:noFill/>
        </p:spPr>
        <p:txBody>
          <a:bodyPr wrap="square">
            <a:spAutoFit/>
          </a:bodyPr>
          <a:lstStyle/>
          <a:p>
            <a:pPr algn="l">
              <a:spcAft>
                <a:spcPts val="1100"/>
              </a:spcAft>
            </a:pPr>
            <a:r>
              <a:rPr sz="1600" b="0">
                <a:solidFill>
                  <a:srgbClr val="26251E"/>
                </a:solidFill>
                <a:latin typeface="Arial"/>
              </a:rPr>
              <a:t>•  Market moved from “help me write code” → “help my org ship with agents — without losing control”</a:t>
            </a:r>
          </a:p>
          <a:p>
            <a:pPr algn="l">
              <a:spcAft>
                <a:spcPts val="1100"/>
              </a:spcAft>
            </a:pPr>
            <a:r>
              <a:rPr sz="1600" b="0">
                <a:solidFill>
                  <a:srgbClr val="26251E"/>
                </a:solidFill>
                <a:latin typeface="Arial"/>
              </a:rPr>
              <a:t>•  AI creates speed, then moves the bottleneck to review and production</a:t>
            </a:r>
          </a:p>
          <a:p>
            <a:pPr algn="l">
              <a:spcAft>
                <a:spcPts val="1100"/>
              </a:spcAft>
            </a:pPr>
            <a:r>
              <a:rPr sz="1600" b="0">
                <a:solidFill>
                  <a:srgbClr val="26251E"/>
                </a:solidFill>
                <a:latin typeface="Arial"/>
              </a:rPr>
              <a:t>•  Cursor wins as the governed software factory: workflow · context · neutrality · SDLC execution</a:t>
            </a:r>
          </a:p>
          <a:p>
            <a:pPr algn="l">
              <a:spcAft>
                <a:spcPts val="1100"/>
              </a:spcAft>
            </a:pPr>
            <a:r>
              <a:rPr sz="1600" b="0">
                <a:solidFill>
                  <a:srgbClr val="26251E"/>
                </a:solidFill>
                <a:latin typeface="Arial"/>
              </a:rPr>
              <a:t>•  One-liner: we don’t win by claiming the permanently smarter model — we win by applying intelligence better, with the control plane to standardize it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2625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ursor-lockup-light.png"/>
          <p:cNvPicPr>
            <a:picLocks noChangeAspect="1"/>
          </p:cNvPicPr>
          <p:nvPr/>
        </p:nvPicPr>
        <p:blipFill>
          <a:blip r:embed="rId2"/>
          <a:stretch>
            <a:fillRect/>
          </a:stretch>
        </p:blipFill>
        <p:spPr>
          <a:xfrm>
            <a:off x="640080" y="292608"/>
            <a:ext cx="1234440" cy="293494"/>
          </a:xfrm>
          <a:prstGeom prst="rect">
            <a:avLst/>
          </a:prstGeom>
        </p:spPr>
      </p:pic>
      <p:sp>
        <p:nvSpPr>
          <p:cNvPr id="5" name="TextBox 4"/>
          <p:cNvSpPr txBox="1"/>
          <p:nvPr/>
        </p:nvSpPr>
        <p:spPr>
          <a:xfrm>
            <a:off x="2103120" y="292608"/>
            <a:ext cx="9326880" cy="502920"/>
          </a:xfrm>
          <a:prstGeom prst="rect">
            <a:avLst/>
          </a:prstGeom>
          <a:noFill/>
        </p:spPr>
        <p:txBody>
          <a:bodyPr wrap="square" anchor="t">
            <a:spAutoFit/>
          </a:bodyPr>
          <a:lstStyle/>
          <a:p>
            <a:pPr algn="l"/>
            <a:r>
              <a:rPr sz="2200" b="0">
                <a:solidFill>
                  <a:srgbClr val="FFFFFF"/>
                </a:solidFill>
                <a:latin typeface="Arial"/>
              </a:rPr>
              <a:t>Close — up-level, don’t rebuild</a:t>
            </a:r>
          </a:p>
        </p:txBody>
      </p:sp>
      <p:sp>
        <p:nvSpPr>
          <p:cNvPr id="6" name="Rectangle 5"/>
          <p:cNvSpPr/>
          <p:nvPr/>
        </p:nvSpPr>
        <p:spPr>
          <a:xfrm>
            <a:off x="0" y="1051560"/>
            <a:ext cx="12191695"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371600"/>
            <a:ext cx="10607040" cy="4663440"/>
          </a:xfrm>
          <a:prstGeom prst="rect">
            <a:avLst/>
          </a:prstGeom>
          <a:noFill/>
        </p:spPr>
        <p:txBody>
          <a:bodyPr wrap="square">
            <a:spAutoFit/>
          </a:bodyPr>
          <a:lstStyle/>
          <a:p>
            <a:pPr algn="l">
              <a:spcAft>
                <a:spcPts val="1100"/>
              </a:spcAft>
            </a:pPr>
            <a:r>
              <a:rPr sz="1700" b="0">
                <a:solidFill>
                  <a:srgbClr val="26251E"/>
                </a:solidFill>
                <a:latin typeface="Arial"/>
              </a:rPr>
              <a:t>•  Diagnose qualified vs unqualified + funnel leaks with AE truth</a:t>
            </a:r>
          </a:p>
          <a:p>
            <a:pPr algn="l">
              <a:spcAft>
                <a:spcPts val="1100"/>
              </a:spcAft>
            </a:pPr>
            <a:r>
              <a:rPr sz="1700" b="0">
                <a:solidFill>
                  <a:srgbClr val="26251E"/>
                </a:solidFill>
                <a:latin typeface="Arial"/>
              </a:rPr>
              <a:t>•  Protect the Cursor pitch and right-person discipline already working</a:t>
            </a:r>
          </a:p>
          <a:p>
            <a:pPr algn="l">
              <a:spcAft>
                <a:spcPts val="1100"/>
              </a:spcAft>
            </a:pPr>
            <a:r>
              <a:rPr sz="1700" b="0">
                <a:solidFill>
                  <a:srgbClr val="26251E"/>
                </a:solidFill>
                <a:latin typeface="Arial"/>
              </a:rPr>
              <a:t>•  Train openers / objections / discovery — then raise activity</a:t>
            </a:r>
          </a:p>
          <a:p>
            <a:pPr algn="l">
              <a:spcAft>
                <a:spcPts val="1100"/>
              </a:spcAft>
            </a:pPr>
            <a:r>
              <a:rPr sz="1700" b="0">
                <a:solidFill>
                  <a:srgbClr val="26251E"/>
                </a:solidFill>
                <a:latin typeface="Arial"/>
              </a:rPr>
              <a:t>•  Faster loops with Growth, AEs, SEs — trains on time</a:t>
            </a:r>
          </a:p>
          <a:p>
            <a:pPr algn="l">
              <a:spcAft>
                <a:spcPts val="1100"/>
              </a:spcAft>
            </a:pPr>
            <a:r>
              <a:rPr sz="1700" b="0">
                <a:solidFill>
                  <a:srgbClr val="26251E"/>
                </a:solidFill>
                <a:latin typeface="Arial"/>
              </a:rPr>
              <a:t>•  Player-coach: Tell → Show → Observe → Feedback</a:t>
            </a:r>
          </a:p>
          <a:p>
            <a:pPr algn="l">
              <a:spcAft>
                <a:spcPts val="1100"/>
              </a:spcAft>
            </a:pPr>
            <a:r>
              <a:rPr sz="1700" b="0">
                <a:solidFill>
                  <a:srgbClr val="26251E"/>
                </a:solidFill>
                <a:latin typeface="Arial"/>
              </a:rPr>
              <a:t>•  Questions — and happy to pitch one of you live right now</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