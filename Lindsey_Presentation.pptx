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 I’m Lindsey Dempsey. Thank you for having me.</a:t>
            </a:r>
          </a:p>
          <a:p/>
          <a:p>
            <a:r>
              <a:t>Today I’m going to walk through how I would up-level the EMEA SDR machine — not rebuild it. My framing is simple: diagnose, protect, experiment, and execute, as a hands-on player-coach.</a:t>
            </a:r>
          </a:p>
          <a:p/>
          <a:p>
            <a:r>
              <a:t>I’ll keep this practical and leave room for discussion and a live pitch.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thesis is this: EMEA is already high-performing. You have AI-augmented workflows, a clear ICP, and you’re generating eight-figure qualified pipeline every month. So the question isn’t “how do I stand something up from zero?” It’s “given a function that already works, how do I make it materially better?”</a:t>
            </a:r>
          </a:p>
          <a:p/>
          <a:p>
            <a:r>
              <a:t>My job would be to find the real constraints, protect what’s working, and run a small number of high-leverage experiments.</a:t>
            </a:r>
          </a:p>
          <a:p/>
          <a:p>
            <a:r>
              <a:t>Every SDR on the team should be fluent in how Cursor wins — on workflow, context, and execution.</a:t>
            </a:r>
          </a:p>
          <a:p/>
          <a:p>
            <a:r>
              <a:t>And I would lead as a player-coach. Trains on time. Inspection over activity theater. Success for me is better conversation quality and higher AE acceptance — not reinventing the org chart.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I’ll use the time.</a:t>
            </a:r>
          </a:p>
          <a:p/>
          <a:p>
            <a:r>
              <a:t>Part one is the first fifteen, thirty, and sixty days — diagnosis, what I’d protect, where the gains are, and two experiments.</a:t>
            </a:r>
          </a:p>
          <a:p/>
          <a:p>
            <a:r>
              <a:t>Part two is fundamentals — how I hire, coach, and run the team day to day as a player-coach.</a:t>
            </a:r>
          </a:p>
          <a:p/>
          <a:p>
            <a:r>
              <a:t>Part three is craft — how I’d pitch, how we cut through noise by persona, and why Cursor wins, including Copilot and Claude Code.</a:t>
            </a:r>
          </a:p>
          <a:p/>
          <a:p>
            <a:r>
              <a:t>Clarity over polish. If you want me to go live earlier on the pitch, I’m happy 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 how I’d up-level EMEA in the first sixty days.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Days one through fifteen are diagnosis only. I will not make big changes before I understand the machine.</a:t>
            </a:r>
          </a:p>
          <a:p/>
          <a:p>
            <a:r>
              <a:t>On data, I’d pull the full funnel by country, persona, channel, and rep. I’d look hard at AE acceptance and stage progression — because that’s the truth serum on meeting quality. I’d also look at where meetings die: brush-offs, Copilot objections, Claude Code objections, security pushback, or no clear next step. I’d check account quality signals like two-hundred-fifty-plus engineers and AI tooling already in place. And I’d sample calls to see what percent of conversations are using the right Cursor wedge versus feature dumping.</a:t>
            </a:r>
          </a:p>
          <a:p/>
          <a:p>
            <a:r>
              <a:t>On people, I’d interview every SDR — especially top and bottom performers — AEs on what makes a meeting great versus junk, Growth on automation and feedback loops, Solutions or SE on where reps get technically fuzzy, and sales leadership on what “up-level” actually means in numbers.</a:t>
            </a:r>
          </a:p>
          <a:p/>
          <a:p>
            <a:r>
              <a:t>My constraint hunt would focus on three places strong teams usually leak: connect-to-conversation, meeting-to-AE-acceptance, and competitive framing.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as important as what I’d change is what I would protect.</a:t>
            </a:r>
          </a:p>
          <a:p/>
          <a:p>
            <a:r>
              <a:t>I would protect the existing tooling and AI research automation stack. I would protect the current ICP and target-market strategy that’s already producing pipeline. I would protect the execution cadence that keeps trains on time. I would protect top-performer craft — I won’t standardize away what your best people are doing. And I would protect AE trust and qualification norms.</a:t>
            </a:r>
          </a:p>
          <a:p/>
          <a:p>
            <a:r>
              <a:t>I want to be explicit: I will not reorg, rename stages, or rewrite the full playbook in month one. That’s how leaders break high-performing teams.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team is already strong on volume, the next level usually comes from quality compounding.</a:t>
            </a:r>
          </a:p>
          <a:p/>
          <a:p>
            <a:r>
              <a:t>First, conversation quality — relevance speed with engineering leaders, and picking the correct wedge for the buyer signal.</a:t>
            </a:r>
          </a:p>
          <a:p/>
          <a:p>
            <a:r>
              <a:t>Second, the qualification bar — fewer junk meetings, higher AE acceptance.</a:t>
            </a:r>
          </a:p>
          <a:p/>
          <a:p>
            <a:r>
              <a:t>Third, competitive fluency — clean Copilot and Claude Code frames without trash talk or feature dumps.</a:t>
            </a:r>
          </a:p>
          <a:p/>
          <a:p>
            <a:r>
              <a:t>Fourth, earlier multi-threading — especially Platform and Security on enterprise and regulated accounts — so opportunities are stronger when they enter the AE motion.</a:t>
            </a:r>
          </a:p>
          <a:p/>
          <a:p>
            <a:r>
              <a:t>That’s where I’d look first, then validate with the diagnosis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market context, because it shapes how we coach messaging.</a:t>
            </a:r>
          </a:p>
          <a:p/>
          <a:p>
            <a:r>
              <a:t>Agentic coding is now a two-layer race.</a:t>
            </a:r>
          </a:p>
          <a:p/>
          <a:p>
            <a:r>
              <a:t>Layer one is the harness and product layer — how the system plans, uses tools, navigates repositories, and fits developer workflow. That’s where Cursor has already built commercial strength, and it’s what buyers feel in a first conversation.</a:t>
            </a:r>
          </a:p>
          <a:p/>
          <a:p>
            <a:r>
              <a:t>Layer two is the model layer — reasoning quality and long-horizon coding performance. Composer is Cursor’s coding-specialist model path, and that layer continues to strengthen.</a:t>
            </a:r>
          </a:p>
          <a:p/>
          <a:p>
            <a:r>
              <a:t>Model neutrality still matters, because the best model changes over time, and the frontier labs can be both suppliers and competitors.</a:t>
            </a:r>
          </a:p>
          <a:p/>
          <a:p>
            <a:r>
              <a:t>For EMEA SDRs, the implication is simple: sell the system buyers can feel today — workflow, context, and execution — and stay fluent on where the model layer is going. I won’t turn customer calls into infrastructure or acquisition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I’d train every rep on.</a:t>
            </a:r>
          </a:p>
          <a:p/>
          <a:p>
            <a:r>
              <a:t>Cursor is the leading agentic coding platform that a large share of the Fortune one thousand use to reimagine how engineering teams build software with AI.</a:t>
            </a:r>
          </a:p>
          <a:p/>
          <a:p>
            <a:r>
              <a:t>It gives teams a shared AI layer that understands their codebase, dependencies, and workflows — connecting developers, tools, and AI agents into one system.</a:t>
            </a:r>
          </a:p>
          <a:p/>
          <a:p>
            <a:r>
              <a:t>It’s helpful to think of Cursor as a coding agent that can be accessed, coordinated, and controlled through product surfaces like the IDE, CLI, Automations, and Cloud Agents.</a:t>
            </a:r>
          </a:p>
          <a:p/>
          <a:p>
            <a:r>
              <a:t>It bridges planning, execution, and validation so work moves through the SDLC with less friction.</a:t>
            </a:r>
          </a:p>
          <a:p/>
          <a:p>
            <a:r>
              <a:t>The summary line I want reps to be able to say is: Cursor helps teams get more out of frontier models by pairing them with better workflow, better context, and a more integrated way to build software.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Cursor’s core differentiation is the combination of four things, and I’d teach SDRs to lead with only one based on the buyer’s pain.</a:t>
            </a:r>
          </a:p>
          <a:p/>
          <a:p>
            <a:r>
              <a:t>One — model neutrality. Customers want flexibility. The best model changes. They don’t want to be locked to one vendor.</a:t>
            </a:r>
          </a:p>
          <a:p/>
          <a:p>
            <a:r>
              <a:t>Two — large codebase performance. Enterprise work spans messy, real-world repos. Cursor isn’t just wrapping a model — it improves how context is found and used. That matters more as complexity increases.</a:t>
            </a:r>
          </a:p>
          <a:p/>
          <a:p>
            <a:r>
              <a:t>Three — faster time to value. Cursor is useful quickly without every developer inventing a custom setup. Enterprises care about adoption and consistency across teams.</a:t>
            </a:r>
          </a:p>
          <a:p/>
          <a:p>
            <a:r>
              <a:t>Four — platform across the SDLC. Not just code generation — planning, writing, reviewing, debugging, iterating — through things like Bugbot, Agent Review, and Automations. The value is better execution, not just better answers.</a:t>
            </a:r>
          </a:p>
          <a:p/>
          <a:p>
            <a:r>
              <a:t>If a rep tries to say all four on every call, they’ll lose the room. Diagnose first, then pick the wedge.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day fifteen and forty-five, I’d run two experiments only. Small bets, hard metrics, keep or kill.</a:t>
            </a:r>
          </a:p>
          <a:p/>
          <a:p>
            <a:r>
              <a:t>Experiment A is positioning fluency. Hypothesis: connect-to-conversation and AE credibility rise when every opener maps to one differentiator by buyer signal. I’d test with two SDRs for two weeks and hold dial volume constant, so we don’t confuse activity with lift. I’d measure connect-to-conversation, conversation-to-meeting, and AE feedback on whether the rep sounded credible.</a:t>
            </a:r>
          </a:p>
          <a:p/>
          <a:p>
            <a:r>
              <a:t>Experiment B is competitive tracks. Track A for Copilot-installed accounts — move the story from snippet help to task completion and codebase workflow. Track B for Claude Code pockets — neutrality plus SDLC integration, not a model war. Same idea: measure positive replies, meetings, objection handling, and opportunity acceptance.</a:t>
            </a:r>
          </a:p>
          <a:p/>
          <a:p>
            <a:r>
              <a:t>If it doesn’t move the metric, we kill it. No sacred cows.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day sixty, I want five things true: a baseline dashboard with a clear “constraint of the month,” experiments concluded with keep-or-kill decisions, an updated hiring bar for the next SDR hires, a locked weekly coaching cadence, and my own player-coach call floor — I’m in the work, not above it.</a:t>
            </a:r>
          </a:p>
          <a:p/>
          <a:p>
            <a:r>
              <a:t>Cross-functionally, I’d run a weekly triangle with Growth and an AE lead. Agenda is simple: what converted, what failed, and one playbook update only. No thrash.</a:t>
            </a:r>
          </a:p>
          <a:p/>
          <a:p>
            <a:r>
              <a:t>SDRs execute. Automation helps with research and selection. I inspect quality. Every change gets a metric owner and a review date. That’s how you keep trains on time while still improving.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 fundamentals. How I lead day to 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AI era, a lot of rote research and first-draft personalization can be automated. So the exceptional SDR looks different.</a:t>
            </a:r>
          </a:p>
          <a:p/>
          <a:p>
            <a:r>
              <a:t>They win on judgment — which account and persona deserve the dial.</a:t>
            </a:r>
          </a:p>
          <a:p>
            <a:r>
              <a:t>Relevance speed — earning thirty seconds with a technical buyer.</a:t>
            </a:r>
          </a:p>
          <a:p>
            <a:r>
              <a:t>Positioning fluency — workflow, context, execution, and the correct wedge.</a:t>
            </a:r>
          </a:p>
          <a:p>
            <a:r>
              <a:t>Competitive clarity — Copilot and Claude Code without trash talk.</a:t>
            </a:r>
          </a:p>
          <a:p>
            <a:r>
              <a:t>Security instincts — calm and grounded on Privacy Mode and enterprise controls.</a:t>
            </a:r>
          </a:p>
          <a:p>
            <a:r>
              <a:t>And execution discipline — trains on time.</a:t>
            </a:r>
          </a:p>
          <a:p/>
          <a:p>
            <a:r>
              <a:t>My bar is simple: they don’t recite features. They diagnose the buyer’s constraint and match Cursor to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hiring, I’m looking for coachable people who communicate clearly, are curious about technical buyers, have process discipline, and learn fast.</a:t>
            </a:r>
          </a:p>
          <a:p/>
          <a:p>
            <a:r>
              <a:t>Hard nos: feature dumpers, activity theater without conversion ownership, people who can’t take critique, and anyone who overclaims the product.</a:t>
            </a:r>
          </a:p>
          <a:p/>
          <a:p>
            <a:r>
              <a:t>I’d assess with a mock call to a VP of Engineering or Platform lead, Copilot and Claude Code objections, a sixty-second Cursor pitch using the official framing, and a soft security question like, “Our CISO won’t allow AI on our code — what do you say?”</a:t>
            </a:r>
          </a:p>
          <a:p/>
          <a:p>
            <a:r>
              <a:t>On coaching: daily scoreboard visibility and same-day course-correction if someone misses the standard. Weekly one-on-ones focused on one funnel leak only. Weekly team session with one win wire and one talk-track upgrade. Call reviews scored on opener, wedge, competitive frame, and clean ask.</a:t>
            </a:r>
          </a:p>
          <a:p/>
          <a:p>
            <a:r>
              <a:t>Underperformance gets a stage diagnosis, a skill plan, and a timeline — not vague pressure.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 craft and curiosity. This is where I’m happiest going live.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I’m cold-calling into this room, the spine is open, position, wedge, ask.</a:t>
            </a:r>
          </a:p>
          <a:p/>
          <a:p>
            <a:r>
              <a:t>Open: the reason I’m calling is engineering teams are moving from AI that helps write snippets to AI that helps complete work across the codebase — and most tools only cover part of that workflow.</a:t>
            </a:r>
          </a:p>
          <a:p/>
          <a:p>
            <a:r>
              <a:t>Position: Cursor is an agentic coding platform — a coding agent across the IDE, CLI, Automations, and Cloud Agents — with a shared AI layer that understands your codebase and workflows so planning, building, review, and shipping happen with less friction.</a:t>
            </a:r>
          </a:p>
          <a:p/>
          <a:p>
            <a:r>
              <a:t>Wedge: I pick one differentiator based on what I heard.</a:t>
            </a:r>
          </a:p>
          <a:p/>
          <a:p>
            <a:r>
              <a:t>Ask: worth twenty minutes to map where you’re getting leverage versus where workflow still breaks — write, review, or ship?</a:t>
            </a:r>
          </a:p>
          <a:p/>
          <a:p>
            <a:r>
              <a:t>If I get “just send an email,” I don’t collapse. I say: happy to — so I send the useful one: are you more focused on standardizing AI coding, or on the review bottleneck after Copilot?</a:t>
            </a:r>
          </a:p>
          <a:p/>
          <a:p>
            <a:r>
              <a:t>I’m happy to run this live on one of you right now if you’d like.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buyers are saturated on LinkedIn and email, so persona-true outreach matters more than volume tricks.</a:t>
            </a:r>
          </a:p>
          <a:p/>
          <a:p>
            <a:r>
              <a:t>For a hands-on developer: lead with real-repo context and daily workflow. Avoid corporate ROI theater.</a:t>
            </a:r>
          </a:p>
          <a:p/>
          <a:p>
            <a:r>
              <a:t>For a VP of Engineering: lead with a shared AI layer, speed across the SDLC, and standardizing teams. Avoid feature laundry lists.</a:t>
            </a:r>
          </a:p>
          <a:p/>
          <a:p>
            <a:r>
              <a:t>For Security or Platform: lead with Privacy Mode, admin controls, and governed rollout so AI coding doesn’t become shadow IT. Avoid hype.</a:t>
            </a:r>
          </a:p>
          <a:p/>
          <a:p>
            <a:r>
              <a:t>What still works is trigger-based relevance — Copilot sprawl, AI policy moments, migrations, DevEx ownership — and one sharp question. What fails is generic “quick chat” spam and fake personalization.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skeptical engineering leader, my one-to-two sentence version is this:</a:t>
            </a:r>
          </a:p>
          <a:p/>
          <a:p>
            <a:r>
              <a:t>Cursor doesn’t win because we claim exclusive access to better intelligence forever. We win because we apply intelligence more effectively — through workflow, codebase context, and an integrated system across the SDLC — with model neutrality as capabilities and economics change.</a:t>
            </a:r>
          </a:p>
          <a:p/>
          <a:p>
            <a:r>
              <a:t>Versus GitHub Copilot: Copilot helps developers write faster. Cursor is the shift from snippet help to task completion, from local suggestions to broader codebase context, from a point solution to a more integrated development experience.</a:t>
            </a:r>
          </a:p>
          <a:p/>
          <a:p>
            <a:r>
              <a:t>Versus Claude Code: Claude Code is strong, and I won’t argue it’s weak. Our edge usually isn’t exclusive smarter model access. It’s model neutrality instead of single-provider dependence, stronger integration across the SDLC, better support for large complex codebases, and faster time to value across a broader team.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privacy often decide enterprise evaluations, so SDRs need calm instincts, not a certification dump.</a:t>
            </a:r>
          </a:p>
          <a:p/>
          <a:p>
            <a:r>
              <a:t>On Privacy Mode: customer code is not stored or retained, not used to train models, and requests are isolated and ephemeral.</a:t>
            </a:r>
          </a:p>
          <a:p/>
          <a:p>
            <a:r>
              <a:t>On enterprise posture: SOC 2, secure handling of code and metadata, admin controls and visibility, and the fact that security requirements influence product design.</a:t>
            </a:r>
          </a:p>
          <a:p/>
          <a:p>
            <a:r>
              <a:t>In a live cycle, security shows up as adoption confidence — “we can roll this out without creating shadow AI” — not as a slide war on the first call. If it gets deep, I bring in the right technical partner and stay precise.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close where I started.</a:t>
            </a:r>
          </a:p>
          <a:p/>
          <a:p>
            <a:r>
              <a:t>In the first sixty days I won’t invent a new EMEA. I’ll diagnose the real constraints with data and AE/SDR truth. I’ll protect the automation, ICP, and cadence already creating pipeline. I’ll train the team on workflow, context, and execution — four wedges, clean competitive frames. I’ll run one or two measured experiments and keep or kill them on metrics. And I’ll lead as a player-coach so the floor rises with the ceiling.</a:t>
            </a:r>
          </a:p>
          <a:p/>
          <a:p>
            <a:r>
              <a:t>That’s how you up-level a function that’s already working — and keep the trains on time.</a:t>
            </a:r>
          </a:p>
          <a:p/>
          <a:p>
            <a:r>
              <a:t>I’m Lindsey Dempsey. I’d love your questions — and if useful, I’m ready to pitch one of you live right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212080"/>
            <a:ext cx="12191695" cy="1645920"/>
          </a:xfrm>
          <a:prstGeom prst="rect">
            <a:avLst/>
          </a:prstGeom>
          <a:solidFill>
            <a:srgbClr val="2A2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691640"/>
            <a:ext cx="137160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20240"/>
            <a:ext cx="10515600" cy="914400"/>
          </a:xfrm>
          <a:prstGeom prst="rect">
            <a:avLst/>
          </a:prstGeom>
          <a:noFill/>
        </p:spPr>
        <p:txBody>
          <a:bodyPr wrap="square" anchor="t">
            <a:spAutoFit/>
          </a:bodyPr>
          <a:lstStyle/>
          <a:p>
            <a:pPr algn="l"/>
            <a:r>
              <a:rPr sz="4200" b="1">
                <a:solidFill>
                  <a:srgbClr val="FFFFFF"/>
                </a:solidFill>
                <a:latin typeface="Georgia"/>
              </a:rPr>
              <a:t>Up-Level the Machine</a:t>
            </a:r>
          </a:p>
        </p:txBody>
      </p:sp>
      <p:sp>
        <p:nvSpPr>
          <p:cNvPr id="6" name="TextBox 5"/>
          <p:cNvSpPr txBox="1"/>
          <p:nvPr/>
        </p:nvSpPr>
        <p:spPr>
          <a:xfrm>
            <a:off x="777240" y="2926080"/>
            <a:ext cx="10515600" cy="457200"/>
          </a:xfrm>
          <a:prstGeom prst="rect">
            <a:avLst/>
          </a:prstGeom>
          <a:noFill/>
        </p:spPr>
        <p:txBody>
          <a:bodyPr wrap="square" anchor="t">
            <a:spAutoFit/>
          </a:bodyPr>
          <a:lstStyle/>
          <a:p>
            <a:pPr algn="l"/>
            <a:r>
              <a:rPr sz="2200" b="0">
                <a:solidFill>
                  <a:srgbClr val="D6F26A"/>
                </a:solidFill>
                <a:latin typeface="Calibri"/>
              </a:rPr>
              <a:t>Diagnose  →  Protect  →  Experiment  →  Execute</a:t>
            </a:r>
          </a:p>
        </p:txBody>
      </p:sp>
      <p:sp>
        <p:nvSpPr>
          <p:cNvPr id="7" name="TextBox 6"/>
          <p:cNvSpPr txBox="1"/>
          <p:nvPr/>
        </p:nvSpPr>
        <p:spPr>
          <a:xfrm>
            <a:off x="777240" y="3520440"/>
            <a:ext cx="10515600" cy="457200"/>
          </a:xfrm>
          <a:prstGeom prst="rect">
            <a:avLst/>
          </a:prstGeom>
          <a:noFill/>
        </p:spPr>
        <p:txBody>
          <a:bodyPr wrap="square" anchor="t">
            <a:spAutoFit/>
          </a:bodyPr>
          <a:lstStyle/>
          <a:p>
            <a:pPr algn="l"/>
            <a:r>
              <a:rPr sz="1800" b="0">
                <a:solidFill>
                  <a:srgbClr val="E8EAE4"/>
                </a:solidFill>
                <a:latin typeface="Calibri"/>
              </a:rPr>
              <a:t>Player-coach plan for a high-performing EMEA SDR org</a:t>
            </a:r>
          </a:p>
        </p:txBody>
      </p:sp>
      <p:sp>
        <p:nvSpPr>
          <p:cNvPr id="8" name="TextBox 7"/>
          <p:cNvSpPr txBox="1"/>
          <p:nvPr/>
        </p:nvSpPr>
        <p:spPr>
          <a:xfrm>
            <a:off x="777240" y="5577840"/>
            <a:ext cx="10515600" cy="365760"/>
          </a:xfrm>
          <a:prstGeom prst="rect">
            <a:avLst/>
          </a:prstGeom>
          <a:noFill/>
        </p:spPr>
        <p:txBody>
          <a:bodyPr wrap="square" anchor="t">
            <a:spAutoFit/>
          </a:bodyPr>
          <a:lstStyle/>
          <a:p>
            <a:pPr algn="l"/>
            <a:r>
              <a:rPr sz="1800" b="1">
                <a:solidFill>
                  <a:srgbClr val="FFFFFF"/>
                </a:solidFill>
                <a:latin typeface="Georgia"/>
              </a:rPr>
              <a:t>Lindsey Dempsey  ·  EMEA SDR Leader Candidate</a:t>
            </a:r>
          </a:p>
        </p:txBody>
      </p:sp>
      <p:sp>
        <p:nvSpPr>
          <p:cNvPr id="9" name="TextBox 8"/>
          <p:cNvSpPr txBox="1"/>
          <p:nvPr/>
        </p:nvSpPr>
        <p:spPr>
          <a:xfrm>
            <a:off x="777240" y="5989320"/>
            <a:ext cx="10515600" cy="320040"/>
          </a:xfrm>
          <a:prstGeom prst="rect">
            <a:avLst/>
          </a:prstGeom>
          <a:noFill/>
        </p:spPr>
        <p:txBody>
          <a:bodyPr wrap="square" anchor="t">
            <a:spAutoFit/>
          </a:bodyPr>
          <a:lstStyle/>
          <a:p>
            <a:pPr algn="l"/>
            <a:r>
              <a:rPr sz="1400" b="0">
                <a:solidFill>
                  <a:srgbClr val="E8EAE4"/>
                </a:solidFill>
                <a:latin typeface="Calibri"/>
              </a:rPr>
              <a:t>Cursor wins on workflow · context · execution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Thesis: don’t rebuild a working machine — raise its ceiling</a:t>
            </a:r>
          </a:p>
        </p:txBody>
      </p:sp>
      <p:sp>
        <p:nvSpPr>
          <p:cNvPr id="5" name="TextBox 4"/>
          <p:cNvSpPr txBox="1"/>
          <p:nvPr/>
        </p:nvSpPr>
        <p:spPr>
          <a:xfrm>
            <a:off x="777240" y="1417320"/>
            <a:ext cx="10515600" cy="4572000"/>
          </a:xfrm>
          <a:prstGeom prst="rect">
            <a:avLst/>
          </a:prstGeom>
          <a:noFill/>
        </p:spPr>
        <p:txBody>
          <a:bodyPr wrap="square">
            <a:spAutoFit/>
          </a:bodyPr>
          <a:lstStyle/>
          <a:p>
            <a:pPr algn="l">
              <a:spcAft>
                <a:spcPts val="1200"/>
              </a:spcAft>
            </a:pPr>
            <a:r>
              <a:rPr sz="1800" b="0">
                <a:solidFill>
                  <a:srgbClr val="1A1C1E"/>
                </a:solidFill>
                <a:latin typeface="Calibri"/>
              </a:rPr>
              <a:t>•  EMEA already high-performing: AI-augmented workflows, clear ICP, eight-figure monthly pipeline</a:t>
            </a:r>
          </a:p>
          <a:p>
            <a:pPr algn="l">
              <a:spcAft>
                <a:spcPts val="1200"/>
              </a:spcAft>
            </a:pPr>
            <a:r>
              <a:rPr sz="1800" b="0">
                <a:solidFill>
                  <a:srgbClr val="1A1C1E"/>
                </a:solidFill>
                <a:latin typeface="Calibri"/>
              </a:rPr>
              <a:t>•  Job = find real constraints, protect what works, run a few high-leverage experiments</a:t>
            </a:r>
          </a:p>
          <a:p>
            <a:pPr algn="l">
              <a:spcAft>
                <a:spcPts val="1200"/>
              </a:spcAft>
            </a:pPr>
            <a:r>
              <a:rPr sz="1800" b="0">
                <a:solidFill>
                  <a:srgbClr val="1A1C1E"/>
                </a:solidFill>
                <a:latin typeface="Calibri"/>
              </a:rPr>
              <a:t>•  Every SDR fluent in how Cursor wins — workflow, context, execution</a:t>
            </a:r>
          </a:p>
          <a:p>
            <a:pPr algn="l">
              <a:spcAft>
                <a:spcPts val="1200"/>
              </a:spcAft>
            </a:pPr>
            <a:r>
              <a:rPr sz="1800" b="0">
                <a:solidFill>
                  <a:srgbClr val="1A1C1E"/>
                </a:solidFill>
                <a:latin typeface="Calibri"/>
              </a:rPr>
              <a:t>•  Lead as a player-coach: trains on time, inspection over activity theater</a:t>
            </a:r>
          </a:p>
          <a:p>
            <a:pPr algn="l">
              <a:spcAft>
                <a:spcPts val="1200"/>
              </a:spcAft>
            </a:pPr>
            <a:r>
              <a:rPr sz="1800" b="0">
                <a:solidFill>
                  <a:srgbClr val="1A1C1E"/>
                </a:solidFill>
                <a:latin typeface="Calibri"/>
              </a:rPr>
              <a:t>•  Success = better conversation quality + higher AE acceptance — not a reorg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Agenda</a:t>
            </a:r>
          </a:p>
        </p:txBody>
      </p:sp>
      <p:sp>
        <p:nvSpPr>
          <p:cNvPr id="5" name="TextBox 4"/>
          <p:cNvSpPr txBox="1"/>
          <p:nvPr/>
        </p:nvSpPr>
        <p:spPr>
          <a:xfrm>
            <a:off x="777240" y="1417320"/>
            <a:ext cx="10515600" cy="4572000"/>
          </a:xfrm>
          <a:prstGeom prst="rect">
            <a:avLst/>
          </a:prstGeom>
          <a:noFill/>
        </p:spPr>
        <p:txBody>
          <a:bodyPr wrap="square">
            <a:spAutoFit/>
          </a:bodyPr>
          <a:lstStyle/>
          <a:p>
            <a:pPr algn="l">
              <a:spcAft>
                <a:spcPts val="1200"/>
              </a:spcAft>
            </a:pPr>
            <a:r>
              <a:rPr sz="1800" b="0">
                <a:solidFill>
                  <a:srgbClr val="1A1C1E"/>
                </a:solidFill>
                <a:latin typeface="Calibri"/>
              </a:rPr>
              <a:t>•  Part 1 (20 min) — First 15 / 30 / 60: diagnose, protect, gains, competitive context, two experiments</a:t>
            </a:r>
          </a:p>
          <a:p>
            <a:pPr algn="l">
              <a:spcAft>
                <a:spcPts val="1200"/>
              </a:spcAft>
            </a:pPr>
            <a:r>
              <a:rPr sz="1800" b="0">
                <a:solidFill>
                  <a:srgbClr val="1A1C1E"/>
                </a:solidFill>
                <a:latin typeface="Calibri"/>
              </a:rPr>
              <a:t>•  Part 2 (12 min) — Fundamentals: hire, coach, run the team as a player-coach</a:t>
            </a:r>
          </a:p>
          <a:p>
            <a:pPr algn="l">
              <a:spcAft>
                <a:spcPts val="1200"/>
              </a:spcAft>
            </a:pPr>
            <a:r>
              <a:rPr sz="1800" b="0">
                <a:solidFill>
                  <a:srgbClr val="1A1C1E"/>
                </a:solidFill>
                <a:latin typeface="Calibri"/>
              </a:rPr>
              <a:t>•  Part 3 (10 min) — Craft: live pitch, persona outreach, why Cursor wins (Copilot + Claude Code)</a:t>
            </a:r>
          </a:p>
          <a:p>
            <a:pPr algn="l">
              <a:spcAft>
                <a:spcPts val="1200"/>
              </a:spcAft>
            </a:pPr>
            <a:r>
              <a:rPr sz="1800" b="0">
                <a:solidFill>
                  <a:srgbClr val="1A1C1E"/>
                </a:solidFill>
                <a:latin typeface="Calibri"/>
              </a:rPr>
              <a:t>•  Clarity over polish — happy to go live earlier on the pitch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86000"/>
            <a:ext cx="128016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468880"/>
            <a:ext cx="10058400" cy="365760"/>
          </a:xfrm>
          <a:prstGeom prst="rect">
            <a:avLst/>
          </a:prstGeom>
          <a:noFill/>
        </p:spPr>
        <p:txBody>
          <a:bodyPr wrap="square" anchor="t">
            <a:spAutoFit/>
          </a:bodyPr>
          <a:lstStyle/>
          <a:p>
            <a:pPr algn="l"/>
            <a:r>
              <a:rPr sz="1400" b="1">
                <a:solidFill>
                  <a:srgbClr val="D6F26A"/>
                </a:solidFill>
                <a:latin typeface="Calibri"/>
              </a:rPr>
              <a:t>PART 1</a:t>
            </a:r>
          </a:p>
        </p:txBody>
      </p:sp>
      <p:sp>
        <p:nvSpPr>
          <p:cNvPr id="5" name="TextBox 4"/>
          <p:cNvSpPr txBox="1"/>
          <p:nvPr/>
        </p:nvSpPr>
        <p:spPr>
          <a:xfrm>
            <a:off x="777240" y="2926080"/>
            <a:ext cx="10515600" cy="1097280"/>
          </a:xfrm>
          <a:prstGeom prst="rect">
            <a:avLst/>
          </a:prstGeom>
          <a:noFill/>
        </p:spPr>
        <p:txBody>
          <a:bodyPr wrap="square" anchor="t">
            <a:spAutoFit/>
          </a:bodyPr>
          <a:lstStyle/>
          <a:p>
            <a:pPr algn="l"/>
            <a:r>
              <a:rPr sz="3200" b="1">
                <a:solidFill>
                  <a:srgbClr val="FFFFFF"/>
                </a:solidFill>
                <a:latin typeface="Georgia"/>
              </a:rPr>
              <a:t>How I’d up-level EMEA in the first sixty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Days 1–15: diagnosis only</a:t>
            </a:r>
          </a:p>
        </p:txBody>
      </p:sp>
      <p:sp>
        <p:nvSpPr>
          <p:cNvPr id="5" name="Rectangle 4"/>
          <p:cNvSpPr/>
          <p:nvPr/>
        </p:nvSpPr>
        <p:spPr>
          <a:xfrm>
            <a:off x="594360" y="1325880"/>
            <a:ext cx="534924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554480"/>
            <a:ext cx="77724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4754880" cy="365760"/>
          </a:xfrm>
          <a:prstGeom prst="rect">
            <a:avLst/>
          </a:prstGeom>
          <a:noFill/>
        </p:spPr>
        <p:txBody>
          <a:bodyPr wrap="square" anchor="t">
            <a:spAutoFit/>
          </a:bodyPr>
          <a:lstStyle/>
          <a:p>
            <a:pPr algn="l"/>
            <a:r>
              <a:rPr sz="1700" b="1">
                <a:solidFill>
                  <a:srgbClr val="141618"/>
                </a:solidFill>
                <a:latin typeface="Georgia"/>
              </a:rPr>
              <a:t>Data</a:t>
            </a:r>
          </a:p>
        </p:txBody>
      </p:sp>
      <p:sp>
        <p:nvSpPr>
          <p:cNvPr id="8" name="TextBox 7"/>
          <p:cNvSpPr txBox="1"/>
          <p:nvPr/>
        </p:nvSpPr>
        <p:spPr>
          <a:xfrm>
            <a:off x="868680" y="2286000"/>
            <a:ext cx="4754880" cy="3474720"/>
          </a:xfrm>
          <a:prstGeom prst="rect">
            <a:avLst/>
          </a:prstGeom>
          <a:noFill/>
        </p:spPr>
        <p:txBody>
          <a:bodyPr wrap="square">
            <a:spAutoFit/>
          </a:bodyPr>
          <a:lstStyle/>
          <a:p>
            <a:pPr algn="l">
              <a:spcAft>
                <a:spcPts val="800"/>
              </a:spcAft>
            </a:pPr>
            <a:r>
              <a:rPr sz="1500" b="0">
                <a:solidFill>
                  <a:srgbClr val="1A1C1E"/>
                </a:solidFill>
                <a:latin typeface="Calibri"/>
              </a:rPr>
              <a:t>•  Full funnel by country, persona, channel, rep</a:t>
            </a:r>
          </a:p>
          <a:p>
            <a:pPr algn="l">
              <a:spcAft>
                <a:spcPts val="800"/>
              </a:spcAft>
            </a:pPr>
            <a:r>
              <a:rPr sz="1500" b="0">
                <a:solidFill>
                  <a:srgbClr val="1A1C1E"/>
                </a:solidFill>
                <a:latin typeface="Calibri"/>
              </a:rPr>
              <a:t>•  AE acceptance + stage progression (meeting quality truth serum)</a:t>
            </a:r>
          </a:p>
          <a:p>
            <a:pPr algn="l">
              <a:spcAft>
                <a:spcPts val="800"/>
              </a:spcAft>
            </a:pPr>
            <a:r>
              <a:rPr sz="1500" b="0">
                <a:solidFill>
                  <a:srgbClr val="1A1C1E"/>
                </a:solidFill>
                <a:latin typeface="Calibri"/>
              </a:rPr>
              <a:t>•  Where meetings die: brush-offs, Copilot, Claude Code, security, no next step</a:t>
            </a:r>
          </a:p>
          <a:p>
            <a:pPr algn="l">
              <a:spcAft>
                <a:spcPts val="800"/>
              </a:spcAft>
            </a:pPr>
            <a:r>
              <a:rPr sz="1500" b="0">
                <a:solidFill>
                  <a:srgbClr val="1A1C1E"/>
                </a:solidFill>
                <a:latin typeface="Calibri"/>
              </a:rPr>
              <a:t>•  Account quality: 250+ engineers, AI tooling already in place</a:t>
            </a:r>
          </a:p>
          <a:p>
            <a:pPr algn="l">
              <a:spcAft>
                <a:spcPts val="800"/>
              </a:spcAft>
            </a:pPr>
            <a:r>
              <a:rPr sz="1500" b="0">
                <a:solidFill>
                  <a:srgbClr val="1A1C1E"/>
                </a:solidFill>
                <a:latin typeface="Calibri"/>
              </a:rPr>
              <a:t>•  Call sample: Cursor wedge vs feature dumping</a:t>
            </a:r>
          </a:p>
        </p:txBody>
      </p:sp>
      <p:sp>
        <p:nvSpPr>
          <p:cNvPr id="9" name="Rectangle 8"/>
          <p:cNvSpPr/>
          <p:nvPr/>
        </p:nvSpPr>
        <p:spPr>
          <a:xfrm>
            <a:off x="6217920" y="1325880"/>
            <a:ext cx="534924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1554480"/>
            <a:ext cx="77724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83080"/>
            <a:ext cx="4754880" cy="365760"/>
          </a:xfrm>
          <a:prstGeom prst="rect">
            <a:avLst/>
          </a:prstGeom>
          <a:noFill/>
        </p:spPr>
        <p:txBody>
          <a:bodyPr wrap="square" anchor="t">
            <a:spAutoFit/>
          </a:bodyPr>
          <a:lstStyle/>
          <a:p>
            <a:pPr algn="l"/>
            <a:r>
              <a:rPr sz="1700" b="1">
                <a:solidFill>
                  <a:srgbClr val="141618"/>
                </a:solidFill>
                <a:latin typeface="Georgia"/>
              </a:rPr>
              <a:t>People + constraints</a:t>
            </a:r>
          </a:p>
        </p:txBody>
      </p:sp>
      <p:sp>
        <p:nvSpPr>
          <p:cNvPr id="12" name="TextBox 11"/>
          <p:cNvSpPr txBox="1"/>
          <p:nvPr/>
        </p:nvSpPr>
        <p:spPr>
          <a:xfrm>
            <a:off x="6492240" y="2286000"/>
            <a:ext cx="4754880" cy="3474720"/>
          </a:xfrm>
          <a:prstGeom prst="rect">
            <a:avLst/>
          </a:prstGeom>
          <a:noFill/>
        </p:spPr>
        <p:txBody>
          <a:bodyPr wrap="square">
            <a:spAutoFit/>
          </a:bodyPr>
          <a:lstStyle/>
          <a:p>
            <a:pPr algn="l">
              <a:spcAft>
                <a:spcPts val="800"/>
              </a:spcAft>
            </a:pPr>
            <a:r>
              <a:rPr sz="1500" b="0">
                <a:solidFill>
                  <a:srgbClr val="1A1C1E"/>
                </a:solidFill>
                <a:latin typeface="Calibri"/>
              </a:rPr>
              <a:t>•  Interview every SDR (top + bottom), AEs, Growth, SE/Solutions, sales leadership</a:t>
            </a:r>
          </a:p>
          <a:p>
            <a:pPr algn="l">
              <a:spcAft>
                <a:spcPts val="800"/>
              </a:spcAft>
            </a:pPr>
            <a:r>
              <a:rPr sz="1500" b="0">
                <a:solidFill>
                  <a:srgbClr val="1A1C1E"/>
                </a:solidFill>
                <a:latin typeface="Calibri"/>
              </a:rPr>
              <a:t>•  Define “up-level” in numbers with leadership</a:t>
            </a:r>
          </a:p>
          <a:p>
            <a:pPr algn="l">
              <a:spcAft>
                <a:spcPts val="800"/>
              </a:spcAft>
            </a:pPr>
            <a:r>
              <a:rPr sz="1500" b="0">
                <a:solidFill>
                  <a:srgbClr val="1A1C1E"/>
                </a:solidFill>
                <a:latin typeface="Calibri"/>
              </a:rPr>
              <a:t>•  Constraint hunt: connect → conversation</a:t>
            </a:r>
          </a:p>
          <a:p>
            <a:pPr algn="l">
              <a:spcAft>
                <a:spcPts val="800"/>
              </a:spcAft>
            </a:pPr>
            <a:r>
              <a:rPr sz="1500" b="0">
                <a:solidFill>
                  <a:srgbClr val="1A1C1E"/>
                </a:solidFill>
                <a:latin typeface="Calibri"/>
              </a:rPr>
              <a:t>•  Meeting → AE acceptance</a:t>
            </a:r>
          </a:p>
          <a:p>
            <a:pPr algn="l">
              <a:spcAft>
                <a:spcPts val="800"/>
              </a:spcAft>
            </a:pPr>
            <a:r>
              <a:rPr sz="1500" b="0">
                <a:solidFill>
                  <a:srgbClr val="1A1C1E"/>
                </a:solidFill>
                <a:latin typeface="Calibri"/>
              </a:rPr>
              <a:t>•  Competitive framing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Protect what’s already working</a:t>
            </a:r>
          </a:p>
        </p:txBody>
      </p:sp>
      <p:sp>
        <p:nvSpPr>
          <p:cNvPr id="5" name="TextBox 4"/>
          <p:cNvSpPr txBox="1"/>
          <p:nvPr/>
        </p:nvSpPr>
        <p:spPr>
          <a:xfrm>
            <a:off x="777240" y="1417320"/>
            <a:ext cx="10515600" cy="4572000"/>
          </a:xfrm>
          <a:prstGeom prst="rect">
            <a:avLst/>
          </a:prstGeom>
          <a:noFill/>
        </p:spPr>
        <p:txBody>
          <a:bodyPr wrap="square">
            <a:spAutoFit/>
          </a:bodyPr>
          <a:lstStyle/>
          <a:p>
            <a:pPr algn="l">
              <a:spcAft>
                <a:spcPts val="1200"/>
              </a:spcAft>
            </a:pPr>
            <a:r>
              <a:rPr sz="1800" b="0">
                <a:solidFill>
                  <a:srgbClr val="1A1C1E"/>
                </a:solidFill>
                <a:latin typeface="Calibri"/>
              </a:rPr>
              <a:t>•  Tooling + AI research automation stack</a:t>
            </a:r>
          </a:p>
          <a:p>
            <a:pPr algn="l">
              <a:spcAft>
                <a:spcPts val="1200"/>
              </a:spcAft>
            </a:pPr>
            <a:r>
              <a:rPr sz="1800" b="0">
                <a:solidFill>
                  <a:srgbClr val="1A1C1E"/>
                </a:solidFill>
                <a:latin typeface="Calibri"/>
              </a:rPr>
              <a:t>•  Current ICP and target-market strategy producing pipeline</a:t>
            </a:r>
          </a:p>
          <a:p>
            <a:pPr algn="l">
              <a:spcAft>
                <a:spcPts val="1200"/>
              </a:spcAft>
            </a:pPr>
            <a:r>
              <a:rPr sz="1800" b="0">
                <a:solidFill>
                  <a:srgbClr val="1A1C1E"/>
                </a:solidFill>
                <a:latin typeface="Calibri"/>
              </a:rPr>
              <a:t>•  Execution cadence that keeps trains on time</a:t>
            </a:r>
          </a:p>
          <a:p>
            <a:pPr algn="l">
              <a:spcAft>
                <a:spcPts val="1200"/>
              </a:spcAft>
            </a:pPr>
            <a:r>
              <a:rPr sz="1800" b="0">
                <a:solidFill>
                  <a:srgbClr val="1A1C1E"/>
                </a:solidFill>
                <a:latin typeface="Calibri"/>
              </a:rPr>
              <a:t>•  Top-performer craft — don’t standardize away what your best people do</a:t>
            </a:r>
          </a:p>
          <a:p>
            <a:pPr algn="l">
              <a:spcAft>
                <a:spcPts val="1200"/>
              </a:spcAft>
            </a:pPr>
            <a:r>
              <a:rPr sz="1800" b="0">
                <a:solidFill>
                  <a:srgbClr val="1A1C1E"/>
                </a:solidFill>
                <a:latin typeface="Calibri"/>
              </a:rPr>
              <a:t>•  AE trust and qualification norms</a:t>
            </a:r>
          </a:p>
          <a:p>
            <a:pPr algn="l">
              <a:spcAft>
                <a:spcPts val="1200"/>
              </a:spcAft>
            </a:pPr>
            <a:r>
              <a:rPr sz="1800" b="0">
                <a:solidFill>
                  <a:srgbClr val="1A1C1E"/>
                </a:solidFill>
                <a:latin typeface="Calibri"/>
              </a:rPr>
              <a:t>•  Explicit: no reorg, rename stages, or full playbook rewrite in month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Where the next gains come from (quality compounding)</a:t>
            </a:r>
          </a:p>
        </p:txBody>
      </p:sp>
      <p:sp>
        <p:nvSpPr>
          <p:cNvPr id="5" name="TextBox 4"/>
          <p:cNvSpPr txBox="1"/>
          <p:nvPr/>
        </p:nvSpPr>
        <p:spPr>
          <a:xfrm>
            <a:off x="777240" y="1417320"/>
            <a:ext cx="10515600" cy="4572000"/>
          </a:xfrm>
          <a:prstGeom prst="rect">
            <a:avLst/>
          </a:prstGeom>
          <a:noFill/>
        </p:spPr>
        <p:txBody>
          <a:bodyPr wrap="square">
            <a:spAutoFit/>
          </a:bodyPr>
          <a:lstStyle/>
          <a:p>
            <a:pPr algn="l">
              <a:spcAft>
                <a:spcPts val="1200"/>
              </a:spcAft>
            </a:pPr>
            <a:r>
              <a:rPr sz="1800" b="0">
                <a:solidFill>
                  <a:srgbClr val="1A1C1E"/>
                </a:solidFill>
                <a:latin typeface="Calibri"/>
              </a:rPr>
              <a:t>•  Conversation quality — relevance speed + correct wedge for the buyer signal</a:t>
            </a:r>
          </a:p>
          <a:p>
            <a:pPr algn="l">
              <a:spcAft>
                <a:spcPts val="1200"/>
              </a:spcAft>
            </a:pPr>
            <a:r>
              <a:rPr sz="1800" b="0">
                <a:solidFill>
                  <a:srgbClr val="1A1C1E"/>
                </a:solidFill>
                <a:latin typeface="Calibri"/>
              </a:rPr>
              <a:t>•  Qualification bar — fewer junk meetings, higher AE acceptance</a:t>
            </a:r>
          </a:p>
          <a:p>
            <a:pPr algn="l">
              <a:spcAft>
                <a:spcPts val="1200"/>
              </a:spcAft>
            </a:pPr>
            <a:r>
              <a:rPr sz="1800" b="0">
                <a:solidFill>
                  <a:srgbClr val="1A1C1E"/>
                </a:solidFill>
                <a:latin typeface="Calibri"/>
              </a:rPr>
              <a:t>•  Competitive fluency — clean Copilot / Claude Code / Windsurf frames (no trash talk)</a:t>
            </a:r>
          </a:p>
          <a:p>
            <a:pPr algn="l">
              <a:spcAft>
                <a:spcPts val="1200"/>
              </a:spcAft>
            </a:pPr>
            <a:r>
              <a:rPr sz="1800" b="0">
                <a:solidFill>
                  <a:srgbClr val="1A1C1E"/>
                </a:solidFill>
                <a:latin typeface="Calibri"/>
              </a:rPr>
              <a:t>•  Earlier multi-threading — Platform + Security on enterprise / regulated accounts</a:t>
            </a:r>
          </a:p>
          <a:p>
            <a:pPr algn="l">
              <a:spcAft>
                <a:spcPts val="1200"/>
              </a:spcAft>
            </a:pPr>
            <a:r>
              <a:rPr sz="1800" b="0">
                <a:solidFill>
                  <a:srgbClr val="1A1C1E"/>
                </a:solidFill>
                <a:latin typeface="Calibri"/>
              </a:rPr>
              <a:t>•  Validate with diagnosis data before scaling changes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Market context — agentic coding is a two-layer race</a:t>
            </a:r>
          </a:p>
        </p:txBody>
      </p:sp>
      <p:sp>
        <p:nvSpPr>
          <p:cNvPr id="5" name="Rectangle 4"/>
          <p:cNvSpPr/>
          <p:nvPr/>
        </p:nvSpPr>
        <p:spPr>
          <a:xfrm>
            <a:off x="594360" y="1325880"/>
            <a:ext cx="5349240" cy="3063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325880"/>
            <a:ext cx="5349240" cy="45720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89888"/>
            <a:ext cx="4846320" cy="365760"/>
          </a:xfrm>
          <a:prstGeom prst="rect">
            <a:avLst/>
          </a:prstGeom>
          <a:noFill/>
        </p:spPr>
        <p:txBody>
          <a:bodyPr wrap="square" anchor="t">
            <a:spAutoFit/>
          </a:bodyPr>
          <a:lstStyle/>
          <a:p>
            <a:pPr algn="l"/>
            <a:r>
              <a:rPr sz="1500" b="1">
                <a:solidFill>
                  <a:srgbClr val="D6F26A"/>
                </a:solidFill>
                <a:latin typeface="Georgia"/>
              </a:rPr>
              <a:t>Layer 1 — Harness / product</a:t>
            </a:r>
          </a:p>
        </p:txBody>
      </p:sp>
      <p:sp>
        <p:nvSpPr>
          <p:cNvPr id="8" name="TextBox 7"/>
          <p:cNvSpPr txBox="1"/>
          <p:nvPr/>
        </p:nvSpPr>
        <p:spPr>
          <a:xfrm>
            <a:off x="822960" y="1965960"/>
            <a:ext cx="4846320" cy="2194560"/>
          </a:xfrm>
          <a:prstGeom prst="rect">
            <a:avLst/>
          </a:prstGeom>
          <a:noFill/>
        </p:spPr>
        <p:txBody>
          <a:bodyPr wrap="square">
            <a:spAutoFit/>
          </a:bodyPr>
          <a:lstStyle/>
          <a:p>
            <a:pPr algn="l">
              <a:spcAft>
                <a:spcPts val="700"/>
              </a:spcAft>
            </a:pPr>
            <a:r>
              <a:rPr sz="1400" b="0">
                <a:solidFill>
                  <a:srgbClr val="1A1C1E"/>
                </a:solidFill>
                <a:latin typeface="Calibri"/>
              </a:rPr>
              <a:t>•  Plans, tools, repo navigation, developer workflow</a:t>
            </a:r>
          </a:p>
          <a:p>
            <a:pPr algn="l">
              <a:spcAft>
                <a:spcPts val="700"/>
              </a:spcAft>
            </a:pPr>
            <a:r>
              <a:rPr sz="1400" b="0">
                <a:solidFill>
                  <a:srgbClr val="1A1C1E"/>
                </a:solidFill>
                <a:latin typeface="Calibri"/>
              </a:rPr>
              <a:t>•  What buyers feel in the first conversation</a:t>
            </a:r>
          </a:p>
          <a:p>
            <a:pPr algn="l">
              <a:spcAft>
                <a:spcPts val="700"/>
              </a:spcAft>
            </a:pPr>
            <a:r>
              <a:rPr sz="1400" b="0">
                <a:solidFill>
                  <a:srgbClr val="1A1C1E"/>
                </a:solidFill>
                <a:latin typeface="Calibri"/>
              </a:rPr>
              <a:t>•  Cursor’s established commercial strength</a:t>
            </a:r>
          </a:p>
          <a:p>
            <a:pPr algn="l">
              <a:spcAft>
                <a:spcPts val="700"/>
              </a:spcAft>
            </a:pPr>
            <a:r>
              <a:rPr sz="1400" b="0">
                <a:solidFill>
                  <a:srgbClr val="1A1C1E"/>
                </a:solidFill>
                <a:latin typeface="Calibri"/>
              </a:rPr>
              <a:t>•  Sell the system they can feel today</a:t>
            </a:r>
          </a:p>
        </p:txBody>
      </p:sp>
      <p:sp>
        <p:nvSpPr>
          <p:cNvPr id="9" name="Rectangle 8"/>
          <p:cNvSpPr/>
          <p:nvPr/>
        </p:nvSpPr>
        <p:spPr>
          <a:xfrm>
            <a:off x="6217920" y="1325880"/>
            <a:ext cx="5349240" cy="3063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325880"/>
            <a:ext cx="5349240" cy="457200"/>
          </a:xfrm>
          <a:prstGeom prst="rect">
            <a:avLst/>
          </a:prstGeom>
          <a:solidFill>
            <a:srgbClr val="2A2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389888"/>
            <a:ext cx="4846320" cy="365760"/>
          </a:xfrm>
          <a:prstGeom prst="rect">
            <a:avLst/>
          </a:prstGeom>
          <a:noFill/>
        </p:spPr>
        <p:txBody>
          <a:bodyPr wrap="square" anchor="t">
            <a:spAutoFit/>
          </a:bodyPr>
          <a:lstStyle/>
          <a:p>
            <a:pPr algn="l"/>
            <a:r>
              <a:rPr sz="1500" b="1">
                <a:solidFill>
                  <a:srgbClr val="FFFFFF"/>
                </a:solidFill>
                <a:latin typeface="Georgia"/>
              </a:rPr>
              <a:t>Layer 2 — Model</a:t>
            </a:r>
          </a:p>
        </p:txBody>
      </p:sp>
      <p:sp>
        <p:nvSpPr>
          <p:cNvPr id="12" name="TextBox 11"/>
          <p:cNvSpPr txBox="1"/>
          <p:nvPr/>
        </p:nvSpPr>
        <p:spPr>
          <a:xfrm>
            <a:off x="6446520" y="1965960"/>
            <a:ext cx="4846320" cy="2194560"/>
          </a:xfrm>
          <a:prstGeom prst="rect">
            <a:avLst/>
          </a:prstGeom>
          <a:noFill/>
        </p:spPr>
        <p:txBody>
          <a:bodyPr wrap="square">
            <a:spAutoFit/>
          </a:bodyPr>
          <a:lstStyle/>
          <a:p>
            <a:pPr algn="l">
              <a:spcAft>
                <a:spcPts val="700"/>
              </a:spcAft>
            </a:pPr>
            <a:r>
              <a:rPr sz="1400" b="0">
                <a:solidFill>
                  <a:srgbClr val="1A1C1E"/>
                </a:solidFill>
                <a:latin typeface="Calibri"/>
              </a:rPr>
              <a:t>•  Reasoning + long-horizon coding quality</a:t>
            </a:r>
          </a:p>
          <a:p>
            <a:pPr algn="l">
              <a:spcAft>
                <a:spcPts val="700"/>
              </a:spcAft>
            </a:pPr>
            <a:r>
              <a:rPr sz="1400" b="0">
                <a:solidFill>
                  <a:srgbClr val="1A1C1E"/>
                </a:solidFill>
                <a:latin typeface="Calibri"/>
              </a:rPr>
              <a:t>•  Composer = Cursor’s coding-specialist path</a:t>
            </a:r>
          </a:p>
          <a:p>
            <a:pPr algn="l">
              <a:spcAft>
                <a:spcPts val="700"/>
              </a:spcAft>
            </a:pPr>
            <a:r>
              <a:rPr sz="1400" b="0">
                <a:solidFill>
                  <a:srgbClr val="1A1C1E"/>
                </a:solidFill>
                <a:latin typeface="Calibri"/>
              </a:rPr>
              <a:t>•  Best model changes over time</a:t>
            </a:r>
          </a:p>
          <a:p>
            <a:pPr algn="l">
              <a:spcAft>
                <a:spcPts val="700"/>
              </a:spcAft>
            </a:pPr>
            <a:r>
              <a:rPr sz="1400" b="0">
                <a:solidFill>
                  <a:srgbClr val="1A1C1E"/>
                </a:solidFill>
                <a:latin typeface="Calibri"/>
              </a:rPr>
              <a:t>•  Frontier labs = suppliers and competitors</a:t>
            </a:r>
          </a:p>
        </p:txBody>
      </p:sp>
      <p:sp>
        <p:nvSpPr>
          <p:cNvPr id="13" name="Rectangle 12"/>
          <p:cNvSpPr/>
          <p:nvPr/>
        </p:nvSpPr>
        <p:spPr>
          <a:xfrm>
            <a:off x="594360" y="4572000"/>
            <a:ext cx="10927080" cy="141732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709160"/>
            <a:ext cx="10424160" cy="320040"/>
          </a:xfrm>
          <a:prstGeom prst="rect">
            <a:avLst/>
          </a:prstGeom>
          <a:noFill/>
        </p:spPr>
        <p:txBody>
          <a:bodyPr wrap="square" anchor="t">
            <a:spAutoFit/>
          </a:bodyPr>
          <a:lstStyle/>
          <a:p>
            <a:pPr algn="l"/>
            <a:r>
              <a:rPr sz="1300" b="1">
                <a:solidFill>
                  <a:srgbClr val="D6F26A"/>
                </a:solidFill>
                <a:latin typeface="Calibri"/>
              </a:rPr>
              <a:t>Competitive shapes (from differentiation history)</a:t>
            </a:r>
          </a:p>
        </p:txBody>
      </p:sp>
      <p:sp>
        <p:nvSpPr>
          <p:cNvPr id="15" name="TextBox 14"/>
          <p:cNvSpPr txBox="1"/>
          <p:nvPr/>
        </p:nvSpPr>
        <p:spPr>
          <a:xfrm>
            <a:off x="822960" y="5074920"/>
            <a:ext cx="10424160" cy="731520"/>
          </a:xfrm>
          <a:prstGeom prst="rect">
            <a:avLst/>
          </a:prstGeom>
          <a:noFill/>
        </p:spPr>
        <p:txBody>
          <a:bodyPr wrap="square" anchor="t">
            <a:spAutoFit/>
          </a:bodyPr>
          <a:lstStyle/>
          <a:p>
            <a:pPr algn="l"/>
            <a:r>
              <a:rPr sz="1300" b="0">
                <a:solidFill>
                  <a:srgbClr val="E8EAE4"/>
                </a:solidFill>
                <a:latin typeface="Calibri"/>
              </a:rPr>
              <a:t>Cursor = AI-native IDE + enterprise platform   ·   Copilot = plugin / GitHub ecosystem   ·   Claude Code = terminal-first agent   ·   Windsurf = AI-IDE challenger (Cascade)   ·   Often the real competitor = ungoverned shadow 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Cursor positioning — workflow · context · execution</a:t>
            </a:r>
          </a:p>
        </p:txBody>
      </p:sp>
      <p:sp>
        <p:nvSpPr>
          <p:cNvPr id="5" name="Rectangle 4"/>
          <p:cNvSpPr/>
          <p:nvPr/>
        </p:nvSpPr>
        <p:spPr>
          <a:xfrm>
            <a:off x="594360" y="1280160"/>
            <a:ext cx="10927080" cy="91440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17320"/>
            <a:ext cx="10424160" cy="640080"/>
          </a:xfrm>
          <a:prstGeom prst="rect">
            <a:avLst/>
          </a:prstGeom>
          <a:noFill/>
        </p:spPr>
        <p:txBody>
          <a:bodyPr wrap="square" anchor="t">
            <a:spAutoFit/>
          </a:bodyPr>
          <a:lstStyle/>
          <a:p>
            <a:pPr algn="l"/>
            <a:r>
              <a:rPr sz="1500" b="0">
                <a:solidFill>
                  <a:srgbClr val="E8EAE4"/>
                </a:solidFill>
                <a:latin typeface="Calibri"/>
              </a:rPr>
              <a:t>Leading agentic coding platform — shared AI layer on the codebase that connects developers, tools, and agents so teams get more from frontier models.</a:t>
            </a:r>
          </a:p>
        </p:txBody>
      </p:sp>
      <p:sp>
        <p:nvSpPr>
          <p:cNvPr id="7" name="Rectangle 6"/>
          <p:cNvSpPr/>
          <p:nvPr/>
        </p:nvSpPr>
        <p:spPr>
          <a:xfrm>
            <a:off x="594360" y="2423160"/>
            <a:ext cx="260604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06040"/>
            <a:ext cx="59436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88920"/>
            <a:ext cx="2240280" cy="274320"/>
          </a:xfrm>
          <a:prstGeom prst="rect">
            <a:avLst/>
          </a:prstGeom>
          <a:noFill/>
        </p:spPr>
        <p:txBody>
          <a:bodyPr wrap="square" anchor="t">
            <a:spAutoFit/>
          </a:bodyPr>
          <a:lstStyle/>
          <a:p>
            <a:pPr algn="l"/>
            <a:r>
              <a:rPr sz="1500" b="1">
                <a:solidFill>
                  <a:srgbClr val="141618"/>
                </a:solidFill>
                <a:latin typeface="Georgia"/>
              </a:rPr>
              <a:t>IDE</a:t>
            </a:r>
          </a:p>
        </p:txBody>
      </p:sp>
      <p:sp>
        <p:nvSpPr>
          <p:cNvPr id="10" name="TextBox 9"/>
          <p:cNvSpPr txBox="1"/>
          <p:nvPr/>
        </p:nvSpPr>
        <p:spPr>
          <a:xfrm>
            <a:off x="777240" y="3108960"/>
            <a:ext cx="2240280" cy="274320"/>
          </a:xfrm>
          <a:prstGeom prst="rect">
            <a:avLst/>
          </a:prstGeom>
          <a:noFill/>
        </p:spPr>
        <p:txBody>
          <a:bodyPr wrap="square" anchor="t">
            <a:spAutoFit/>
          </a:bodyPr>
          <a:lstStyle/>
          <a:p>
            <a:pPr algn="l"/>
            <a:r>
              <a:rPr sz="1200" b="0">
                <a:solidFill>
                  <a:srgbClr val="5E646B"/>
                </a:solidFill>
                <a:latin typeface="Calibri"/>
              </a:rPr>
              <a:t>Desktop agentic coding</a:t>
            </a:r>
          </a:p>
        </p:txBody>
      </p:sp>
      <p:sp>
        <p:nvSpPr>
          <p:cNvPr id="11" name="Rectangle 10"/>
          <p:cNvSpPr/>
          <p:nvPr/>
        </p:nvSpPr>
        <p:spPr>
          <a:xfrm>
            <a:off x="3383280" y="2423160"/>
            <a:ext cx="260604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66160" y="2606040"/>
            <a:ext cx="59436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2788920"/>
            <a:ext cx="2240280" cy="274320"/>
          </a:xfrm>
          <a:prstGeom prst="rect">
            <a:avLst/>
          </a:prstGeom>
          <a:noFill/>
        </p:spPr>
        <p:txBody>
          <a:bodyPr wrap="square" anchor="t">
            <a:spAutoFit/>
          </a:bodyPr>
          <a:lstStyle/>
          <a:p>
            <a:pPr algn="l"/>
            <a:r>
              <a:rPr sz="1500" b="1">
                <a:solidFill>
                  <a:srgbClr val="141618"/>
                </a:solidFill>
                <a:latin typeface="Georgia"/>
              </a:rPr>
              <a:t>CLI</a:t>
            </a:r>
          </a:p>
        </p:txBody>
      </p:sp>
      <p:sp>
        <p:nvSpPr>
          <p:cNvPr id="14" name="TextBox 13"/>
          <p:cNvSpPr txBox="1"/>
          <p:nvPr/>
        </p:nvSpPr>
        <p:spPr>
          <a:xfrm>
            <a:off x="3566160" y="3108960"/>
            <a:ext cx="2240280" cy="274320"/>
          </a:xfrm>
          <a:prstGeom prst="rect">
            <a:avLst/>
          </a:prstGeom>
          <a:noFill/>
        </p:spPr>
        <p:txBody>
          <a:bodyPr wrap="square" anchor="t">
            <a:spAutoFit/>
          </a:bodyPr>
          <a:lstStyle/>
          <a:p>
            <a:pPr algn="l"/>
            <a:r>
              <a:rPr sz="1200" b="0">
                <a:solidFill>
                  <a:srgbClr val="5E646B"/>
                </a:solidFill>
                <a:latin typeface="Calibri"/>
              </a:rPr>
              <a:t>Terminal / any workflow</a:t>
            </a:r>
          </a:p>
        </p:txBody>
      </p:sp>
      <p:sp>
        <p:nvSpPr>
          <p:cNvPr id="15" name="Rectangle 14"/>
          <p:cNvSpPr/>
          <p:nvPr/>
        </p:nvSpPr>
        <p:spPr>
          <a:xfrm>
            <a:off x="6172200" y="2423160"/>
            <a:ext cx="260604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2606040"/>
            <a:ext cx="59436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788920"/>
            <a:ext cx="2240280" cy="274320"/>
          </a:xfrm>
          <a:prstGeom prst="rect">
            <a:avLst/>
          </a:prstGeom>
          <a:noFill/>
        </p:spPr>
        <p:txBody>
          <a:bodyPr wrap="square" anchor="t">
            <a:spAutoFit/>
          </a:bodyPr>
          <a:lstStyle/>
          <a:p>
            <a:pPr algn="l"/>
            <a:r>
              <a:rPr sz="1500" b="1">
                <a:solidFill>
                  <a:srgbClr val="141618"/>
                </a:solidFill>
                <a:latin typeface="Georgia"/>
              </a:rPr>
              <a:t>Automations</a:t>
            </a:r>
          </a:p>
        </p:txBody>
      </p:sp>
      <p:sp>
        <p:nvSpPr>
          <p:cNvPr id="18" name="TextBox 17"/>
          <p:cNvSpPr txBox="1"/>
          <p:nvPr/>
        </p:nvSpPr>
        <p:spPr>
          <a:xfrm>
            <a:off x="6355080" y="3108960"/>
            <a:ext cx="2240280" cy="274320"/>
          </a:xfrm>
          <a:prstGeom prst="rect">
            <a:avLst/>
          </a:prstGeom>
          <a:noFill/>
        </p:spPr>
        <p:txBody>
          <a:bodyPr wrap="square" anchor="t">
            <a:spAutoFit/>
          </a:bodyPr>
          <a:lstStyle/>
          <a:p>
            <a:pPr algn="l"/>
            <a:r>
              <a:rPr sz="1200" b="0">
                <a:solidFill>
                  <a:srgbClr val="5E646B"/>
                </a:solidFill>
                <a:latin typeface="Calibri"/>
              </a:rPr>
              <a:t>Event-driven agents</a:t>
            </a:r>
          </a:p>
        </p:txBody>
      </p:sp>
      <p:sp>
        <p:nvSpPr>
          <p:cNvPr id="19" name="Rectangle 18"/>
          <p:cNvSpPr/>
          <p:nvPr/>
        </p:nvSpPr>
        <p:spPr>
          <a:xfrm>
            <a:off x="8961120" y="2423160"/>
            <a:ext cx="260604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2606040"/>
            <a:ext cx="59436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2788920"/>
            <a:ext cx="2240280" cy="274320"/>
          </a:xfrm>
          <a:prstGeom prst="rect">
            <a:avLst/>
          </a:prstGeom>
          <a:noFill/>
        </p:spPr>
        <p:txBody>
          <a:bodyPr wrap="square" anchor="t">
            <a:spAutoFit/>
          </a:bodyPr>
          <a:lstStyle/>
          <a:p>
            <a:pPr algn="l"/>
            <a:r>
              <a:rPr sz="1500" b="1">
                <a:solidFill>
                  <a:srgbClr val="141618"/>
                </a:solidFill>
                <a:latin typeface="Georgia"/>
              </a:rPr>
              <a:t>Cloud Agents</a:t>
            </a:r>
          </a:p>
        </p:txBody>
      </p:sp>
      <p:sp>
        <p:nvSpPr>
          <p:cNvPr id="22" name="TextBox 21"/>
          <p:cNvSpPr txBox="1"/>
          <p:nvPr/>
        </p:nvSpPr>
        <p:spPr>
          <a:xfrm>
            <a:off x="9144000" y="3108960"/>
            <a:ext cx="2240280" cy="274320"/>
          </a:xfrm>
          <a:prstGeom prst="rect">
            <a:avLst/>
          </a:prstGeom>
          <a:noFill/>
        </p:spPr>
        <p:txBody>
          <a:bodyPr wrap="square" anchor="t">
            <a:spAutoFit/>
          </a:bodyPr>
          <a:lstStyle/>
          <a:p>
            <a:pPr algn="l"/>
            <a:r>
              <a:rPr sz="1200" b="0">
                <a:solidFill>
                  <a:srgbClr val="5E646B"/>
                </a:solidFill>
                <a:latin typeface="Calibri"/>
              </a:rPr>
              <a:t>Async / browser / mobile</a:t>
            </a:r>
          </a:p>
        </p:txBody>
      </p:sp>
      <p:sp>
        <p:nvSpPr>
          <p:cNvPr id="23" name="Rectangle 22"/>
          <p:cNvSpPr/>
          <p:nvPr/>
        </p:nvSpPr>
        <p:spPr>
          <a:xfrm>
            <a:off x="594360" y="3840480"/>
            <a:ext cx="35661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023360"/>
            <a:ext cx="3108960" cy="320040"/>
          </a:xfrm>
          <a:prstGeom prst="rect">
            <a:avLst/>
          </a:prstGeom>
          <a:noFill/>
        </p:spPr>
        <p:txBody>
          <a:bodyPr wrap="square" anchor="t">
            <a:spAutoFit/>
          </a:bodyPr>
          <a:lstStyle/>
          <a:p>
            <a:pPr algn="l"/>
            <a:r>
              <a:rPr sz="1600" b="1">
                <a:solidFill>
                  <a:srgbClr val="141618"/>
                </a:solidFill>
                <a:latin typeface="Georgia"/>
              </a:rPr>
              <a:t>Workflow</a:t>
            </a:r>
          </a:p>
        </p:txBody>
      </p:sp>
      <p:sp>
        <p:nvSpPr>
          <p:cNvPr id="25" name="TextBox 24"/>
          <p:cNvSpPr txBox="1"/>
          <p:nvPr/>
        </p:nvSpPr>
        <p:spPr>
          <a:xfrm>
            <a:off x="822960" y="4434840"/>
            <a:ext cx="3108960" cy="457200"/>
          </a:xfrm>
          <a:prstGeom prst="rect">
            <a:avLst/>
          </a:prstGeom>
          <a:noFill/>
        </p:spPr>
        <p:txBody>
          <a:bodyPr wrap="square" anchor="t">
            <a:spAutoFit/>
          </a:bodyPr>
          <a:lstStyle/>
          <a:p>
            <a:pPr algn="l"/>
            <a:r>
              <a:rPr sz="1300" b="0">
                <a:solidFill>
                  <a:srgbClr val="5E646B"/>
                </a:solidFill>
                <a:latin typeface="Calibri"/>
              </a:rPr>
              <a:t>How work actually gets done across the SDLC</a:t>
            </a:r>
          </a:p>
        </p:txBody>
      </p:sp>
      <p:sp>
        <p:nvSpPr>
          <p:cNvPr id="26" name="Rectangle 25"/>
          <p:cNvSpPr/>
          <p:nvPr/>
        </p:nvSpPr>
        <p:spPr>
          <a:xfrm>
            <a:off x="4343399" y="3840480"/>
            <a:ext cx="35661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1999" y="4023360"/>
            <a:ext cx="3108960" cy="320040"/>
          </a:xfrm>
          <a:prstGeom prst="rect">
            <a:avLst/>
          </a:prstGeom>
          <a:noFill/>
        </p:spPr>
        <p:txBody>
          <a:bodyPr wrap="square" anchor="t">
            <a:spAutoFit/>
          </a:bodyPr>
          <a:lstStyle/>
          <a:p>
            <a:pPr algn="l"/>
            <a:r>
              <a:rPr sz="1600" b="1">
                <a:solidFill>
                  <a:srgbClr val="141618"/>
                </a:solidFill>
                <a:latin typeface="Georgia"/>
              </a:rPr>
              <a:t>Context</a:t>
            </a:r>
          </a:p>
        </p:txBody>
      </p:sp>
      <p:sp>
        <p:nvSpPr>
          <p:cNvPr id="28" name="TextBox 27"/>
          <p:cNvSpPr txBox="1"/>
          <p:nvPr/>
        </p:nvSpPr>
        <p:spPr>
          <a:xfrm>
            <a:off x="4571999" y="4434840"/>
            <a:ext cx="3108960" cy="457200"/>
          </a:xfrm>
          <a:prstGeom prst="rect">
            <a:avLst/>
          </a:prstGeom>
          <a:noFill/>
        </p:spPr>
        <p:txBody>
          <a:bodyPr wrap="square" anchor="t">
            <a:spAutoFit/>
          </a:bodyPr>
          <a:lstStyle/>
          <a:p>
            <a:pPr algn="l"/>
            <a:r>
              <a:rPr sz="1300" b="0">
                <a:solidFill>
                  <a:srgbClr val="5E646B"/>
                </a:solidFill>
                <a:latin typeface="Calibri"/>
              </a:rPr>
              <a:t>Codebase, dependencies, team systems</a:t>
            </a:r>
          </a:p>
        </p:txBody>
      </p:sp>
      <p:sp>
        <p:nvSpPr>
          <p:cNvPr id="29" name="Rectangle 28"/>
          <p:cNvSpPr/>
          <p:nvPr/>
        </p:nvSpPr>
        <p:spPr>
          <a:xfrm>
            <a:off x="8092438" y="3840480"/>
            <a:ext cx="35661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8" y="4023360"/>
            <a:ext cx="3108960" cy="320040"/>
          </a:xfrm>
          <a:prstGeom prst="rect">
            <a:avLst/>
          </a:prstGeom>
          <a:noFill/>
        </p:spPr>
        <p:txBody>
          <a:bodyPr wrap="square" anchor="t">
            <a:spAutoFit/>
          </a:bodyPr>
          <a:lstStyle/>
          <a:p>
            <a:pPr algn="l"/>
            <a:r>
              <a:rPr sz="1600" b="1">
                <a:solidFill>
                  <a:srgbClr val="141618"/>
                </a:solidFill>
                <a:latin typeface="Georgia"/>
              </a:rPr>
              <a:t>Execution</a:t>
            </a:r>
          </a:p>
        </p:txBody>
      </p:sp>
      <p:sp>
        <p:nvSpPr>
          <p:cNvPr id="31" name="TextBox 30"/>
          <p:cNvSpPr txBox="1"/>
          <p:nvPr/>
        </p:nvSpPr>
        <p:spPr>
          <a:xfrm>
            <a:off x="8321038" y="4434840"/>
            <a:ext cx="3108960" cy="457200"/>
          </a:xfrm>
          <a:prstGeom prst="rect">
            <a:avLst/>
          </a:prstGeom>
          <a:noFill/>
        </p:spPr>
        <p:txBody>
          <a:bodyPr wrap="square" anchor="t">
            <a:spAutoFit/>
          </a:bodyPr>
          <a:lstStyle/>
          <a:p>
            <a:pPr algn="l"/>
            <a:r>
              <a:rPr sz="1300" b="0">
                <a:solidFill>
                  <a:srgbClr val="5E646B"/>
                </a:solidFill>
                <a:latin typeface="Calibri"/>
              </a:rPr>
              <a:t>Plan → build → review → ship with less friction</a:t>
            </a:r>
          </a:p>
        </p:txBody>
      </p:sp>
      <p:sp>
        <p:nvSpPr>
          <p:cNvPr id="32" name="TextBox 31"/>
          <p:cNvSpPr txBox="1"/>
          <p:nvPr/>
        </p:nvSpPr>
        <p:spPr>
          <a:xfrm>
            <a:off x="777240" y="5303520"/>
            <a:ext cx="10515600" cy="777240"/>
          </a:xfrm>
          <a:prstGeom prst="rect">
            <a:avLst/>
          </a:prstGeom>
          <a:noFill/>
        </p:spPr>
        <p:txBody>
          <a:bodyPr wrap="square" anchor="t">
            <a:spAutoFit/>
          </a:bodyPr>
          <a:lstStyle/>
          <a:p>
            <a:pPr algn="l"/>
            <a:r>
              <a:rPr sz="1300" b="0">
                <a:solidFill>
                  <a:srgbClr val="5E646B"/>
                </a:solidFill>
                <a:latin typeface="Calibri"/>
              </a:rPr>
              <a:t>Enterprise 3 buckets:  Productivity (agents + multi-file)  ·  Governance (SSO / SCIM / audit / admin)  ·  Privacy &amp; security (Privacy Mode, SOC 2 Type II)
Proof points: Coinbase · Stripe · PayPal — speed + governed adoption, not autocomplete vanity.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Four differentiators — diagnose first, lead with one wedge</a:t>
            </a:r>
          </a:p>
        </p:txBody>
      </p:sp>
      <p:sp>
        <p:nvSpPr>
          <p:cNvPr id="5" name="Rectangle 4"/>
          <p:cNvSpPr/>
          <p:nvPr/>
        </p:nvSpPr>
        <p:spPr>
          <a:xfrm>
            <a:off x="594360" y="1325880"/>
            <a:ext cx="534924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554480"/>
            <a:ext cx="68580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822960" cy="320040"/>
          </a:xfrm>
          <a:prstGeom prst="rect">
            <a:avLst/>
          </a:prstGeom>
          <a:noFill/>
        </p:spPr>
        <p:txBody>
          <a:bodyPr wrap="square" anchor="t">
            <a:spAutoFit/>
          </a:bodyPr>
          <a:lstStyle/>
          <a:p>
            <a:pPr algn="l"/>
            <a:r>
              <a:rPr sz="1600" b="1">
                <a:solidFill>
                  <a:srgbClr val="141618"/>
                </a:solidFill>
                <a:latin typeface="Georgia"/>
              </a:rPr>
              <a:t>01</a:t>
            </a:r>
          </a:p>
        </p:txBody>
      </p:sp>
      <p:sp>
        <p:nvSpPr>
          <p:cNvPr id="8" name="TextBox 7"/>
          <p:cNvSpPr txBox="1"/>
          <p:nvPr/>
        </p:nvSpPr>
        <p:spPr>
          <a:xfrm>
            <a:off x="1645920" y="1737360"/>
            <a:ext cx="3931920" cy="320040"/>
          </a:xfrm>
          <a:prstGeom prst="rect">
            <a:avLst/>
          </a:prstGeom>
          <a:noFill/>
        </p:spPr>
        <p:txBody>
          <a:bodyPr wrap="square" anchor="t">
            <a:spAutoFit/>
          </a:bodyPr>
          <a:lstStyle/>
          <a:p>
            <a:pPr algn="l"/>
            <a:r>
              <a:rPr sz="1600" b="1">
                <a:solidFill>
                  <a:srgbClr val="141618"/>
                </a:solidFill>
                <a:latin typeface="Georgia"/>
              </a:rPr>
              <a:t>Model neutrality</a:t>
            </a:r>
          </a:p>
        </p:txBody>
      </p:sp>
      <p:sp>
        <p:nvSpPr>
          <p:cNvPr id="9" name="TextBox 8"/>
          <p:cNvSpPr txBox="1"/>
          <p:nvPr/>
        </p:nvSpPr>
        <p:spPr>
          <a:xfrm>
            <a:off x="822960" y="2286000"/>
            <a:ext cx="4846320" cy="914400"/>
          </a:xfrm>
          <a:prstGeom prst="rect">
            <a:avLst/>
          </a:prstGeom>
          <a:noFill/>
        </p:spPr>
        <p:txBody>
          <a:bodyPr wrap="square" anchor="t">
            <a:spAutoFit/>
          </a:bodyPr>
          <a:lstStyle/>
          <a:p>
            <a:pPr algn="l"/>
            <a:r>
              <a:rPr sz="1400" b="0">
                <a:solidFill>
                  <a:srgbClr val="5E646B"/>
                </a:solidFill>
                <a:latin typeface="Calibri"/>
              </a:rPr>
              <a:t>Best model changes. Flexibility over single-vendor lock-in. Labs can be suppliers and competitors.</a:t>
            </a:r>
          </a:p>
        </p:txBody>
      </p:sp>
      <p:sp>
        <p:nvSpPr>
          <p:cNvPr id="10" name="Rectangle 9"/>
          <p:cNvSpPr/>
          <p:nvPr/>
        </p:nvSpPr>
        <p:spPr>
          <a:xfrm>
            <a:off x="6217920" y="1325880"/>
            <a:ext cx="534924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1554480"/>
            <a:ext cx="68580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737360"/>
            <a:ext cx="822960" cy="320040"/>
          </a:xfrm>
          <a:prstGeom prst="rect">
            <a:avLst/>
          </a:prstGeom>
          <a:noFill/>
        </p:spPr>
        <p:txBody>
          <a:bodyPr wrap="square" anchor="t">
            <a:spAutoFit/>
          </a:bodyPr>
          <a:lstStyle/>
          <a:p>
            <a:pPr algn="l"/>
            <a:r>
              <a:rPr sz="1600" b="1">
                <a:solidFill>
                  <a:srgbClr val="141618"/>
                </a:solidFill>
                <a:latin typeface="Georgia"/>
              </a:rPr>
              <a:t>02</a:t>
            </a:r>
          </a:p>
        </p:txBody>
      </p:sp>
      <p:sp>
        <p:nvSpPr>
          <p:cNvPr id="13" name="TextBox 12"/>
          <p:cNvSpPr txBox="1"/>
          <p:nvPr/>
        </p:nvSpPr>
        <p:spPr>
          <a:xfrm>
            <a:off x="7269480" y="1737360"/>
            <a:ext cx="3931920" cy="320040"/>
          </a:xfrm>
          <a:prstGeom prst="rect">
            <a:avLst/>
          </a:prstGeom>
          <a:noFill/>
        </p:spPr>
        <p:txBody>
          <a:bodyPr wrap="square" anchor="t">
            <a:spAutoFit/>
          </a:bodyPr>
          <a:lstStyle/>
          <a:p>
            <a:pPr algn="l"/>
            <a:r>
              <a:rPr sz="1600" b="1">
                <a:solidFill>
                  <a:srgbClr val="141618"/>
                </a:solidFill>
                <a:latin typeface="Georgia"/>
              </a:rPr>
              <a:t>Large codebase / harness</a:t>
            </a:r>
          </a:p>
        </p:txBody>
      </p:sp>
      <p:sp>
        <p:nvSpPr>
          <p:cNvPr id="14" name="TextBox 13"/>
          <p:cNvSpPr txBox="1"/>
          <p:nvPr/>
        </p:nvSpPr>
        <p:spPr>
          <a:xfrm>
            <a:off x="6446520" y="2286000"/>
            <a:ext cx="4846320" cy="914400"/>
          </a:xfrm>
          <a:prstGeom prst="rect">
            <a:avLst/>
          </a:prstGeom>
          <a:noFill/>
        </p:spPr>
        <p:txBody>
          <a:bodyPr wrap="square" anchor="t">
            <a:spAutoFit/>
          </a:bodyPr>
          <a:lstStyle/>
          <a:p>
            <a:pPr algn="l"/>
            <a:r>
              <a:rPr sz="1400" b="0">
                <a:solidFill>
                  <a:srgbClr val="5E646B"/>
                </a:solidFill>
                <a:latin typeface="Calibri"/>
              </a:rPr>
              <a:t>Not just wrapping a model — better finding + using context in messy enterprise repos.</a:t>
            </a:r>
          </a:p>
        </p:txBody>
      </p:sp>
      <p:sp>
        <p:nvSpPr>
          <p:cNvPr id="15" name="Rectangle 14"/>
          <p:cNvSpPr/>
          <p:nvPr/>
        </p:nvSpPr>
        <p:spPr>
          <a:xfrm>
            <a:off x="594360" y="3703320"/>
            <a:ext cx="534924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3931920"/>
            <a:ext cx="68580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114800"/>
            <a:ext cx="822960" cy="320040"/>
          </a:xfrm>
          <a:prstGeom prst="rect">
            <a:avLst/>
          </a:prstGeom>
          <a:noFill/>
        </p:spPr>
        <p:txBody>
          <a:bodyPr wrap="square" anchor="t">
            <a:spAutoFit/>
          </a:bodyPr>
          <a:lstStyle/>
          <a:p>
            <a:pPr algn="l"/>
            <a:r>
              <a:rPr sz="1600" b="1">
                <a:solidFill>
                  <a:srgbClr val="141618"/>
                </a:solidFill>
                <a:latin typeface="Georgia"/>
              </a:rPr>
              <a:t>03</a:t>
            </a:r>
          </a:p>
        </p:txBody>
      </p:sp>
      <p:sp>
        <p:nvSpPr>
          <p:cNvPr id="18" name="TextBox 17"/>
          <p:cNvSpPr txBox="1"/>
          <p:nvPr/>
        </p:nvSpPr>
        <p:spPr>
          <a:xfrm>
            <a:off x="1645920" y="4114800"/>
            <a:ext cx="3931920" cy="320040"/>
          </a:xfrm>
          <a:prstGeom prst="rect">
            <a:avLst/>
          </a:prstGeom>
          <a:noFill/>
        </p:spPr>
        <p:txBody>
          <a:bodyPr wrap="square" anchor="t">
            <a:spAutoFit/>
          </a:bodyPr>
          <a:lstStyle/>
          <a:p>
            <a:pPr algn="l"/>
            <a:r>
              <a:rPr sz="1600" b="1">
                <a:solidFill>
                  <a:srgbClr val="141618"/>
                </a:solidFill>
                <a:latin typeface="Georgia"/>
              </a:rPr>
              <a:t>Faster time to value</a:t>
            </a:r>
          </a:p>
        </p:txBody>
      </p:sp>
      <p:sp>
        <p:nvSpPr>
          <p:cNvPr id="19" name="TextBox 18"/>
          <p:cNvSpPr txBox="1"/>
          <p:nvPr/>
        </p:nvSpPr>
        <p:spPr>
          <a:xfrm>
            <a:off x="822960" y="4663440"/>
            <a:ext cx="4846320" cy="914400"/>
          </a:xfrm>
          <a:prstGeom prst="rect">
            <a:avLst/>
          </a:prstGeom>
          <a:noFill/>
        </p:spPr>
        <p:txBody>
          <a:bodyPr wrap="square" anchor="t">
            <a:spAutoFit/>
          </a:bodyPr>
          <a:lstStyle/>
          <a:p>
            <a:pPr algn="l"/>
            <a:r>
              <a:rPr sz="1400" b="0">
                <a:solidFill>
                  <a:srgbClr val="5E646B"/>
                </a:solidFill>
                <a:latin typeface="Calibri"/>
              </a:rPr>
              <a:t>Useful quickly without every developer inventing a custom setup. Adoption + consistency.</a:t>
            </a:r>
          </a:p>
        </p:txBody>
      </p:sp>
      <p:sp>
        <p:nvSpPr>
          <p:cNvPr id="20" name="Rectangle 19"/>
          <p:cNvSpPr/>
          <p:nvPr/>
        </p:nvSpPr>
        <p:spPr>
          <a:xfrm>
            <a:off x="6217920" y="3703320"/>
            <a:ext cx="534924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0" y="3931920"/>
            <a:ext cx="68580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114800"/>
            <a:ext cx="822960" cy="320040"/>
          </a:xfrm>
          <a:prstGeom prst="rect">
            <a:avLst/>
          </a:prstGeom>
          <a:noFill/>
        </p:spPr>
        <p:txBody>
          <a:bodyPr wrap="square" anchor="t">
            <a:spAutoFit/>
          </a:bodyPr>
          <a:lstStyle/>
          <a:p>
            <a:pPr algn="l"/>
            <a:r>
              <a:rPr sz="1600" b="1">
                <a:solidFill>
                  <a:srgbClr val="141618"/>
                </a:solidFill>
                <a:latin typeface="Georgia"/>
              </a:rPr>
              <a:t>04</a:t>
            </a:r>
          </a:p>
        </p:txBody>
      </p:sp>
      <p:sp>
        <p:nvSpPr>
          <p:cNvPr id="23" name="TextBox 22"/>
          <p:cNvSpPr txBox="1"/>
          <p:nvPr/>
        </p:nvSpPr>
        <p:spPr>
          <a:xfrm>
            <a:off x="7269480" y="4114800"/>
            <a:ext cx="3931920" cy="320040"/>
          </a:xfrm>
          <a:prstGeom prst="rect">
            <a:avLst/>
          </a:prstGeom>
          <a:noFill/>
        </p:spPr>
        <p:txBody>
          <a:bodyPr wrap="square" anchor="t">
            <a:spAutoFit/>
          </a:bodyPr>
          <a:lstStyle/>
          <a:p>
            <a:pPr algn="l"/>
            <a:r>
              <a:rPr sz="1600" b="1">
                <a:solidFill>
                  <a:srgbClr val="141618"/>
                </a:solidFill>
                <a:latin typeface="Georgia"/>
              </a:rPr>
              <a:t>Platform across the SDLC</a:t>
            </a:r>
          </a:p>
        </p:txBody>
      </p:sp>
      <p:sp>
        <p:nvSpPr>
          <p:cNvPr id="24" name="TextBox 23"/>
          <p:cNvSpPr txBox="1"/>
          <p:nvPr/>
        </p:nvSpPr>
        <p:spPr>
          <a:xfrm>
            <a:off x="6446520" y="4663440"/>
            <a:ext cx="4846320" cy="914400"/>
          </a:xfrm>
          <a:prstGeom prst="rect">
            <a:avLst/>
          </a:prstGeom>
          <a:noFill/>
        </p:spPr>
        <p:txBody>
          <a:bodyPr wrap="square" anchor="t">
            <a:spAutoFit/>
          </a:bodyPr>
          <a:lstStyle/>
          <a:p>
            <a:pPr algn="l"/>
            <a:r>
              <a:rPr sz="1400" b="0">
                <a:solidFill>
                  <a:srgbClr val="5E646B"/>
                </a:solidFill>
                <a:latin typeface="Calibri"/>
              </a:rPr>
              <a:t>Plan, write, review, debug, iterate — Bugbot, Agent Review, Automations. Better execution.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Days 15–45: two experiments only (keep or kill)</a:t>
            </a:r>
          </a:p>
        </p:txBody>
      </p:sp>
      <p:sp>
        <p:nvSpPr>
          <p:cNvPr id="5" name="Rectangle 4"/>
          <p:cNvSpPr/>
          <p:nvPr/>
        </p:nvSpPr>
        <p:spPr>
          <a:xfrm>
            <a:off x="594360" y="1325880"/>
            <a:ext cx="534924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554480"/>
            <a:ext cx="77724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4754880" cy="365760"/>
          </a:xfrm>
          <a:prstGeom prst="rect">
            <a:avLst/>
          </a:prstGeom>
          <a:noFill/>
        </p:spPr>
        <p:txBody>
          <a:bodyPr wrap="square" anchor="t">
            <a:spAutoFit/>
          </a:bodyPr>
          <a:lstStyle/>
          <a:p>
            <a:pPr algn="l"/>
            <a:r>
              <a:rPr sz="1700" b="1">
                <a:solidFill>
                  <a:srgbClr val="141618"/>
                </a:solidFill>
                <a:latin typeface="Georgia"/>
              </a:rPr>
              <a:t>A — Positioning fluency</a:t>
            </a:r>
          </a:p>
        </p:txBody>
      </p:sp>
      <p:sp>
        <p:nvSpPr>
          <p:cNvPr id="8" name="TextBox 7"/>
          <p:cNvSpPr txBox="1"/>
          <p:nvPr/>
        </p:nvSpPr>
        <p:spPr>
          <a:xfrm>
            <a:off x="868680" y="2286000"/>
            <a:ext cx="4754880" cy="3474720"/>
          </a:xfrm>
          <a:prstGeom prst="rect">
            <a:avLst/>
          </a:prstGeom>
          <a:noFill/>
        </p:spPr>
        <p:txBody>
          <a:bodyPr wrap="square">
            <a:spAutoFit/>
          </a:bodyPr>
          <a:lstStyle/>
          <a:p>
            <a:pPr algn="l">
              <a:spcAft>
                <a:spcPts val="800"/>
              </a:spcAft>
            </a:pPr>
            <a:r>
              <a:rPr sz="1500" b="0">
                <a:solidFill>
                  <a:srgbClr val="1A1C1E"/>
                </a:solidFill>
                <a:latin typeface="Calibri"/>
              </a:rPr>
              <a:t>•  Hypothesis: connect→conversation + AE credibility rise when every opener maps to one differentiator</a:t>
            </a:r>
          </a:p>
          <a:p>
            <a:pPr algn="l">
              <a:spcAft>
                <a:spcPts val="800"/>
              </a:spcAft>
            </a:pPr>
            <a:r>
              <a:rPr sz="1500" b="0">
                <a:solidFill>
                  <a:srgbClr val="1A1C1E"/>
                </a:solidFill>
                <a:latin typeface="Calibri"/>
              </a:rPr>
              <a:t>•  Test: 2 SDRs × 2 weeks; dial volume held constant</a:t>
            </a:r>
          </a:p>
          <a:p>
            <a:pPr algn="l">
              <a:spcAft>
                <a:spcPts val="800"/>
              </a:spcAft>
            </a:pPr>
            <a:r>
              <a:rPr sz="1500" b="0">
                <a:solidFill>
                  <a:srgbClr val="1A1C1E"/>
                </a:solidFill>
                <a:latin typeface="Calibri"/>
              </a:rPr>
              <a:t>•  Measure: connect→conversation, conversation→meeting, AE credibility feedback</a:t>
            </a:r>
          </a:p>
        </p:txBody>
      </p:sp>
      <p:sp>
        <p:nvSpPr>
          <p:cNvPr id="9" name="Rectangle 8"/>
          <p:cNvSpPr/>
          <p:nvPr/>
        </p:nvSpPr>
        <p:spPr>
          <a:xfrm>
            <a:off x="6217920" y="1325880"/>
            <a:ext cx="534924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1554480"/>
            <a:ext cx="77724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83080"/>
            <a:ext cx="4754880" cy="365760"/>
          </a:xfrm>
          <a:prstGeom prst="rect">
            <a:avLst/>
          </a:prstGeom>
          <a:noFill/>
        </p:spPr>
        <p:txBody>
          <a:bodyPr wrap="square" anchor="t">
            <a:spAutoFit/>
          </a:bodyPr>
          <a:lstStyle/>
          <a:p>
            <a:pPr algn="l"/>
            <a:r>
              <a:rPr sz="1700" b="1">
                <a:solidFill>
                  <a:srgbClr val="141618"/>
                </a:solidFill>
                <a:latin typeface="Georgia"/>
              </a:rPr>
              <a:t>B — Competitive tracks</a:t>
            </a:r>
          </a:p>
        </p:txBody>
      </p:sp>
      <p:sp>
        <p:nvSpPr>
          <p:cNvPr id="12" name="TextBox 11"/>
          <p:cNvSpPr txBox="1"/>
          <p:nvPr/>
        </p:nvSpPr>
        <p:spPr>
          <a:xfrm>
            <a:off x="6492240" y="2286000"/>
            <a:ext cx="4754880" cy="3474720"/>
          </a:xfrm>
          <a:prstGeom prst="rect">
            <a:avLst/>
          </a:prstGeom>
          <a:noFill/>
        </p:spPr>
        <p:txBody>
          <a:bodyPr wrap="square">
            <a:spAutoFit/>
          </a:bodyPr>
          <a:lstStyle/>
          <a:p>
            <a:pPr algn="l">
              <a:spcAft>
                <a:spcPts val="800"/>
              </a:spcAft>
            </a:pPr>
            <a:r>
              <a:rPr sz="1500" b="0">
                <a:solidFill>
                  <a:srgbClr val="1A1C1E"/>
                </a:solidFill>
                <a:latin typeface="Calibri"/>
              </a:rPr>
              <a:t>•  Track A (Copilot-installed): snippet help → task completion + codebase workflow</a:t>
            </a:r>
          </a:p>
          <a:p>
            <a:pPr algn="l">
              <a:spcAft>
                <a:spcPts val="800"/>
              </a:spcAft>
            </a:pPr>
            <a:r>
              <a:rPr sz="1500" b="0">
                <a:solidFill>
                  <a:srgbClr val="1A1C1E"/>
                </a:solidFill>
                <a:latin typeface="Calibri"/>
              </a:rPr>
              <a:t>•  Track B (Claude Code pockets): neutrality + SDLC integration, not a model war</a:t>
            </a:r>
          </a:p>
          <a:p>
            <a:pPr algn="l">
              <a:spcAft>
                <a:spcPts val="800"/>
              </a:spcAft>
            </a:pPr>
            <a:r>
              <a:rPr sz="1500" b="0">
                <a:solidFill>
                  <a:srgbClr val="1A1C1E"/>
                </a:solidFill>
                <a:latin typeface="Calibri"/>
              </a:rPr>
              <a:t>•  Measure: positive replies, meetings, objection handling, opportunity acceptance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Day 60 outcomes + operating loops</a:t>
            </a:r>
          </a:p>
        </p:txBody>
      </p:sp>
      <p:sp>
        <p:nvSpPr>
          <p:cNvPr id="5" name="TextBox 4"/>
          <p:cNvSpPr txBox="1"/>
          <p:nvPr/>
        </p:nvSpPr>
        <p:spPr>
          <a:xfrm>
            <a:off x="777240" y="1417320"/>
            <a:ext cx="10515600" cy="4572000"/>
          </a:xfrm>
          <a:prstGeom prst="rect">
            <a:avLst/>
          </a:prstGeom>
          <a:noFill/>
        </p:spPr>
        <p:txBody>
          <a:bodyPr wrap="square">
            <a:spAutoFit/>
          </a:bodyPr>
          <a:lstStyle/>
          <a:p>
            <a:pPr algn="l">
              <a:spcAft>
                <a:spcPts val="1200"/>
              </a:spcAft>
            </a:pPr>
            <a:r>
              <a:rPr sz="1800" b="0">
                <a:solidFill>
                  <a:srgbClr val="1A1C1E"/>
                </a:solidFill>
                <a:latin typeface="Calibri"/>
              </a:rPr>
              <a:t>•  Baseline dashboard + clear “constraint of the month”</a:t>
            </a:r>
          </a:p>
          <a:p>
            <a:pPr algn="l">
              <a:spcAft>
                <a:spcPts val="1200"/>
              </a:spcAft>
            </a:pPr>
            <a:r>
              <a:rPr sz="1800" b="0">
                <a:solidFill>
                  <a:srgbClr val="1A1C1E"/>
                </a:solidFill>
                <a:latin typeface="Calibri"/>
              </a:rPr>
              <a:t>•  Experiments concluded with keep-or-kill decisions</a:t>
            </a:r>
          </a:p>
          <a:p>
            <a:pPr algn="l">
              <a:spcAft>
                <a:spcPts val="1200"/>
              </a:spcAft>
            </a:pPr>
            <a:r>
              <a:rPr sz="1800" b="0">
                <a:solidFill>
                  <a:srgbClr val="1A1C1E"/>
                </a:solidFill>
                <a:latin typeface="Calibri"/>
              </a:rPr>
              <a:t>•  Updated hiring bar for next SDR hires</a:t>
            </a:r>
          </a:p>
          <a:p>
            <a:pPr algn="l">
              <a:spcAft>
                <a:spcPts val="1200"/>
              </a:spcAft>
            </a:pPr>
            <a:r>
              <a:rPr sz="1800" b="0">
                <a:solidFill>
                  <a:srgbClr val="1A1C1E"/>
                </a:solidFill>
                <a:latin typeface="Calibri"/>
              </a:rPr>
              <a:t>•  Locked weekly coaching cadence + my own call floor (player-coach)</a:t>
            </a:r>
          </a:p>
          <a:p>
            <a:pPr algn="l">
              <a:spcAft>
                <a:spcPts val="1200"/>
              </a:spcAft>
            </a:pPr>
            <a:r>
              <a:rPr sz="1800" b="0">
                <a:solidFill>
                  <a:srgbClr val="1A1C1E"/>
                </a:solidFill>
                <a:latin typeface="Calibri"/>
              </a:rPr>
              <a:t>•  Weekly triangle with Growth + AE lead: what converted, what failed, one playbook update</a:t>
            </a:r>
          </a:p>
          <a:p>
            <a:pPr algn="l">
              <a:spcAft>
                <a:spcPts val="1200"/>
              </a:spcAft>
            </a:pPr>
            <a:r>
              <a:rPr sz="1800" b="0">
                <a:solidFill>
                  <a:srgbClr val="1A1C1E"/>
                </a:solidFill>
                <a:latin typeface="Calibri"/>
              </a:rPr>
              <a:t>•  Every change gets a metric owner and a review date — trains on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86000"/>
            <a:ext cx="128016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468880"/>
            <a:ext cx="10058400" cy="365760"/>
          </a:xfrm>
          <a:prstGeom prst="rect">
            <a:avLst/>
          </a:prstGeom>
          <a:noFill/>
        </p:spPr>
        <p:txBody>
          <a:bodyPr wrap="square" anchor="t">
            <a:spAutoFit/>
          </a:bodyPr>
          <a:lstStyle/>
          <a:p>
            <a:pPr algn="l"/>
            <a:r>
              <a:rPr sz="1400" b="1">
                <a:solidFill>
                  <a:srgbClr val="D6F26A"/>
                </a:solidFill>
                <a:latin typeface="Calibri"/>
              </a:rPr>
              <a:t>PART 2</a:t>
            </a:r>
          </a:p>
        </p:txBody>
      </p:sp>
      <p:sp>
        <p:nvSpPr>
          <p:cNvPr id="5" name="TextBox 4"/>
          <p:cNvSpPr txBox="1"/>
          <p:nvPr/>
        </p:nvSpPr>
        <p:spPr>
          <a:xfrm>
            <a:off x="777240" y="2926080"/>
            <a:ext cx="10515600" cy="1097280"/>
          </a:xfrm>
          <a:prstGeom prst="rect">
            <a:avLst/>
          </a:prstGeom>
          <a:noFill/>
        </p:spPr>
        <p:txBody>
          <a:bodyPr wrap="square" anchor="t">
            <a:spAutoFit/>
          </a:bodyPr>
          <a:lstStyle/>
          <a:p>
            <a:pPr algn="l"/>
            <a:r>
              <a:rPr sz="3200" b="1">
                <a:solidFill>
                  <a:srgbClr val="FFFFFF"/>
                </a:solidFill>
                <a:latin typeface="Georgia"/>
              </a:rPr>
              <a:t>Fundamentals — how I lead day to day as a player-coach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The ideal AI-era SDR</a:t>
            </a:r>
          </a:p>
        </p:txBody>
      </p:sp>
      <p:sp>
        <p:nvSpPr>
          <p:cNvPr id="5" name="TextBox 4"/>
          <p:cNvSpPr txBox="1"/>
          <p:nvPr/>
        </p:nvSpPr>
        <p:spPr>
          <a:xfrm>
            <a:off x="777240" y="1417320"/>
            <a:ext cx="10515600" cy="4572000"/>
          </a:xfrm>
          <a:prstGeom prst="rect">
            <a:avLst/>
          </a:prstGeom>
          <a:noFill/>
        </p:spPr>
        <p:txBody>
          <a:bodyPr wrap="square">
            <a:spAutoFit/>
          </a:bodyPr>
          <a:lstStyle/>
          <a:p>
            <a:pPr algn="l">
              <a:spcAft>
                <a:spcPts val="1200"/>
              </a:spcAft>
            </a:pPr>
            <a:r>
              <a:rPr sz="1800" b="0">
                <a:solidFill>
                  <a:srgbClr val="1A1C1E"/>
                </a:solidFill>
                <a:latin typeface="Calibri"/>
              </a:rPr>
              <a:t>•  Judgment — which account and persona deserve the dial</a:t>
            </a:r>
          </a:p>
          <a:p>
            <a:pPr algn="l">
              <a:spcAft>
                <a:spcPts val="1200"/>
              </a:spcAft>
            </a:pPr>
            <a:r>
              <a:rPr sz="1800" b="0">
                <a:solidFill>
                  <a:srgbClr val="1A1C1E"/>
                </a:solidFill>
                <a:latin typeface="Calibri"/>
              </a:rPr>
              <a:t>•  Relevance speed — earn 30 seconds with a technical buyer</a:t>
            </a:r>
          </a:p>
          <a:p>
            <a:pPr algn="l">
              <a:spcAft>
                <a:spcPts val="1200"/>
              </a:spcAft>
            </a:pPr>
            <a:r>
              <a:rPr sz="1800" b="0">
                <a:solidFill>
                  <a:srgbClr val="1A1C1E"/>
                </a:solidFill>
                <a:latin typeface="Calibri"/>
              </a:rPr>
              <a:t>•  Positioning fluency — workflow, context, execution, correct wedge</a:t>
            </a:r>
          </a:p>
          <a:p>
            <a:pPr algn="l">
              <a:spcAft>
                <a:spcPts val="1200"/>
              </a:spcAft>
            </a:pPr>
            <a:r>
              <a:rPr sz="1800" b="0">
                <a:solidFill>
                  <a:srgbClr val="1A1C1E"/>
                </a:solidFill>
                <a:latin typeface="Calibri"/>
              </a:rPr>
              <a:t>•  Competitive clarity — Copilot + Claude Code + Windsurf without trash talk</a:t>
            </a:r>
          </a:p>
          <a:p>
            <a:pPr algn="l">
              <a:spcAft>
                <a:spcPts val="1200"/>
              </a:spcAft>
            </a:pPr>
            <a:r>
              <a:rPr sz="1800" b="0">
                <a:solidFill>
                  <a:srgbClr val="1A1C1E"/>
                </a:solidFill>
                <a:latin typeface="Calibri"/>
              </a:rPr>
              <a:t>•  Security instincts — calm on Privacy Mode and enterprise controls</a:t>
            </a:r>
          </a:p>
          <a:p>
            <a:pPr algn="l">
              <a:spcAft>
                <a:spcPts val="1200"/>
              </a:spcAft>
            </a:pPr>
            <a:r>
              <a:rPr sz="1800" b="0">
                <a:solidFill>
                  <a:srgbClr val="1A1C1E"/>
                </a:solidFill>
                <a:latin typeface="Calibri"/>
              </a:rPr>
              <a:t>•  Execution discipline — trains on time</a:t>
            </a:r>
          </a:p>
          <a:p>
            <a:pPr algn="l">
              <a:spcAft>
                <a:spcPts val="1200"/>
              </a:spcAft>
            </a:pPr>
            <a:r>
              <a:rPr sz="1800" b="0">
                <a:solidFill>
                  <a:srgbClr val="1A1C1E"/>
                </a:solidFill>
                <a:latin typeface="Calibri"/>
              </a:rPr>
              <a:t>•  Bar: diagnose the buyer’s constraint and match Cursor to it — don’t recite features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Hiring + coaching</a:t>
            </a:r>
          </a:p>
        </p:txBody>
      </p:sp>
      <p:sp>
        <p:nvSpPr>
          <p:cNvPr id="5" name="Rectangle 4"/>
          <p:cNvSpPr/>
          <p:nvPr/>
        </p:nvSpPr>
        <p:spPr>
          <a:xfrm>
            <a:off x="594360" y="1325880"/>
            <a:ext cx="534924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554480"/>
            <a:ext cx="77724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4754880" cy="365760"/>
          </a:xfrm>
          <a:prstGeom prst="rect">
            <a:avLst/>
          </a:prstGeom>
          <a:noFill/>
        </p:spPr>
        <p:txBody>
          <a:bodyPr wrap="square" anchor="t">
            <a:spAutoFit/>
          </a:bodyPr>
          <a:lstStyle/>
          <a:p>
            <a:pPr algn="l"/>
            <a:r>
              <a:rPr sz="1700" b="1">
                <a:solidFill>
                  <a:srgbClr val="141618"/>
                </a:solidFill>
                <a:latin typeface="Georgia"/>
              </a:rPr>
              <a:t>Hiring bar</a:t>
            </a:r>
          </a:p>
        </p:txBody>
      </p:sp>
      <p:sp>
        <p:nvSpPr>
          <p:cNvPr id="8" name="TextBox 7"/>
          <p:cNvSpPr txBox="1"/>
          <p:nvPr/>
        </p:nvSpPr>
        <p:spPr>
          <a:xfrm>
            <a:off x="868680" y="2286000"/>
            <a:ext cx="4754880" cy="3474720"/>
          </a:xfrm>
          <a:prstGeom prst="rect">
            <a:avLst/>
          </a:prstGeom>
          <a:noFill/>
        </p:spPr>
        <p:txBody>
          <a:bodyPr wrap="square">
            <a:spAutoFit/>
          </a:bodyPr>
          <a:lstStyle/>
          <a:p>
            <a:pPr algn="l">
              <a:spcAft>
                <a:spcPts val="800"/>
              </a:spcAft>
            </a:pPr>
            <a:r>
              <a:rPr sz="1500" b="0">
                <a:solidFill>
                  <a:srgbClr val="1A1C1E"/>
                </a:solidFill>
                <a:latin typeface="Calibri"/>
              </a:rPr>
              <a:t>•  Coachable, clear communicators, curious about technical buyers, process discipline, learn fast</a:t>
            </a:r>
          </a:p>
          <a:p>
            <a:pPr algn="l">
              <a:spcAft>
                <a:spcPts val="800"/>
              </a:spcAft>
            </a:pPr>
            <a:r>
              <a:rPr sz="1500" b="0">
                <a:solidFill>
                  <a:srgbClr val="1A1C1E"/>
                </a:solidFill>
                <a:latin typeface="Calibri"/>
              </a:rPr>
              <a:t>•  Hard nos: feature dumpers, activity theater, can’t take critique, overclaim the product</a:t>
            </a:r>
          </a:p>
          <a:p>
            <a:pPr algn="l">
              <a:spcAft>
                <a:spcPts val="800"/>
              </a:spcAft>
            </a:pPr>
            <a:r>
              <a:rPr sz="1500" b="0">
                <a:solidFill>
                  <a:srgbClr val="1A1C1E"/>
                </a:solidFill>
                <a:latin typeface="Calibri"/>
              </a:rPr>
              <a:t>•  Assess: mock call (VP Eng / Platform), Copilot + Claude Code objections, 60-sec Cursor pitch, soft security question</a:t>
            </a:r>
          </a:p>
        </p:txBody>
      </p:sp>
      <p:sp>
        <p:nvSpPr>
          <p:cNvPr id="9" name="Rectangle 8"/>
          <p:cNvSpPr/>
          <p:nvPr/>
        </p:nvSpPr>
        <p:spPr>
          <a:xfrm>
            <a:off x="6217920" y="1325880"/>
            <a:ext cx="534924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1554480"/>
            <a:ext cx="77724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83080"/>
            <a:ext cx="4754880" cy="365760"/>
          </a:xfrm>
          <a:prstGeom prst="rect">
            <a:avLst/>
          </a:prstGeom>
          <a:noFill/>
        </p:spPr>
        <p:txBody>
          <a:bodyPr wrap="square" anchor="t">
            <a:spAutoFit/>
          </a:bodyPr>
          <a:lstStyle/>
          <a:p>
            <a:pPr algn="l"/>
            <a:r>
              <a:rPr sz="1700" b="1">
                <a:solidFill>
                  <a:srgbClr val="141618"/>
                </a:solidFill>
                <a:latin typeface="Georgia"/>
              </a:rPr>
              <a:t>Coaching system</a:t>
            </a:r>
          </a:p>
        </p:txBody>
      </p:sp>
      <p:sp>
        <p:nvSpPr>
          <p:cNvPr id="12" name="TextBox 11"/>
          <p:cNvSpPr txBox="1"/>
          <p:nvPr/>
        </p:nvSpPr>
        <p:spPr>
          <a:xfrm>
            <a:off x="6492240" y="2286000"/>
            <a:ext cx="4754880" cy="3474720"/>
          </a:xfrm>
          <a:prstGeom prst="rect">
            <a:avLst/>
          </a:prstGeom>
          <a:noFill/>
        </p:spPr>
        <p:txBody>
          <a:bodyPr wrap="square">
            <a:spAutoFit/>
          </a:bodyPr>
          <a:lstStyle/>
          <a:p>
            <a:pPr algn="l">
              <a:spcAft>
                <a:spcPts val="800"/>
              </a:spcAft>
            </a:pPr>
            <a:r>
              <a:rPr sz="1500" b="0">
                <a:solidFill>
                  <a:srgbClr val="1A1C1E"/>
                </a:solidFill>
                <a:latin typeface="Calibri"/>
              </a:rPr>
              <a:t>•  Daily scoreboard + same-day course-correction</a:t>
            </a:r>
          </a:p>
          <a:p>
            <a:pPr algn="l">
              <a:spcAft>
                <a:spcPts val="800"/>
              </a:spcAft>
            </a:pPr>
            <a:r>
              <a:rPr sz="1500" b="0">
                <a:solidFill>
                  <a:srgbClr val="1A1C1E"/>
                </a:solidFill>
                <a:latin typeface="Calibri"/>
              </a:rPr>
              <a:t>•  Weekly 1:1s — one funnel leak only</a:t>
            </a:r>
          </a:p>
          <a:p>
            <a:pPr algn="l">
              <a:spcAft>
                <a:spcPts val="800"/>
              </a:spcAft>
            </a:pPr>
            <a:r>
              <a:rPr sz="1500" b="0">
                <a:solidFill>
                  <a:srgbClr val="1A1C1E"/>
                </a:solidFill>
                <a:latin typeface="Calibri"/>
              </a:rPr>
              <a:t>•  Weekly team: one win wire + one talk-track upgrade</a:t>
            </a:r>
          </a:p>
          <a:p>
            <a:pPr algn="l">
              <a:spcAft>
                <a:spcPts val="800"/>
              </a:spcAft>
            </a:pPr>
            <a:r>
              <a:rPr sz="1500" b="0">
                <a:solidFill>
                  <a:srgbClr val="1A1C1E"/>
                </a:solidFill>
                <a:latin typeface="Calibri"/>
              </a:rPr>
              <a:t>•  Call reviews: opener, wedge, competitive frame, clean ask</a:t>
            </a:r>
          </a:p>
          <a:p>
            <a:pPr algn="l">
              <a:spcAft>
                <a:spcPts val="800"/>
              </a:spcAft>
            </a:pPr>
            <a:r>
              <a:rPr sz="1500" b="0">
                <a:solidFill>
                  <a:srgbClr val="1A1C1E"/>
                </a:solidFill>
                <a:latin typeface="Calibri"/>
              </a:rPr>
              <a:t>•  Underperformance = stage diagnosis + skill plan + timeline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86000"/>
            <a:ext cx="128016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468880"/>
            <a:ext cx="10058400" cy="365760"/>
          </a:xfrm>
          <a:prstGeom prst="rect">
            <a:avLst/>
          </a:prstGeom>
          <a:noFill/>
        </p:spPr>
        <p:txBody>
          <a:bodyPr wrap="square" anchor="t">
            <a:spAutoFit/>
          </a:bodyPr>
          <a:lstStyle/>
          <a:p>
            <a:pPr algn="l"/>
            <a:r>
              <a:rPr sz="1400" b="1">
                <a:solidFill>
                  <a:srgbClr val="D6F26A"/>
                </a:solidFill>
                <a:latin typeface="Calibri"/>
              </a:rPr>
              <a:t>PART 3</a:t>
            </a:r>
          </a:p>
        </p:txBody>
      </p:sp>
      <p:sp>
        <p:nvSpPr>
          <p:cNvPr id="5" name="TextBox 4"/>
          <p:cNvSpPr txBox="1"/>
          <p:nvPr/>
        </p:nvSpPr>
        <p:spPr>
          <a:xfrm>
            <a:off x="777240" y="2926080"/>
            <a:ext cx="10515600" cy="1097280"/>
          </a:xfrm>
          <a:prstGeom prst="rect">
            <a:avLst/>
          </a:prstGeom>
          <a:noFill/>
        </p:spPr>
        <p:txBody>
          <a:bodyPr wrap="square" anchor="t">
            <a:spAutoFit/>
          </a:bodyPr>
          <a:lstStyle/>
          <a:p>
            <a:pPr algn="l"/>
            <a:r>
              <a:rPr sz="3200" b="1">
                <a:solidFill>
                  <a:srgbClr val="FFFFFF"/>
                </a:solidFill>
                <a:latin typeface="Georgia"/>
              </a:rPr>
              <a:t>Craft and curiosity — happy to go live 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Live pitch spine: open → position → wedge → ask</a:t>
            </a:r>
          </a:p>
        </p:txBody>
      </p:sp>
      <p:sp>
        <p:nvSpPr>
          <p:cNvPr id="5" name="TextBox 4"/>
          <p:cNvSpPr txBox="1"/>
          <p:nvPr/>
        </p:nvSpPr>
        <p:spPr>
          <a:xfrm>
            <a:off x="777240" y="1325880"/>
            <a:ext cx="640080" cy="320040"/>
          </a:xfrm>
          <a:prstGeom prst="rect">
            <a:avLst/>
          </a:prstGeom>
          <a:noFill/>
        </p:spPr>
        <p:txBody>
          <a:bodyPr wrap="square" anchor="t">
            <a:spAutoFit/>
          </a:bodyPr>
          <a:lstStyle/>
          <a:p>
            <a:pPr algn="l"/>
            <a:r>
              <a:rPr sz="1700" b="1">
                <a:solidFill>
                  <a:srgbClr val="141618"/>
                </a:solidFill>
                <a:latin typeface="Georgia"/>
              </a:rPr>
              <a:t>01</a:t>
            </a:r>
          </a:p>
        </p:txBody>
      </p:sp>
      <p:sp>
        <p:nvSpPr>
          <p:cNvPr id="6" name="TextBox 5"/>
          <p:cNvSpPr txBox="1"/>
          <p:nvPr/>
        </p:nvSpPr>
        <p:spPr>
          <a:xfrm>
            <a:off x="1417320" y="1325880"/>
            <a:ext cx="9875520" cy="292608"/>
          </a:xfrm>
          <a:prstGeom prst="rect">
            <a:avLst/>
          </a:prstGeom>
          <a:noFill/>
        </p:spPr>
        <p:txBody>
          <a:bodyPr wrap="square" anchor="t">
            <a:spAutoFit/>
          </a:bodyPr>
          <a:lstStyle/>
          <a:p>
            <a:pPr algn="l"/>
            <a:r>
              <a:rPr sz="1600" b="1">
                <a:solidFill>
                  <a:srgbClr val="141618"/>
                </a:solidFill>
                <a:latin typeface="Calibri"/>
              </a:rPr>
              <a:t>Open</a:t>
            </a:r>
          </a:p>
        </p:txBody>
      </p:sp>
      <p:sp>
        <p:nvSpPr>
          <p:cNvPr id="7" name="TextBox 6"/>
          <p:cNvSpPr txBox="1"/>
          <p:nvPr/>
        </p:nvSpPr>
        <p:spPr>
          <a:xfrm>
            <a:off x="1417320" y="1618488"/>
            <a:ext cx="9875520" cy="457200"/>
          </a:xfrm>
          <a:prstGeom prst="rect">
            <a:avLst/>
          </a:prstGeom>
          <a:noFill/>
        </p:spPr>
        <p:txBody>
          <a:bodyPr wrap="square" anchor="t">
            <a:spAutoFit/>
          </a:bodyPr>
          <a:lstStyle/>
          <a:p>
            <a:pPr algn="l"/>
            <a:r>
              <a:rPr sz="1400" b="0">
                <a:solidFill>
                  <a:srgbClr val="5E646B"/>
                </a:solidFill>
                <a:latin typeface="Calibri"/>
              </a:rPr>
              <a:t>From AI that helps write snippets → AI that helps complete work across the codebase.</a:t>
            </a:r>
          </a:p>
        </p:txBody>
      </p:sp>
      <p:sp>
        <p:nvSpPr>
          <p:cNvPr id="8" name="TextBox 7"/>
          <p:cNvSpPr txBox="1"/>
          <p:nvPr/>
        </p:nvSpPr>
        <p:spPr>
          <a:xfrm>
            <a:off x="777240" y="2377440"/>
            <a:ext cx="640080" cy="320040"/>
          </a:xfrm>
          <a:prstGeom prst="rect">
            <a:avLst/>
          </a:prstGeom>
          <a:noFill/>
        </p:spPr>
        <p:txBody>
          <a:bodyPr wrap="square" anchor="t">
            <a:spAutoFit/>
          </a:bodyPr>
          <a:lstStyle/>
          <a:p>
            <a:pPr algn="l"/>
            <a:r>
              <a:rPr sz="1700" b="1">
                <a:solidFill>
                  <a:srgbClr val="141618"/>
                </a:solidFill>
                <a:latin typeface="Georgia"/>
              </a:rPr>
              <a:t>02</a:t>
            </a:r>
          </a:p>
        </p:txBody>
      </p:sp>
      <p:sp>
        <p:nvSpPr>
          <p:cNvPr id="9" name="TextBox 8"/>
          <p:cNvSpPr txBox="1"/>
          <p:nvPr/>
        </p:nvSpPr>
        <p:spPr>
          <a:xfrm>
            <a:off x="1417320" y="2377440"/>
            <a:ext cx="9875520" cy="292608"/>
          </a:xfrm>
          <a:prstGeom prst="rect">
            <a:avLst/>
          </a:prstGeom>
          <a:noFill/>
        </p:spPr>
        <p:txBody>
          <a:bodyPr wrap="square" anchor="t">
            <a:spAutoFit/>
          </a:bodyPr>
          <a:lstStyle/>
          <a:p>
            <a:pPr algn="l"/>
            <a:r>
              <a:rPr sz="1600" b="1">
                <a:solidFill>
                  <a:srgbClr val="141618"/>
                </a:solidFill>
                <a:latin typeface="Calibri"/>
              </a:rPr>
              <a:t>Position</a:t>
            </a:r>
          </a:p>
        </p:txBody>
      </p:sp>
      <p:sp>
        <p:nvSpPr>
          <p:cNvPr id="10" name="TextBox 9"/>
          <p:cNvSpPr txBox="1"/>
          <p:nvPr/>
        </p:nvSpPr>
        <p:spPr>
          <a:xfrm>
            <a:off x="1417320" y="2670048"/>
            <a:ext cx="9875520" cy="457200"/>
          </a:xfrm>
          <a:prstGeom prst="rect">
            <a:avLst/>
          </a:prstGeom>
          <a:noFill/>
        </p:spPr>
        <p:txBody>
          <a:bodyPr wrap="square" anchor="t">
            <a:spAutoFit/>
          </a:bodyPr>
          <a:lstStyle/>
          <a:p>
            <a:pPr algn="l"/>
            <a:r>
              <a:rPr sz="1400" b="0">
                <a:solidFill>
                  <a:srgbClr val="5E646B"/>
                </a:solidFill>
                <a:latin typeface="Calibri"/>
              </a:rPr>
              <a:t>Agentic coding platform across IDE, CLI, Automations, Cloud Agents — shared AI layer on your codebase.</a:t>
            </a:r>
          </a:p>
        </p:txBody>
      </p:sp>
      <p:sp>
        <p:nvSpPr>
          <p:cNvPr id="11" name="TextBox 10"/>
          <p:cNvSpPr txBox="1"/>
          <p:nvPr/>
        </p:nvSpPr>
        <p:spPr>
          <a:xfrm>
            <a:off x="777240" y="3429000"/>
            <a:ext cx="640080" cy="320040"/>
          </a:xfrm>
          <a:prstGeom prst="rect">
            <a:avLst/>
          </a:prstGeom>
          <a:noFill/>
        </p:spPr>
        <p:txBody>
          <a:bodyPr wrap="square" anchor="t">
            <a:spAutoFit/>
          </a:bodyPr>
          <a:lstStyle/>
          <a:p>
            <a:pPr algn="l"/>
            <a:r>
              <a:rPr sz="1700" b="1">
                <a:solidFill>
                  <a:srgbClr val="141618"/>
                </a:solidFill>
                <a:latin typeface="Georgia"/>
              </a:rPr>
              <a:t>03</a:t>
            </a:r>
          </a:p>
        </p:txBody>
      </p:sp>
      <p:sp>
        <p:nvSpPr>
          <p:cNvPr id="12" name="TextBox 11"/>
          <p:cNvSpPr txBox="1"/>
          <p:nvPr/>
        </p:nvSpPr>
        <p:spPr>
          <a:xfrm>
            <a:off x="1417320" y="3429000"/>
            <a:ext cx="9875520" cy="292608"/>
          </a:xfrm>
          <a:prstGeom prst="rect">
            <a:avLst/>
          </a:prstGeom>
          <a:noFill/>
        </p:spPr>
        <p:txBody>
          <a:bodyPr wrap="square" anchor="t">
            <a:spAutoFit/>
          </a:bodyPr>
          <a:lstStyle/>
          <a:p>
            <a:pPr algn="l"/>
            <a:r>
              <a:rPr sz="1600" b="1">
                <a:solidFill>
                  <a:srgbClr val="141618"/>
                </a:solidFill>
                <a:latin typeface="Calibri"/>
              </a:rPr>
              <a:t>Wedge</a:t>
            </a:r>
          </a:p>
        </p:txBody>
      </p:sp>
      <p:sp>
        <p:nvSpPr>
          <p:cNvPr id="13" name="TextBox 12"/>
          <p:cNvSpPr txBox="1"/>
          <p:nvPr/>
        </p:nvSpPr>
        <p:spPr>
          <a:xfrm>
            <a:off x="1417320" y="3721608"/>
            <a:ext cx="9875520" cy="457200"/>
          </a:xfrm>
          <a:prstGeom prst="rect">
            <a:avLst/>
          </a:prstGeom>
          <a:noFill/>
        </p:spPr>
        <p:txBody>
          <a:bodyPr wrap="square" anchor="t">
            <a:spAutoFit/>
          </a:bodyPr>
          <a:lstStyle/>
          <a:p>
            <a:pPr algn="l"/>
            <a:r>
              <a:rPr sz="1400" b="0">
                <a:solidFill>
                  <a:srgbClr val="5E646B"/>
                </a:solidFill>
                <a:latin typeface="Calibri"/>
              </a:rPr>
              <a:t>Pick one differentiator based on what you heard.</a:t>
            </a:r>
          </a:p>
        </p:txBody>
      </p:sp>
      <p:sp>
        <p:nvSpPr>
          <p:cNvPr id="14" name="TextBox 13"/>
          <p:cNvSpPr txBox="1"/>
          <p:nvPr/>
        </p:nvSpPr>
        <p:spPr>
          <a:xfrm>
            <a:off x="777240" y="4480560"/>
            <a:ext cx="640080" cy="320040"/>
          </a:xfrm>
          <a:prstGeom prst="rect">
            <a:avLst/>
          </a:prstGeom>
          <a:noFill/>
        </p:spPr>
        <p:txBody>
          <a:bodyPr wrap="square" anchor="t">
            <a:spAutoFit/>
          </a:bodyPr>
          <a:lstStyle/>
          <a:p>
            <a:pPr algn="l"/>
            <a:r>
              <a:rPr sz="1700" b="1">
                <a:solidFill>
                  <a:srgbClr val="141618"/>
                </a:solidFill>
                <a:latin typeface="Georgia"/>
              </a:rPr>
              <a:t>04</a:t>
            </a:r>
          </a:p>
        </p:txBody>
      </p:sp>
      <p:sp>
        <p:nvSpPr>
          <p:cNvPr id="15" name="TextBox 14"/>
          <p:cNvSpPr txBox="1"/>
          <p:nvPr/>
        </p:nvSpPr>
        <p:spPr>
          <a:xfrm>
            <a:off x="1417320" y="4480560"/>
            <a:ext cx="9875520" cy="292608"/>
          </a:xfrm>
          <a:prstGeom prst="rect">
            <a:avLst/>
          </a:prstGeom>
          <a:noFill/>
        </p:spPr>
        <p:txBody>
          <a:bodyPr wrap="square" anchor="t">
            <a:spAutoFit/>
          </a:bodyPr>
          <a:lstStyle/>
          <a:p>
            <a:pPr algn="l"/>
            <a:r>
              <a:rPr sz="1600" b="1">
                <a:solidFill>
                  <a:srgbClr val="141618"/>
                </a:solidFill>
                <a:latin typeface="Calibri"/>
              </a:rPr>
              <a:t>Ask</a:t>
            </a:r>
          </a:p>
        </p:txBody>
      </p:sp>
      <p:sp>
        <p:nvSpPr>
          <p:cNvPr id="16" name="TextBox 15"/>
          <p:cNvSpPr txBox="1"/>
          <p:nvPr/>
        </p:nvSpPr>
        <p:spPr>
          <a:xfrm>
            <a:off x="1417320" y="4773168"/>
            <a:ext cx="9875520" cy="457200"/>
          </a:xfrm>
          <a:prstGeom prst="rect">
            <a:avLst/>
          </a:prstGeom>
          <a:noFill/>
        </p:spPr>
        <p:txBody>
          <a:bodyPr wrap="square" anchor="t">
            <a:spAutoFit/>
          </a:bodyPr>
          <a:lstStyle/>
          <a:p>
            <a:pPr algn="l"/>
            <a:r>
              <a:rPr sz="1400" b="0">
                <a:solidFill>
                  <a:srgbClr val="5E646B"/>
                </a:solidFill>
                <a:latin typeface="Calibri"/>
              </a:rPr>
              <a:t>Worth 20 minutes to map leverage vs where workflow still breaks — write, review, or ship?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Cutting through noise — persona-true outreach</a:t>
            </a:r>
          </a:p>
        </p:txBody>
      </p:sp>
      <p:sp>
        <p:nvSpPr>
          <p:cNvPr id="5" name="TextBox 4"/>
          <p:cNvSpPr txBox="1"/>
          <p:nvPr/>
        </p:nvSpPr>
        <p:spPr>
          <a:xfrm>
            <a:off x="777240" y="1417320"/>
            <a:ext cx="10515600" cy="4572000"/>
          </a:xfrm>
          <a:prstGeom prst="rect">
            <a:avLst/>
          </a:prstGeom>
          <a:noFill/>
        </p:spPr>
        <p:txBody>
          <a:bodyPr wrap="square">
            <a:spAutoFit/>
          </a:bodyPr>
          <a:lstStyle/>
          <a:p>
            <a:pPr algn="l">
              <a:spcAft>
                <a:spcPts val="1200"/>
              </a:spcAft>
            </a:pPr>
            <a:r>
              <a:rPr sz="1600" b="0">
                <a:solidFill>
                  <a:srgbClr val="1A1C1E"/>
                </a:solidFill>
                <a:latin typeface="Calibri"/>
              </a:rPr>
              <a:t>•  Hands-on developer: real-repo context + daily workflow (avoid corporate ROI theater)</a:t>
            </a:r>
          </a:p>
          <a:p>
            <a:pPr algn="l">
              <a:spcAft>
                <a:spcPts val="1200"/>
              </a:spcAft>
            </a:pPr>
            <a:r>
              <a:rPr sz="1600" b="0">
                <a:solidFill>
                  <a:srgbClr val="1A1C1E"/>
                </a:solidFill>
                <a:latin typeface="Calibri"/>
              </a:rPr>
              <a:t>•  VP of Engineering: shared AI layer, SDLC speed, standardizing teams (avoid feature laundry lists)</a:t>
            </a:r>
          </a:p>
          <a:p>
            <a:pPr algn="l">
              <a:spcAft>
                <a:spcPts val="1200"/>
              </a:spcAft>
            </a:pPr>
            <a:r>
              <a:rPr sz="1600" b="0">
                <a:solidFill>
                  <a:srgbClr val="1A1C1E"/>
                </a:solidFill>
                <a:latin typeface="Calibri"/>
              </a:rPr>
              <a:t>•  Security / Platform: Privacy Mode, admin controls, governed rollout (avoid hype)</a:t>
            </a:r>
          </a:p>
          <a:p>
            <a:pPr algn="l">
              <a:spcAft>
                <a:spcPts val="1200"/>
              </a:spcAft>
            </a:pPr>
            <a:r>
              <a:rPr sz="1600" b="0">
                <a:solidFill>
                  <a:srgbClr val="1A1C1E"/>
                </a:solidFill>
                <a:latin typeface="Calibri"/>
              </a:rPr>
              <a:t>•  What works: trigger-based relevance (Copilot sprawl, AI policy, migrations, DevEx) + one sharp question</a:t>
            </a:r>
          </a:p>
          <a:p>
            <a:pPr algn="l">
              <a:spcAft>
                <a:spcPts val="1200"/>
              </a:spcAft>
            </a:pPr>
            <a:r>
              <a:rPr sz="1600" b="0">
                <a:solidFill>
                  <a:srgbClr val="1A1C1E"/>
                </a:solidFill>
                <a:latin typeface="Calibri"/>
              </a:rPr>
              <a:t>•  What fails: generic “quick chat” spam and fake personalization</a:t>
            </a:r>
          </a:p>
          <a:p>
            <a:pPr algn="l">
              <a:spcAft>
                <a:spcPts val="1200"/>
              </a:spcAft>
            </a:pPr>
            <a:r>
              <a:rPr sz="1600" b="0">
                <a:solidFill>
                  <a:srgbClr val="1A1C1E"/>
                </a:solidFill>
                <a:latin typeface="Calibri"/>
              </a:rPr>
              <a:t>•  Proof to arm reps: Coinbase (agent-first), Stripe (rollout), PayPal (enterprise velocity)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Why we win — competition differentiation</a:t>
            </a:r>
          </a:p>
        </p:txBody>
      </p:sp>
      <p:sp>
        <p:nvSpPr>
          <p:cNvPr id="5" name="Rectangle 4"/>
          <p:cNvSpPr/>
          <p:nvPr/>
        </p:nvSpPr>
        <p:spPr>
          <a:xfrm>
            <a:off x="502920" y="1234440"/>
            <a:ext cx="11109960" cy="73152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25880"/>
            <a:ext cx="10698480" cy="548640"/>
          </a:xfrm>
          <a:prstGeom prst="rect">
            <a:avLst/>
          </a:prstGeom>
          <a:noFill/>
        </p:spPr>
        <p:txBody>
          <a:bodyPr wrap="square" anchor="t">
            <a:spAutoFit/>
          </a:bodyPr>
          <a:lstStyle/>
          <a:p>
            <a:pPr algn="l"/>
            <a:r>
              <a:rPr sz="1300" b="0">
                <a:solidFill>
                  <a:srgbClr val="E8EAE4"/>
                </a:solidFill>
                <a:latin typeface="Calibri"/>
              </a:rPr>
              <a:t>We don’t win by claiming exclusive smarter intelligence forever. We win by applying intelligence better — workflow, codebase context, integrated SDLC — with model neutrality.</a:t>
            </a:r>
          </a:p>
        </p:txBody>
      </p:sp>
      <p:sp>
        <p:nvSpPr>
          <p:cNvPr id="7" name="Rectangle 6"/>
          <p:cNvSpPr/>
          <p:nvPr/>
        </p:nvSpPr>
        <p:spPr>
          <a:xfrm>
            <a:off x="502920" y="2148840"/>
            <a:ext cx="274320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148840"/>
            <a:ext cx="2743200" cy="45720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212848"/>
            <a:ext cx="2514600" cy="347472"/>
          </a:xfrm>
          <a:prstGeom prst="rect">
            <a:avLst/>
          </a:prstGeom>
          <a:noFill/>
        </p:spPr>
        <p:txBody>
          <a:bodyPr wrap="square" anchor="t">
            <a:spAutoFit/>
          </a:bodyPr>
          <a:lstStyle/>
          <a:p>
            <a:pPr algn="l"/>
            <a:r>
              <a:rPr sz="1200" b="1">
                <a:solidFill>
                  <a:srgbClr val="D6F26A"/>
                </a:solidFill>
                <a:latin typeface="Georgia"/>
              </a:rPr>
              <a:t>Cursor</a:t>
            </a:r>
          </a:p>
        </p:txBody>
      </p:sp>
      <p:sp>
        <p:nvSpPr>
          <p:cNvPr id="10" name="TextBox 9"/>
          <p:cNvSpPr txBox="1"/>
          <p:nvPr/>
        </p:nvSpPr>
        <p:spPr>
          <a:xfrm>
            <a:off x="612648" y="2788920"/>
            <a:ext cx="2514600" cy="3017520"/>
          </a:xfrm>
          <a:prstGeom prst="rect">
            <a:avLst/>
          </a:prstGeom>
          <a:noFill/>
        </p:spPr>
        <p:txBody>
          <a:bodyPr wrap="square">
            <a:spAutoFit/>
          </a:bodyPr>
          <a:lstStyle/>
          <a:p>
            <a:pPr algn="l">
              <a:spcAft>
                <a:spcPts val="500"/>
              </a:spcAft>
            </a:pPr>
            <a:r>
              <a:rPr sz="1100" b="0">
                <a:solidFill>
                  <a:srgbClr val="1A1C1E"/>
                </a:solidFill>
                <a:latin typeface="Calibri"/>
              </a:rPr>
              <a:t>•  AI-native IDE + enterprise platform</a:t>
            </a:r>
          </a:p>
          <a:p>
            <a:pPr algn="l">
              <a:spcAft>
                <a:spcPts val="500"/>
              </a:spcAft>
            </a:pPr>
            <a:r>
              <a:rPr sz="1100" b="0">
                <a:solidFill>
                  <a:srgbClr val="1A1C1E"/>
                </a:solidFill>
                <a:latin typeface="Calibri"/>
              </a:rPr>
              <a:t>•  Snippet help → task completion</a:t>
            </a:r>
          </a:p>
          <a:p>
            <a:pPr algn="l">
              <a:spcAft>
                <a:spcPts val="500"/>
              </a:spcAft>
            </a:pPr>
            <a:r>
              <a:rPr sz="1100" b="0">
                <a:solidFill>
                  <a:srgbClr val="1A1C1E"/>
                </a:solidFill>
                <a:latin typeface="Calibri"/>
              </a:rPr>
              <a:t>•  Shared AI layer on the codebase</a:t>
            </a:r>
          </a:p>
          <a:p>
            <a:pPr algn="l">
              <a:spcAft>
                <a:spcPts val="500"/>
              </a:spcAft>
            </a:pPr>
            <a:r>
              <a:rPr sz="1100" b="0">
                <a:solidFill>
                  <a:srgbClr val="1A1C1E"/>
                </a:solidFill>
                <a:latin typeface="Calibri"/>
              </a:rPr>
              <a:t>•  IDE · CLI · Automations · Cloud Agents</a:t>
            </a:r>
          </a:p>
          <a:p>
            <a:pPr algn="l">
              <a:spcAft>
                <a:spcPts val="500"/>
              </a:spcAft>
            </a:pPr>
            <a:r>
              <a:rPr sz="1100" b="0">
                <a:solidFill>
                  <a:srgbClr val="1A1C1E"/>
                </a:solidFill>
                <a:latin typeface="Calibri"/>
              </a:rPr>
              <a:t>•  Multi-model + Composer path</a:t>
            </a:r>
          </a:p>
          <a:p>
            <a:pPr algn="l">
              <a:spcAft>
                <a:spcPts val="500"/>
              </a:spcAft>
            </a:pPr>
            <a:r>
              <a:rPr sz="1100" b="0">
                <a:solidFill>
                  <a:srgbClr val="1A1C1E"/>
                </a:solidFill>
                <a:latin typeface="Calibri"/>
              </a:rPr>
              <a:t>•  Bugbot / review clears PR bottleneck</a:t>
            </a:r>
          </a:p>
        </p:txBody>
      </p:sp>
      <p:sp>
        <p:nvSpPr>
          <p:cNvPr id="11" name="Rectangle 10"/>
          <p:cNvSpPr/>
          <p:nvPr/>
        </p:nvSpPr>
        <p:spPr>
          <a:xfrm>
            <a:off x="3383280" y="2148840"/>
            <a:ext cx="274320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2148840"/>
            <a:ext cx="2743200" cy="457200"/>
          </a:xfrm>
          <a:prstGeom prst="rect">
            <a:avLst/>
          </a:prstGeom>
          <a:solidFill>
            <a:srgbClr val="2A2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8" y="2212848"/>
            <a:ext cx="2514600" cy="347472"/>
          </a:xfrm>
          <a:prstGeom prst="rect">
            <a:avLst/>
          </a:prstGeom>
          <a:noFill/>
        </p:spPr>
        <p:txBody>
          <a:bodyPr wrap="square" anchor="t">
            <a:spAutoFit/>
          </a:bodyPr>
          <a:lstStyle/>
          <a:p>
            <a:pPr algn="l"/>
            <a:r>
              <a:rPr sz="1200" b="1">
                <a:solidFill>
                  <a:srgbClr val="FFFFFF"/>
                </a:solidFill>
                <a:latin typeface="Georgia"/>
              </a:rPr>
              <a:t>vs GitHub Copilot</a:t>
            </a:r>
          </a:p>
        </p:txBody>
      </p:sp>
      <p:sp>
        <p:nvSpPr>
          <p:cNvPr id="14" name="TextBox 13"/>
          <p:cNvSpPr txBox="1"/>
          <p:nvPr/>
        </p:nvSpPr>
        <p:spPr>
          <a:xfrm>
            <a:off x="3493008" y="2788920"/>
            <a:ext cx="2514600" cy="3017520"/>
          </a:xfrm>
          <a:prstGeom prst="rect">
            <a:avLst/>
          </a:prstGeom>
          <a:noFill/>
        </p:spPr>
        <p:txBody>
          <a:bodyPr wrap="square">
            <a:spAutoFit/>
          </a:bodyPr>
          <a:lstStyle/>
          <a:p>
            <a:pPr algn="l">
              <a:spcAft>
                <a:spcPts val="500"/>
              </a:spcAft>
            </a:pPr>
            <a:r>
              <a:rPr sz="1100" b="0">
                <a:solidFill>
                  <a:srgbClr val="1A1C1E"/>
                </a:solidFill>
                <a:latin typeface="Calibri"/>
              </a:rPr>
              <a:t>•  Helps developers write faster</a:t>
            </a:r>
          </a:p>
          <a:p>
            <a:pPr algn="l">
              <a:spcAft>
                <a:spcPts val="500"/>
              </a:spcAft>
            </a:pPr>
            <a:r>
              <a:rPr sz="1100" b="0">
                <a:solidFill>
                  <a:srgbClr val="1A1C1E"/>
                </a:solidFill>
                <a:latin typeface="Calibri"/>
              </a:rPr>
              <a:t>•  Often felt as local / snippet help</a:t>
            </a:r>
          </a:p>
          <a:p>
            <a:pPr algn="l">
              <a:spcAft>
                <a:spcPts val="500"/>
              </a:spcAft>
            </a:pPr>
            <a:r>
              <a:rPr sz="1100" b="0">
                <a:solidFill>
                  <a:srgbClr val="1A1C1E"/>
                </a:solidFill>
                <a:latin typeface="Calibri"/>
              </a:rPr>
              <a:t>•  Wins: GitHub ecosystem + friction</a:t>
            </a:r>
          </a:p>
          <a:p>
            <a:pPr algn="l">
              <a:spcAft>
                <a:spcPts val="500"/>
              </a:spcAft>
            </a:pPr>
            <a:r>
              <a:rPr sz="1100" b="0">
                <a:solidFill>
                  <a:srgbClr val="1A1C1E"/>
                </a:solidFill>
                <a:latin typeface="Calibri"/>
              </a:rPr>
              <a:t>•  Our move: task completion</a:t>
            </a:r>
          </a:p>
          <a:p>
            <a:pPr algn="l">
              <a:spcAft>
                <a:spcPts val="500"/>
              </a:spcAft>
            </a:pPr>
            <a:r>
              <a:rPr sz="1100" b="0">
                <a:solidFill>
                  <a:srgbClr val="1A1C1E"/>
                </a:solidFill>
                <a:latin typeface="Calibri"/>
              </a:rPr>
              <a:t>•  Our move: broader codebase context</a:t>
            </a:r>
          </a:p>
          <a:p>
            <a:pPr algn="l">
              <a:spcAft>
                <a:spcPts val="500"/>
              </a:spcAft>
            </a:pPr>
            <a:r>
              <a:rPr sz="1100" b="0">
                <a:solidFill>
                  <a:srgbClr val="1A1C1E"/>
                </a:solidFill>
                <a:latin typeface="Calibri"/>
              </a:rPr>
              <a:t>•  Our move: integrated experience</a:t>
            </a:r>
          </a:p>
        </p:txBody>
      </p:sp>
      <p:sp>
        <p:nvSpPr>
          <p:cNvPr id="15" name="Rectangle 14"/>
          <p:cNvSpPr/>
          <p:nvPr/>
        </p:nvSpPr>
        <p:spPr>
          <a:xfrm>
            <a:off x="6263640" y="2148840"/>
            <a:ext cx="274320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2148840"/>
            <a:ext cx="2743200" cy="457200"/>
          </a:xfrm>
          <a:prstGeom prst="rect">
            <a:avLst/>
          </a:prstGeom>
          <a:solidFill>
            <a:srgbClr val="2A2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2212848"/>
            <a:ext cx="2514600" cy="347472"/>
          </a:xfrm>
          <a:prstGeom prst="rect">
            <a:avLst/>
          </a:prstGeom>
          <a:noFill/>
        </p:spPr>
        <p:txBody>
          <a:bodyPr wrap="square" anchor="t">
            <a:spAutoFit/>
          </a:bodyPr>
          <a:lstStyle/>
          <a:p>
            <a:pPr algn="l"/>
            <a:r>
              <a:rPr sz="1200" b="1">
                <a:solidFill>
                  <a:srgbClr val="FFFFFF"/>
                </a:solidFill>
                <a:latin typeface="Georgia"/>
              </a:rPr>
              <a:t>vs Claude Code</a:t>
            </a:r>
          </a:p>
        </p:txBody>
      </p:sp>
      <p:sp>
        <p:nvSpPr>
          <p:cNvPr id="18" name="TextBox 17"/>
          <p:cNvSpPr txBox="1"/>
          <p:nvPr/>
        </p:nvSpPr>
        <p:spPr>
          <a:xfrm>
            <a:off x="6373368" y="2788920"/>
            <a:ext cx="2514600" cy="3017520"/>
          </a:xfrm>
          <a:prstGeom prst="rect">
            <a:avLst/>
          </a:prstGeom>
          <a:noFill/>
        </p:spPr>
        <p:txBody>
          <a:bodyPr wrap="square">
            <a:spAutoFit/>
          </a:bodyPr>
          <a:lstStyle/>
          <a:p>
            <a:pPr algn="l">
              <a:spcAft>
                <a:spcPts val="500"/>
              </a:spcAft>
            </a:pPr>
            <a:r>
              <a:rPr sz="1100" b="0">
                <a:solidFill>
                  <a:srgbClr val="1A1C1E"/>
                </a:solidFill>
                <a:latin typeface="Calibri"/>
              </a:rPr>
              <a:t>•  Strong — don’t trash-talk it</a:t>
            </a:r>
          </a:p>
          <a:p>
            <a:pPr algn="l">
              <a:spcAft>
                <a:spcPts val="500"/>
              </a:spcAft>
            </a:pPr>
            <a:r>
              <a:rPr sz="1100" b="0">
                <a:solidFill>
                  <a:srgbClr val="1A1C1E"/>
                </a:solidFill>
                <a:latin typeface="Calibri"/>
              </a:rPr>
              <a:t>•  Terminal-first agent shape</a:t>
            </a:r>
          </a:p>
          <a:p>
            <a:pPr algn="l">
              <a:spcAft>
                <a:spcPts val="500"/>
              </a:spcAft>
            </a:pPr>
            <a:r>
              <a:rPr sz="1100" b="0">
                <a:solidFill>
                  <a:srgbClr val="1A1C1E"/>
                </a:solidFill>
                <a:latin typeface="Calibri"/>
              </a:rPr>
              <a:t>•  Not a “smarter model” war</a:t>
            </a:r>
          </a:p>
          <a:p>
            <a:pPr algn="l">
              <a:spcAft>
                <a:spcPts val="500"/>
              </a:spcAft>
            </a:pPr>
            <a:r>
              <a:rPr sz="1100" b="0">
                <a:solidFill>
                  <a:srgbClr val="1A1C1E"/>
                </a:solidFill>
                <a:latin typeface="Calibri"/>
              </a:rPr>
              <a:t>•  Our edge: model neutrality</a:t>
            </a:r>
          </a:p>
          <a:p>
            <a:pPr algn="l">
              <a:spcAft>
                <a:spcPts val="500"/>
              </a:spcAft>
            </a:pPr>
            <a:r>
              <a:rPr sz="1100" b="0">
                <a:solidFill>
                  <a:srgbClr val="1A1C1E"/>
                </a:solidFill>
                <a:latin typeface="Calibri"/>
              </a:rPr>
              <a:t>•  Our edge: SDLC integration</a:t>
            </a:r>
          </a:p>
          <a:p>
            <a:pPr algn="l">
              <a:spcAft>
                <a:spcPts val="500"/>
              </a:spcAft>
            </a:pPr>
            <a:r>
              <a:rPr sz="1100" b="0">
                <a:solidFill>
                  <a:srgbClr val="1A1C1E"/>
                </a:solidFill>
                <a:latin typeface="Calibri"/>
              </a:rPr>
              <a:t>•  Our edge: team time-to-value</a:t>
            </a:r>
          </a:p>
        </p:txBody>
      </p:sp>
      <p:sp>
        <p:nvSpPr>
          <p:cNvPr id="19" name="Rectangle 18"/>
          <p:cNvSpPr/>
          <p:nvPr/>
        </p:nvSpPr>
        <p:spPr>
          <a:xfrm>
            <a:off x="9144000" y="2148840"/>
            <a:ext cx="2743200" cy="388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2148840"/>
            <a:ext cx="2743200" cy="457200"/>
          </a:xfrm>
          <a:prstGeom prst="rect">
            <a:avLst/>
          </a:prstGeom>
          <a:solidFill>
            <a:srgbClr val="2A2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3728" y="2212848"/>
            <a:ext cx="2514600" cy="347472"/>
          </a:xfrm>
          <a:prstGeom prst="rect">
            <a:avLst/>
          </a:prstGeom>
          <a:noFill/>
        </p:spPr>
        <p:txBody>
          <a:bodyPr wrap="square" anchor="t">
            <a:spAutoFit/>
          </a:bodyPr>
          <a:lstStyle/>
          <a:p>
            <a:pPr algn="l"/>
            <a:r>
              <a:rPr sz="1200" b="1">
                <a:solidFill>
                  <a:srgbClr val="FFFFFF"/>
                </a:solidFill>
                <a:latin typeface="Georgia"/>
              </a:rPr>
              <a:t>Also in market</a:t>
            </a:r>
          </a:p>
        </p:txBody>
      </p:sp>
      <p:sp>
        <p:nvSpPr>
          <p:cNvPr id="22" name="TextBox 21"/>
          <p:cNvSpPr txBox="1"/>
          <p:nvPr/>
        </p:nvSpPr>
        <p:spPr>
          <a:xfrm>
            <a:off x="9253728" y="2788920"/>
            <a:ext cx="2514600" cy="3017520"/>
          </a:xfrm>
          <a:prstGeom prst="rect">
            <a:avLst/>
          </a:prstGeom>
          <a:noFill/>
        </p:spPr>
        <p:txBody>
          <a:bodyPr wrap="square">
            <a:spAutoFit/>
          </a:bodyPr>
          <a:lstStyle/>
          <a:p>
            <a:pPr algn="l">
              <a:spcAft>
                <a:spcPts val="500"/>
              </a:spcAft>
            </a:pPr>
            <a:r>
              <a:rPr sz="1100" b="0">
                <a:solidFill>
                  <a:srgbClr val="1A1C1E"/>
                </a:solidFill>
                <a:latin typeface="Calibri"/>
              </a:rPr>
              <a:t>•  Windsurf: Cascade agent UX</a:t>
            </a:r>
          </a:p>
          <a:p>
            <a:pPr algn="l">
              <a:spcAft>
                <a:spcPts val="500"/>
              </a:spcAft>
            </a:pPr>
            <a:r>
              <a:rPr sz="1100" b="0">
                <a:solidFill>
                  <a:srgbClr val="1A1C1E"/>
                </a:solidFill>
                <a:latin typeface="Calibri"/>
              </a:rPr>
              <a:t>•  Codex: OpenAI async agents</a:t>
            </a:r>
          </a:p>
          <a:p>
            <a:pPr algn="l">
              <a:spcAft>
                <a:spcPts val="500"/>
              </a:spcAft>
            </a:pPr>
            <a:r>
              <a:rPr sz="1100" b="0">
                <a:solidFill>
                  <a:srgbClr val="1A1C1E"/>
                </a:solidFill>
                <a:latin typeface="Calibri"/>
              </a:rPr>
              <a:t>•  Shadow AI: real enterprise rival</a:t>
            </a:r>
          </a:p>
          <a:p>
            <a:pPr algn="l">
              <a:spcAft>
                <a:spcPts val="500"/>
              </a:spcAft>
            </a:pPr>
            <a:r>
              <a:rPr sz="1100" b="0">
                <a:solidFill>
                  <a:srgbClr val="1A1C1E"/>
                </a:solidFill>
                <a:latin typeface="Calibri"/>
              </a:rPr>
              <a:t>•  Win = governed standardization</a:t>
            </a:r>
          </a:p>
          <a:p>
            <a:pPr algn="l">
              <a:spcAft>
                <a:spcPts val="500"/>
              </a:spcAft>
            </a:pPr>
            <a:r>
              <a:rPr sz="1100" b="0">
                <a:solidFill>
                  <a:srgbClr val="1A1C1E"/>
                </a:solidFill>
                <a:latin typeface="Calibri"/>
              </a:rPr>
              <a:t>•  Proof: Coinbase / Stripe / PayPal</a:t>
            </a:r>
          </a:p>
          <a:p>
            <a:pPr algn="l">
              <a:spcAft>
                <a:spcPts val="500"/>
              </a:spcAft>
            </a:pPr>
            <a:r>
              <a:rPr sz="1100" b="0">
                <a:solidFill>
                  <a:srgbClr val="1A1C1E"/>
                </a:solidFill>
                <a:latin typeface="Calibri"/>
              </a:rPr>
              <a:t>•  Outcomes &gt; autocomplete vanity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Security instincts (not a certification dump)</a:t>
            </a:r>
          </a:p>
        </p:txBody>
      </p:sp>
      <p:sp>
        <p:nvSpPr>
          <p:cNvPr id="5" name="Rectangle 4"/>
          <p:cNvSpPr/>
          <p:nvPr/>
        </p:nvSpPr>
        <p:spPr>
          <a:xfrm>
            <a:off x="594360" y="1325880"/>
            <a:ext cx="534924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554480"/>
            <a:ext cx="77724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4754880" cy="365760"/>
          </a:xfrm>
          <a:prstGeom prst="rect">
            <a:avLst/>
          </a:prstGeom>
          <a:noFill/>
        </p:spPr>
        <p:txBody>
          <a:bodyPr wrap="square" anchor="t">
            <a:spAutoFit/>
          </a:bodyPr>
          <a:lstStyle/>
          <a:p>
            <a:pPr algn="l"/>
            <a:r>
              <a:rPr sz="1700" b="1">
                <a:solidFill>
                  <a:srgbClr val="141618"/>
                </a:solidFill>
                <a:latin typeface="Georgia"/>
              </a:rPr>
              <a:t>Privacy Mode</a:t>
            </a:r>
          </a:p>
        </p:txBody>
      </p:sp>
      <p:sp>
        <p:nvSpPr>
          <p:cNvPr id="8" name="TextBox 7"/>
          <p:cNvSpPr txBox="1"/>
          <p:nvPr/>
        </p:nvSpPr>
        <p:spPr>
          <a:xfrm>
            <a:off x="868680" y="2286000"/>
            <a:ext cx="4754880" cy="3474720"/>
          </a:xfrm>
          <a:prstGeom prst="rect">
            <a:avLst/>
          </a:prstGeom>
          <a:noFill/>
        </p:spPr>
        <p:txBody>
          <a:bodyPr wrap="square">
            <a:spAutoFit/>
          </a:bodyPr>
          <a:lstStyle/>
          <a:p>
            <a:pPr algn="l">
              <a:spcAft>
                <a:spcPts val="800"/>
              </a:spcAft>
            </a:pPr>
            <a:r>
              <a:rPr sz="1500" b="0">
                <a:solidFill>
                  <a:srgbClr val="1A1C1E"/>
                </a:solidFill>
                <a:latin typeface="Calibri"/>
              </a:rPr>
              <a:t>•  Customer code is not stored or retained</a:t>
            </a:r>
          </a:p>
          <a:p>
            <a:pPr algn="l">
              <a:spcAft>
                <a:spcPts val="800"/>
              </a:spcAft>
            </a:pPr>
            <a:r>
              <a:rPr sz="1500" b="0">
                <a:solidFill>
                  <a:srgbClr val="1A1C1E"/>
                </a:solidFill>
                <a:latin typeface="Calibri"/>
              </a:rPr>
              <a:t>•  Not used to train models</a:t>
            </a:r>
          </a:p>
          <a:p>
            <a:pPr algn="l">
              <a:spcAft>
                <a:spcPts val="800"/>
              </a:spcAft>
            </a:pPr>
            <a:r>
              <a:rPr sz="1500" b="0">
                <a:solidFill>
                  <a:srgbClr val="1A1C1E"/>
                </a:solidFill>
                <a:latin typeface="Calibri"/>
              </a:rPr>
              <a:t>•  Requests are isolated and ephemeral</a:t>
            </a:r>
          </a:p>
          <a:p>
            <a:pPr algn="l">
              <a:spcAft>
                <a:spcPts val="800"/>
              </a:spcAft>
            </a:pPr>
            <a:r>
              <a:rPr sz="1500" b="0">
                <a:solidFill>
                  <a:srgbClr val="1A1C1E"/>
                </a:solidFill>
                <a:latin typeface="Calibri"/>
              </a:rPr>
              <a:t>•  Enterprise: enforce org-wide so shadow AI doesn’t win</a:t>
            </a:r>
          </a:p>
        </p:txBody>
      </p:sp>
      <p:sp>
        <p:nvSpPr>
          <p:cNvPr id="9" name="Rectangle 8"/>
          <p:cNvSpPr/>
          <p:nvPr/>
        </p:nvSpPr>
        <p:spPr>
          <a:xfrm>
            <a:off x="6217920" y="1325880"/>
            <a:ext cx="534924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1554480"/>
            <a:ext cx="777240" cy="73152"/>
          </a:xfrm>
          <a:prstGeom prst="rect">
            <a:avLst/>
          </a:prstGeom>
          <a:solidFill>
            <a:srgbClr val="D6F2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83080"/>
            <a:ext cx="4754880" cy="365760"/>
          </a:xfrm>
          <a:prstGeom prst="rect">
            <a:avLst/>
          </a:prstGeom>
          <a:noFill/>
        </p:spPr>
        <p:txBody>
          <a:bodyPr wrap="square" anchor="t">
            <a:spAutoFit/>
          </a:bodyPr>
          <a:lstStyle/>
          <a:p>
            <a:pPr algn="l"/>
            <a:r>
              <a:rPr sz="1700" b="1">
                <a:solidFill>
                  <a:srgbClr val="141618"/>
                </a:solidFill>
                <a:latin typeface="Georgia"/>
              </a:rPr>
              <a:t>Enterprise posture</a:t>
            </a:r>
          </a:p>
        </p:txBody>
      </p:sp>
      <p:sp>
        <p:nvSpPr>
          <p:cNvPr id="12" name="TextBox 11"/>
          <p:cNvSpPr txBox="1"/>
          <p:nvPr/>
        </p:nvSpPr>
        <p:spPr>
          <a:xfrm>
            <a:off x="6492240" y="2286000"/>
            <a:ext cx="4754880" cy="3474720"/>
          </a:xfrm>
          <a:prstGeom prst="rect">
            <a:avLst/>
          </a:prstGeom>
          <a:noFill/>
        </p:spPr>
        <p:txBody>
          <a:bodyPr wrap="square">
            <a:spAutoFit/>
          </a:bodyPr>
          <a:lstStyle/>
          <a:p>
            <a:pPr algn="l">
              <a:spcAft>
                <a:spcPts val="800"/>
              </a:spcAft>
            </a:pPr>
            <a:r>
              <a:rPr sz="1500" b="0">
                <a:solidFill>
                  <a:srgbClr val="1A1C1E"/>
                </a:solidFill>
                <a:latin typeface="Calibri"/>
              </a:rPr>
              <a:t>•  SOC 2 Type II; secure handling of code + metadata</a:t>
            </a:r>
          </a:p>
          <a:p>
            <a:pPr algn="l">
              <a:spcAft>
                <a:spcPts val="800"/>
              </a:spcAft>
            </a:pPr>
            <a:r>
              <a:rPr sz="1500" b="0">
                <a:solidFill>
                  <a:srgbClr val="1A1C1E"/>
                </a:solidFill>
                <a:latin typeface="Calibri"/>
              </a:rPr>
              <a:t>•  Admin controls, visibility, model / MCP governance</a:t>
            </a:r>
          </a:p>
          <a:p>
            <a:pPr algn="l">
              <a:spcAft>
                <a:spcPts val="800"/>
              </a:spcAft>
            </a:pPr>
            <a:r>
              <a:rPr sz="1500" b="0">
                <a:solidFill>
                  <a:srgbClr val="1A1C1E"/>
                </a:solidFill>
                <a:latin typeface="Calibri"/>
              </a:rPr>
              <a:t>•  SSO / SCIM / audit logs for regulated buyers</a:t>
            </a:r>
          </a:p>
          <a:p>
            <a:pPr algn="l">
              <a:spcAft>
                <a:spcPts val="800"/>
              </a:spcAft>
            </a:pPr>
            <a:r>
              <a:rPr sz="1500" b="0">
                <a:solidFill>
                  <a:srgbClr val="1A1C1E"/>
                </a:solidFill>
                <a:latin typeface="Calibri"/>
              </a:rPr>
              <a:t>•  First-call frame: adoption confidence — bring the right partner when deep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4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92608"/>
            <a:ext cx="10698480" cy="548640"/>
          </a:xfrm>
          <a:prstGeom prst="rect">
            <a:avLst/>
          </a:prstGeom>
          <a:noFill/>
        </p:spPr>
        <p:txBody>
          <a:bodyPr wrap="square" anchor="t">
            <a:spAutoFit/>
          </a:bodyPr>
          <a:lstStyle/>
          <a:p>
            <a:pPr algn="l"/>
            <a:r>
              <a:rPr sz="2400" b="1">
                <a:solidFill>
                  <a:srgbClr val="FFFFFF"/>
                </a:solidFill>
                <a:latin typeface="Georgia"/>
              </a:rPr>
              <a:t>Close — up-level, don’t rebuild</a:t>
            </a:r>
          </a:p>
        </p:txBody>
      </p:sp>
      <p:sp>
        <p:nvSpPr>
          <p:cNvPr id="5" name="TextBox 4"/>
          <p:cNvSpPr txBox="1"/>
          <p:nvPr/>
        </p:nvSpPr>
        <p:spPr>
          <a:xfrm>
            <a:off x="777240" y="1417320"/>
            <a:ext cx="10515600" cy="4572000"/>
          </a:xfrm>
          <a:prstGeom prst="rect">
            <a:avLst/>
          </a:prstGeom>
          <a:noFill/>
        </p:spPr>
        <p:txBody>
          <a:bodyPr wrap="square">
            <a:spAutoFit/>
          </a:bodyPr>
          <a:lstStyle/>
          <a:p>
            <a:pPr algn="l">
              <a:spcAft>
                <a:spcPts val="1200"/>
              </a:spcAft>
            </a:pPr>
            <a:r>
              <a:rPr sz="1800" b="0">
                <a:solidFill>
                  <a:srgbClr val="1A1C1E"/>
                </a:solidFill>
                <a:latin typeface="Calibri"/>
              </a:rPr>
              <a:t>•  Diagnose real constraints with data + AE/SDR truth</a:t>
            </a:r>
          </a:p>
          <a:p>
            <a:pPr algn="l">
              <a:spcAft>
                <a:spcPts val="1200"/>
              </a:spcAft>
            </a:pPr>
            <a:r>
              <a:rPr sz="1800" b="0">
                <a:solidFill>
                  <a:srgbClr val="1A1C1E"/>
                </a:solidFill>
                <a:latin typeface="Calibri"/>
              </a:rPr>
              <a:t>•  Protect automation, ICP, and cadence already creating pipeline</a:t>
            </a:r>
          </a:p>
          <a:p>
            <a:pPr algn="l">
              <a:spcAft>
                <a:spcPts val="1200"/>
              </a:spcAft>
            </a:pPr>
            <a:r>
              <a:rPr sz="1800" b="0">
                <a:solidFill>
                  <a:srgbClr val="1A1C1E"/>
                </a:solidFill>
                <a:latin typeface="Calibri"/>
              </a:rPr>
              <a:t>•  Train workflow / context / execution — four wedges, clean competitive frames</a:t>
            </a:r>
          </a:p>
          <a:p>
            <a:pPr algn="l">
              <a:spcAft>
                <a:spcPts val="1200"/>
              </a:spcAft>
            </a:pPr>
            <a:r>
              <a:rPr sz="1800" b="0">
                <a:solidFill>
                  <a:srgbClr val="1A1C1E"/>
                </a:solidFill>
                <a:latin typeface="Calibri"/>
              </a:rPr>
              <a:t>•  Run one or two measured experiments — keep or kill on metrics</a:t>
            </a:r>
          </a:p>
          <a:p>
            <a:pPr algn="l">
              <a:spcAft>
                <a:spcPts val="1200"/>
              </a:spcAft>
            </a:pPr>
            <a:r>
              <a:rPr sz="1800" b="0">
                <a:solidFill>
                  <a:srgbClr val="1A1C1E"/>
                </a:solidFill>
                <a:latin typeface="Calibri"/>
              </a:rPr>
              <a:t>•  Lead as a player-coach so the floor rises with the ceiling</a:t>
            </a:r>
          </a:p>
          <a:p>
            <a:pPr algn="l">
              <a:spcAft>
                <a:spcPts val="1200"/>
              </a:spcAft>
            </a:pPr>
            <a:r>
              <a:rPr sz="1800" b="0">
                <a:solidFill>
                  <a:srgbClr val="1A1C1E"/>
                </a:solidFill>
                <a:latin typeface="Calibri"/>
              </a:rPr>
              <a:t>•  Questions — and happy to pitch one of you live right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