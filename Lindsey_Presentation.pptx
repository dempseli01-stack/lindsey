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 I’m Lindsey Dempsey. Thank you for having me.</a:t>
            </a:r>
          </a:p>
          <a:p/>
          <a:p>
            <a:r>
              <a:t>Today I’m going to walk through how I would up-level the EMEA SDR machine — not rebuild it. My framing is simple: diagnose, protect, experiment, and execute, as a hands-on player-coach.</a:t>
            </a:r>
          </a:p>
          <a:p/>
          <a:p>
            <a:r>
              <a:t>I’ll keep this practical and leave room for discussion and a live pitch.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thesis is this: EMEA is already high-performing. You have AI-augmented workflows, a clear ICP, and you’re generating eight-figure qualified pipeline every month. So the question isn’t “how do I stand something up from zero?” It’s “given a function that already works, how do I make it materially better?”</a:t>
            </a:r>
          </a:p>
          <a:p/>
          <a:p>
            <a:r>
              <a:t>My job would be to find the real constraints, protect what’s working, and run a small number of high-leverage experiments.</a:t>
            </a:r>
          </a:p>
          <a:p/>
          <a:p>
            <a:r>
              <a:t>Every SDR on the team should be fluent in how Cursor wins — on workflow, context, and execution.</a:t>
            </a:r>
          </a:p>
          <a:p/>
          <a:p>
            <a:r>
              <a:t>And I would lead as a player-coach. Trains on time. Inspection over activity theater. Success for me is better conversation quality and higher AE acceptance — not reinventing the org chart.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I’ll use the time.</a:t>
            </a:r>
          </a:p>
          <a:p/>
          <a:p>
            <a:r>
              <a:t>Part one is the first fifteen, thirty, and sixty days — diagnosis, what I’d protect, where the gains are, and two experiments.</a:t>
            </a:r>
          </a:p>
          <a:p/>
          <a:p>
            <a:r>
              <a:t>Part two is fundamentals — how I hire, coach, and run the team day to day as a player-coach.</a:t>
            </a:r>
          </a:p>
          <a:p/>
          <a:p>
            <a:r>
              <a:t>Part three is craft — how I’d pitch, how we cut through noise by persona, and why Cursor wins, including Copilot and Claude Code.</a:t>
            </a:r>
          </a:p>
          <a:p/>
          <a:p>
            <a:r>
              <a:t>Clarity over polish. If you want me to go live earlier on the pitch, I’m happy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 how I’d up-level EMEA in the first sixty days.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Diagnosis comes first. I will not change the machine until I understand where it leaks.</a:t>
            </a:r>
          </a:p>
          <a:p/>
          <a:p>
            <a:r>
              <a:t>I’d start with meeting quality: what percentage of meetings move to qualified versus unqualified? Unqualified meetings waste AE time. I’d sit with the AE team and ask where those meetings fell flat — is there a pattern? Is it the titles? No pain? The industry? A competitor already in? Why couldn’t we get next steps? Once I see the pattern in the gaps, I can diagnose what’s missing and build coaching around it.</a:t>
            </a:r>
          </a:p>
          <a:p/>
          <a:p>
            <a:r>
              <a:t>I’d also inspect the funnel hard: connect rates, connect-to-conversation, conversation-to-meeting. If connect-to-conversation is low — how are we opening the call, and what objections are we getting? If I know the objections, I can lead objection trainings. If conversation-to-meeting is low — are we doing proper discovery to create enough pain that they want the meeting? Are we hearing “already using a competitor”? If so, that’s competitor training or Cursor differentiator training.</a:t>
            </a:r>
          </a:p>
          <a:p/>
          <a:p>
            <a:r>
              <a:t>And I’d look at channel mix: what percentage of meetings are set via email, LinkedIn, and phone? Which is weakest, which is strongest? How do we increase one bucket while keeping the others strong — and double down on what’s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that diagnosis turns into a calendar.</a:t>
            </a:r>
          </a:p>
          <a:p/>
          <a:p>
            <a:r>
              <a:t>Days one through fifteen are inspection, pulling data, and creating the training. No thrash — learn the patterns first, then design the coaching modules for openers, objections, discovery, and differentiators.</a:t>
            </a:r>
          </a:p>
          <a:p/>
          <a:p>
            <a:r>
              <a:t>Days sixteen through thirty are when we take the training live and increase activity. Every day we pull the data to see what worked. The first fifteen minutes of the day is a team call: what worked yesterday, what pitch is landing, which personas sparked interest, what differentiator secured the meeting. We review one customer story a day. We review which models leapfrogged overnight so talk tracks stay current. Then we game-plan the day for success before dials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 would deliberately not change in the first sixty days is what’s already working well.</a:t>
            </a:r>
          </a:p>
          <a:p/>
          <a:p>
            <a:r>
              <a:t>I would protect the team’s ability to know and deliver the Cursor pitch. I would protect reaching out to the right people — the ICP and persona discipline that’s already creating meetings. I’m not here to rip out a motion that works. I’m here to diagnose the leaks and raise conversion quality around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Given where EMEA already is, the next level of improvement doesn’t come from inventing a new org. It comes from tightening the places strong teams usually leak.</a:t>
            </a:r>
          </a:p>
          <a:p/>
          <a:p>
            <a:r>
              <a:t>After diagnosis, the gains are in call openers and objection handling, discovery that creates real pain, competitive and differentiator fluency when Copilot or Claude Code is already in, and channel mix — doubling down on what’s converting while lifting the weaker channel.</a:t>
            </a:r>
          </a:p>
          <a:p/>
          <a:p>
            <a:r>
              <a:t>I wouldn’t bet on that blindly. I’d test it with hard data: connect, conversation, meetings — and then how many of those meetings convert to qualified. What worked, what didn’t, keep or kill.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market context, because it shapes how we coach messaging.</a:t>
            </a:r>
          </a:p>
          <a:p/>
          <a:p>
            <a:r>
              <a:t>Agentic coding is now a two-layer race.</a:t>
            </a:r>
          </a:p>
          <a:p/>
          <a:p>
            <a:r>
              <a:t>Layer one is the harness and product layer — how the system plans, uses tools, navigates repositories, and fits developer workflow. That’s where Cursor has already built commercial strength, and it’s what buyers feel in a first conversation.</a:t>
            </a:r>
          </a:p>
          <a:p/>
          <a:p>
            <a:r>
              <a:t>Layer two is the model layer — reasoning quality and long-horizon coding performance. Composer is Cursor’s coding-specialist model path, and that layer continues to strengthen.</a:t>
            </a:r>
          </a:p>
          <a:p/>
          <a:p>
            <a:r>
              <a:t>Model neutrality still matters, because the best model changes over time, and the frontier labs can be both suppliers and competitors.</a:t>
            </a:r>
          </a:p>
          <a:p/>
          <a:p>
            <a:r>
              <a:t>For EMEA SDRs, the implication is simple: sell the system buyers can feel today — workflow, context, and execution — and stay fluent on where the model layer is going. I won’t turn customer calls into infrastructure or acquisition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I’d train every rep on.</a:t>
            </a:r>
          </a:p>
          <a:p/>
          <a:p>
            <a:r>
              <a:t>Cursor is the leading agentic coding platform that a large share of the Fortune one thousand use to reimagine how engineering teams build software with AI.</a:t>
            </a:r>
          </a:p>
          <a:p/>
          <a:p>
            <a:r>
              <a:t>It gives teams a shared AI layer that understands their codebase, dependencies, and workflows — connecting developers, tools, and AI agents into one system.</a:t>
            </a:r>
          </a:p>
          <a:p/>
          <a:p>
            <a:r>
              <a:t>It’s helpful to think of Cursor as a coding agent that can be accessed, coordinated, and controlled through product surfaces like the IDE, CLI, Automations, and Cloud Agents.</a:t>
            </a:r>
          </a:p>
          <a:p/>
          <a:p>
            <a:r>
              <a:t>It bridges planning, execution, and validation so work moves through the SDLC with less friction.</a:t>
            </a:r>
          </a:p>
          <a:p/>
          <a:p>
            <a:r>
              <a:t>The summary line I want reps to be able to say is: Cursor helps teams get more out of frontier models by pairing them with better workflow, better context, and a more integrated way to build software.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Cursor’s core differentiation is the combination of four things, and I’d teach SDRs to lead with only one based on the buyer’s pain.</a:t>
            </a:r>
          </a:p>
          <a:p/>
          <a:p>
            <a:r>
              <a:t>One — model neutrality. Customers want flexibility. The best model changes. They don’t want to be locked to one vendor.</a:t>
            </a:r>
          </a:p>
          <a:p/>
          <a:p>
            <a:r>
              <a:t>Two — large codebase performance. Enterprise work spans messy, real-world repos. Cursor isn’t just wrapping a model — it improves how context is found and used. That matters more as complexity increases.</a:t>
            </a:r>
          </a:p>
          <a:p/>
          <a:p>
            <a:r>
              <a:t>Three — faster time to value. Cursor is useful quickly without every developer inventing a custom setup. Enterprises care about adoption and consistency across teams.</a:t>
            </a:r>
          </a:p>
          <a:p/>
          <a:p>
            <a:r>
              <a:t>Four — platform across the SDLC. Not just code generation — planning, writing, reviewing, debugging, iterating — through things like Bugbot, Agent Review, and Automations. The value is better execution, not just better answers.</a:t>
            </a:r>
          </a:p>
          <a:p/>
          <a:p>
            <a:r>
              <a:t>If a rep tries to say all four on every call, they’ll lose the room. Diagnose first, then pick the wedge.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or two changes I’d test first are practical and measured.</a:t>
            </a:r>
          </a:p>
          <a:p/>
          <a:p>
            <a:r>
              <a:t>First: once we’ve diagnosed the problem with call openers, objection handling, and discovery — increase activity. Don’t crank dials into a broken talk track. Fix the skill, then raise the volume, and watch connect, conversation, and meetings move.</a:t>
            </a:r>
          </a:p>
          <a:p/>
          <a:p>
            <a:r>
              <a:t>Second: improve messaging through personalization and staying up to date with AI models and labs constantly releasing new improvements. That means daily awareness of what leapfrogged overnight and talk tracks that stay current.</a:t>
            </a:r>
          </a:p>
          <a:p/>
          <a:p>
            <a:r>
              <a:t>I’d measure both with hard data — connect, conversation, meetings — and then ask the quality question: how many of these meetings are now converting to qualified? What worked? What did not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feedback loops with Growth and Sales already exist — so the question isn’t inventing them, it’s making them quicker and implementing change faster.</a:t>
            </a:r>
          </a:p>
          <a:p/>
          <a:p>
            <a:r>
              <a:t>I’d run weekly SE sessions so SDRs stay sharp on product and competitive framing. I’d make SDR and AE connects mandatory — not optional — so meeting quality feedback is real-time, not buried. And I’d send weekly recaps to AEs, SVPs, RDs, and SEs by territory: what converted, what failed, and one change we’re making.</a:t>
            </a:r>
          </a:p>
          <a:p/>
          <a:p>
            <a:r>
              <a:t>Faster loops, clearer owners, trains on time.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 fundamentals. How I lead day to day.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AI era, a lot of rote research and first-draft personalization can be automated. So the exceptional SDR looks different.</a:t>
            </a:r>
          </a:p>
          <a:p/>
          <a:p>
            <a:r>
              <a:t>They win on judgment — which account and persona deserve the dial.</a:t>
            </a:r>
          </a:p>
          <a:p>
            <a:r>
              <a:t>Relevance speed — earning thirty seconds with a technical buyer.</a:t>
            </a:r>
          </a:p>
          <a:p>
            <a:r>
              <a:t>Positioning fluency — workflow, context, execution, and the correct wedge.</a:t>
            </a:r>
          </a:p>
          <a:p>
            <a:r>
              <a:t>Competitive clarity — Copilot and Claude Code without trash talk.</a:t>
            </a:r>
          </a:p>
          <a:p>
            <a:r>
              <a:t>Security instincts — calm and grounded on Privacy Mode and enterprise controls.</a:t>
            </a:r>
          </a:p>
          <a:p>
            <a:r>
              <a:t>And execution discipline — trains on time.</a:t>
            </a:r>
          </a:p>
          <a:p/>
          <a:p>
            <a:r>
              <a:t>My bar is simple: they don’t recite features. They diagnose the buyer’s constraint and match Cursor to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hiring, I’m looking for coachable people who communicate clearly, are curious about technical buyers, have process discipline, and learn fast.</a:t>
            </a:r>
          </a:p>
          <a:p/>
          <a:p>
            <a:r>
              <a:t>Hard nos: feature dumpers, activity theater without conversion ownership, people who can’t take critique, and anyone who overclaims the product.</a:t>
            </a:r>
          </a:p>
          <a:p/>
          <a:p>
            <a:r>
              <a:t>I’d assess with a mock call to a VP of Engineering or Platform lead, Copilot and Claude Code objections, a sixty-second Cursor pitch using the official framing, and a soft security question like, “Our CISO won’t allow AI on our code — what do you say?”</a:t>
            </a:r>
          </a:p>
          <a:p/>
          <a:p>
            <a:r>
              <a:t>On coaching: daily scoreboard visibility and same-day course-correction if someone misses the standard. Weekly one-on-ones focused on one funnel leak only. Weekly team session with one win wire and one talk-track upgrade. Call reviews scored on opener, wedge, competitive frame, and clean ask.</a:t>
            </a:r>
          </a:p>
          <a:p/>
          <a:p>
            <a:r>
              <a:t>Underperformance gets a stage diagnosis, a skill plan, and a timeline — not vague pressure.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 craft and curiosity. This is where I’m happiest going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I’m cold-calling into this room, the spine is open, position, wedge, ask.</a:t>
            </a:r>
          </a:p>
          <a:p/>
          <a:p>
            <a:r>
              <a:t>Open: the reason I’m calling is engineering teams are moving from AI that helps write snippets to AI that helps complete work across the codebase — and most tools only cover part of that workflow.</a:t>
            </a:r>
          </a:p>
          <a:p/>
          <a:p>
            <a:r>
              <a:t>Position: Cursor is an agentic coding platform — a coding agent across the IDE, CLI, Automations, and Cloud Agents — with a shared AI layer that understands your codebase and workflows so planning, building, review, and shipping happen with less friction.</a:t>
            </a:r>
          </a:p>
          <a:p/>
          <a:p>
            <a:r>
              <a:t>Wedge: I pick one differentiator based on what I heard.</a:t>
            </a:r>
          </a:p>
          <a:p/>
          <a:p>
            <a:r>
              <a:t>Ask: worth twenty minutes to map where you’re getting leverage versus where workflow still breaks — write, review, or ship?</a:t>
            </a:r>
          </a:p>
          <a:p/>
          <a:p>
            <a:r>
              <a:t>If I get “just send an email,” I don’t collapse. I say: happy to — so I send the useful one: are you more focused on standardizing AI coding, or on the review bottleneck after Copilot?</a:t>
            </a:r>
          </a:p>
          <a:p/>
          <a:p>
            <a:r>
              <a:t>I’m happy to run this live on one of you right now if you’d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buyers are saturated on LinkedIn and email, so persona-true outreach matters more than volume tricks.</a:t>
            </a:r>
          </a:p>
          <a:p/>
          <a:p>
            <a:r>
              <a:t>For a hands-on developer: lead with real-repo context and daily workflow. Avoid corporate ROI theater.</a:t>
            </a:r>
          </a:p>
          <a:p/>
          <a:p>
            <a:r>
              <a:t>For a VP of Engineering: lead with a shared AI layer, speed across the SDLC, and standardizing teams. Avoid feature laundry lists.</a:t>
            </a:r>
          </a:p>
          <a:p/>
          <a:p>
            <a:r>
              <a:t>For Security or Platform: lead with Privacy Mode, admin controls, and governed rollout so AI coding doesn’t become shadow IT. Avoid hype.</a:t>
            </a:r>
          </a:p>
          <a:p/>
          <a:p>
            <a:r>
              <a:t>What still works is trigger-based relevance — Copilot sprawl, AI policy moments, migrations, DevEx ownership — and one sharp question. What fails is generic “quick chat” spam and fake personalization.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skeptical engineering leader, my one-to-two sentence version is this:</a:t>
            </a:r>
          </a:p>
          <a:p/>
          <a:p>
            <a:r>
              <a:t>Cursor doesn’t win because we claim exclusive access to better intelligence forever. We win because we apply intelligence more effectively — through workflow, codebase context, and an integrated system across the SDLC — with model neutrality as capabilities and economics change.</a:t>
            </a:r>
          </a:p>
          <a:p/>
          <a:p>
            <a:r>
              <a:t>Versus GitHub Copilot: Copilot helps developers write faster. Cursor is the shift from snippet help to task completion, from local suggestions to broader codebase context, from a point solution to a more integrated development experience.</a:t>
            </a:r>
          </a:p>
          <a:p/>
          <a:p>
            <a:r>
              <a:t>Versus Claude Code: Claude Code is strong, and I won’t argue it’s weak. Our edge usually isn’t exclusive smarter model access. It’s model neutrality instead of single-provider dependence, stronger integration across the SDLC, better support for large complex codebases, and faster time to value across a broader team.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privacy often decide enterprise evaluations, so SDRs need calm instincts, not a certification dump.</a:t>
            </a:r>
          </a:p>
          <a:p/>
          <a:p>
            <a:r>
              <a:t>On Privacy Mode: customer code is not stored or retained, not used to train models, and requests are isolated and ephemeral.</a:t>
            </a:r>
          </a:p>
          <a:p/>
          <a:p>
            <a:r>
              <a:t>On enterprise posture: SOC 2, secure handling of code and metadata, admin controls and visibility, and the fact that security requirements influence product design.</a:t>
            </a:r>
          </a:p>
          <a:p/>
          <a:p>
            <a:r>
              <a:t>In a live cycle, security shows up as adoption confidence — “we can roll this out without creating shadow AI” — not as a slide war on the first call. If it gets deep, I bring in the right technical partner and stay precise.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close where I started.</a:t>
            </a:r>
          </a:p>
          <a:p/>
          <a:p>
            <a:r>
              <a:t>In the first sixty days I won’t invent a new EMEA. I’ll diagnose the real constraints with data and AE/SDR truth. I’ll protect the automation, ICP, and cadence already creating pipeline. I’ll train the team on workflow, context, and execution — four wedges, clean competitive frames. I’ll run one or two measured experiments and keep or kill them on metrics. And I’ll lead as a player-coach so the floor rises with the ceiling.</a:t>
            </a:r>
          </a:p>
          <a:p/>
          <a:p>
            <a:r>
              <a:t>That’s how you up-level a function that’s already working — and keep the trains on time.</a:t>
            </a:r>
          </a:p>
          <a:p/>
          <a:p>
            <a:r>
              <a:t>I’m Lindsey Dempsey. I’d love your questions — and if useful, I’m ready to pitch one of you live right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920240" cy="456547"/>
          </a:xfrm>
          <a:prstGeom prst="rect">
            <a:avLst/>
          </a:prstGeom>
        </p:spPr>
      </p:pic>
      <p:sp>
        <p:nvSpPr>
          <p:cNvPr id="4" name="Rectangle 3"/>
          <p:cNvSpPr/>
          <p:nvPr/>
        </p:nvSpPr>
        <p:spPr>
          <a:xfrm>
            <a:off x="777240" y="1874519"/>
            <a:ext cx="128016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03120"/>
            <a:ext cx="10515600" cy="822960"/>
          </a:xfrm>
          <a:prstGeom prst="rect">
            <a:avLst/>
          </a:prstGeom>
          <a:noFill/>
        </p:spPr>
        <p:txBody>
          <a:bodyPr wrap="square" anchor="t">
            <a:spAutoFit/>
          </a:bodyPr>
          <a:lstStyle/>
          <a:p>
            <a:pPr algn="l"/>
            <a:r>
              <a:rPr sz="4000" b="0">
                <a:solidFill>
                  <a:srgbClr val="26251E"/>
                </a:solidFill>
                <a:latin typeface="Arial"/>
              </a:rPr>
              <a:t>Up-Level the Machine</a:t>
            </a:r>
          </a:p>
        </p:txBody>
      </p:sp>
      <p:sp>
        <p:nvSpPr>
          <p:cNvPr id="6" name="TextBox 5"/>
          <p:cNvSpPr txBox="1"/>
          <p:nvPr/>
        </p:nvSpPr>
        <p:spPr>
          <a:xfrm>
            <a:off x="777240" y="3017520"/>
            <a:ext cx="10515600" cy="411480"/>
          </a:xfrm>
          <a:prstGeom prst="rect">
            <a:avLst/>
          </a:prstGeom>
          <a:noFill/>
        </p:spPr>
        <p:txBody>
          <a:bodyPr wrap="square" anchor="t">
            <a:spAutoFit/>
          </a:bodyPr>
          <a:lstStyle/>
          <a:p>
            <a:pPr algn="l"/>
            <a:r>
              <a:rPr sz="2000" b="0">
                <a:solidFill>
                  <a:srgbClr val="F54E00"/>
                </a:solidFill>
                <a:latin typeface="Arial"/>
              </a:rPr>
              <a:t>Diagnose  →  Protect  →  Experiment  →  Execute</a:t>
            </a:r>
          </a:p>
        </p:txBody>
      </p:sp>
      <p:sp>
        <p:nvSpPr>
          <p:cNvPr id="7" name="TextBox 6"/>
          <p:cNvSpPr txBox="1"/>
          <p:nvPr/>
        </p:nvSpPr>
        <p:spPr>
          <a:xfrm>
            <a:off x="777240" y="3611880"/>
            <a:ext cx="10515600" cy="411480"/>
          </a:xfrm>
          <a:prstGeom prst="rect">
            <a:avLst/>
          </a:prstGeom>
          <a:noFill/>
        </p:spPr>
        <p:txBody>
          <a:bodyPr wrap="square" anchor="t">
            <a:spAutoFit/>
          </a:bodyPr>
          <a:lstStyle/>
          <a:p>
            <a:pPr algn="l"/>
            <a:r>
              <a:rPr sz="1700" b="0">
                <a:solidFill>
                  <a:srgbClr val="807D72"/>
                </a:solidFill>
                <a:latin typeface="Arial"/>
              </a:rPr>
              <a:t>Player-coach plan for a high-performing EMEA SDR org</a:t>
            </a:r>
          </a:p>
        </p:txBody>
      </p:sp>
      <p:sp>
        <p:nvSpPr>
          <p:cNvPr id="8" name="Rectangle 7"/>
          <p:cNvSpPr/>
          <p:nvPr/>
        </p:nvSpPr>
        <p:spPr>
          <a:xfrm>
            <a:off x="0" y="5349240"/>
            <a:ext cx="12191695" cy="15087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23560"/>
            <a:ext cx="10515600" cy="365760"/>
          </a:xfrm>
          <a:prstGeom prst="rect">
            <a:avLst/>
          </a:prstGeom>
          <a:noFill/>
        </p:spPr>
        <p:txBody>
          <a:bodyPr wrap="square" anchor="t">
            <a:spAutoFit/>
          </a:bodyPr>
          <a:lstStyle/>
          <a:p>
            <a:pPr algn="l"/>
            <a:r>
              <a:rPr sz="1800" b="0">
                <a:solidFill>
                  <a:srgbClr val="FFFFFF"/>
                </a:solidFill>
                <a:latin typeface="Arial"/>
              </a:rPr>
              <a:t>Lindsey Dempsey  ·  EMEA SDR Leader Candidate</a:t>
            </a:r>
          </a:p>
        </p:txBody>
      </p:sp>
      <p:sp>
        <p:nvSpPr>
          <p:cNvPr id="10" name="TextBox 9"/>
          <p:cNvSpPr txBox="1"/>
          <p:nvPr/>
        </p:nvSpPr>
        <p:spPr>
          <a:xfrm>
            <a:off x="777240" y="6035040"/>
            <a:ext cx="10515600" cy="320040"/>
          </a:xfrm>
          <a:prstGeom prst="rect">
            <a:avLst/>
          </a:prstGeom>
          <a:noFill/>
        </p:spPr>
        <p:txBody>
          <a:bodyPr wrap="square" anchor="t">
            <a:spAutoFit/>
          </a:bodyPr>
          <a:lstStyle/>
          <a:p>
            <a:pPr algn="l"/>
            <a:r>
              <a:rPr sz="1400" b="0">
                <a:solidFill>
                  <a:srgbClr val="EFEEE8"/>
                </a:solidFill>
                <a:latin typeface="Arial"/>
              </a:rPr>
              <a:t>Cursor wins on workflow · context · execution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Thesis: don’t rebuild a working machine — raise its ceiling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EMEA already high-performing: AI-augmented workflows, clear ICP, eight-figure monthly pipeline</a:t>
            </a:r>
          </a:p>
          <a:p>
            <a:pPr algn="l">
              <a:spcAft>
                <a:spcPts val="1100"/>
              </a:spcAft>
            </a:pPr>
            <a:r>
              <a:rPr sz="1700" b="0">
                <a:solidFill>
                  <a:srgbClr val="26251E"/>
                </a:solidFill>
                <a:latin typeface="Arial"/>
              </a:rPr>
              <a:t>•  Job = find real constraints, protect what works, run a few high-leverage experiments</a:t>
            </a:r>
          </a:p>
          <a:p>
            <a:pPr algn="l">
              <a:spcAft>
                <a:spcPts val="1100"/>
              </a:spcAft>
            </a:pPr>
            <a:r>
              <a:rPr sz="1700" b="0">
                <a:solidFill>
                  <a:srgbClr val="26251E"/>
                </a:solidFill>
                <a:latin typeface="Arial"/>
              </a:rPr>
              <a:t>•  Every SDR fluent in how Cursor wins — workflow, context, execution</a:t>
            </a:r>
          </a:p>
          <a:p>
            <a:pPr algn="l">
              <a:spcAft>
                <a:spcPts val="1100"/>
              </a:spcAft>
            </a:pPr>
            <a:r>
              <a:rPr sz="1700" b="0">
                <a:solidFill>
                  <a:srgbClr val="26251E"/>
                </a:solidFill>
                <a:latin typeface="Arial"/>
              </a:rPr>
              <a:t>•  Lead as a player-coach: trains on time, inspection over activity theater</a:t>
            </a:r>
          </a:p>
          <a:p>
            <a:pPr algn="l">
              <a:spcAft>
                <a:spcPts val="1100"/>
              </a:spcAft>
            </a:pPr>
            <a:r>
              <a:rPr sz="1700" b="0">
                <a:solidFill>
                  <a:srgbClr val="26251E"/>
                </a:solidFill>
                <a:latin typeface="Arial"/>
              </a:rPr>
              <a:t>•  Success = better conversation quality + higher AE acceptance — not a reorg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Agenda</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Part 1 (20 min) — Diagnosis, 15/30 calendar, protect, gains, experiments, Growth/Sales loops</a:t>
            </a:r>
          </a:p>
          <a:p>
            <a:pPr algn="l">
              <a:spcAft>
                <a:spcPts val="1100"/>
              </a:spcAft>
            </a:pPr>
            <a:r>
              <a:rPr sz="1700" b="0">
                <a:solidFill>
                  <a:srgbClr val="26251E"/>
                </a:solidFill>
                <a:latin typeface="Arial"/>
              </a:rPr>
              <a:t>•  Part 2 (12 min) — Fundamentals: hire, coach, run as a player-coach</a:t>
            </a:r>
          </a:p>
          <a:p>
            <a:pPr algn="l">
              <a:spcAft>
                <a:spcPts val="1100"/>
              </a:spcAft>
            </a:pPr>
            <a:r>
              <a:rPr sz="1700" b="0">
                <a:solidFill>
                  <a:srgbClr val="26251E"/>
                </a:solidFill>
                <a:latin typeface="Arial"/>
              </a:rPr>
              <a:t>•  Part 3 (10 min) — Craft: live pitch, personas, why Cursor wins (Copilot + Claude Code)</a:t>
            </a:r>
          </a:p>
          <a:p>
            <a:pPr algn="l">
              <a:spcAft>
                <a:spcPts val="1100"/>
              </a:spcAft>
            </a:pPr>
            <a:r>
              <a:rPr sz="1700" b="0">
                <a:solidFill>
                  <a:srgbClr val="26251E"/>
                </a:solidFill>
                <a:latin typeface="Arial"/>
              </a:rPr>
              <a:t>•  Clarity over polish — happy to go live earlier on the pitch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1</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How I’d up-level EMEA in the first sixty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Diagnosis first — learn before you change anything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737360"/>
            <a:ext cx="3200400" cy="365760"/>
          </a:xfrm>
          <a:prstGeom prst="rect">
            <a:avLst/>
          </a:prstGeom>
          <a:noFill/>
        </p:spPr>
        <p:txBody>
          <a:bodyPr wrap="square" anchor="t">
            <a:spAutoFit/>
          </a:bodyPr>
          <a:lstStyle/>
          <a:p>
            <a:pPr algn="l"/>
            <a:r>
              <a:rPr sz="1500" b="1">
                <a:solidFill>
                  <a:srgbClr val="26251E"/>
                </a:solidFill>
                <a:latin typeface="Arial"/>
              </a:rPr>
              <a:t>AE acceptance truth</a:t>
            </a:r>
          </a:p>
        </p:txBody>
      </p:sp>
      <p:sp>
        <p:nvSpPr>
          <p:cNvPr id="10" name="TextBox 9"/>
          <p:cNvSpPr txBox="1"/>
          <p:nvPr/>
        </p:nvSpPr>
        <p:spPr>
          <a:xfrm>
            <a:off x="64008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 qualified vs unqualified</a:t>
            </a:r>
          </a:p>
          <a:p>
            <a:pPr algn="l">
              <a:spcAft>
                <a:spcPts val="700"/>
              </a:spcAft>
            </a:pPr>
            <a:r>
              <a:rPr sz="1300" b="0">
                <a:solidFill>
                  <a:srgbClr val="26251E"/>
                </a:solidFill>
                <a:latin typeface="Arial"/>
              </a:rPr>
              <a:t>•  Unqualified = wasted AE time</a:t>
            </a:r>
          </a:p>
          <a:p>
            <a:pPr algn="l">
              <a:spcAft>
                <a:spcPts val="700"/>
              </a:spcAft>
            </a:pPr>
            <a:r>
              <a:rPr sz="1300" b="0">
                <a:solidFill>
                  <a:srgbClr val="26251E"/>
                </a:solidFill>
                <a:latin typeface="Arial"/>
              </a:rPr>
              <a:t>•  Talk to AEs: where did it fall flat?</a:t>
            </a:r>
          </a:p>
          <a:p>
            <a:pPr algn="l">
              <a:spcAft>
                <a:spcPts val="700"/>
              </a:spcAft>
            </a:pPr>
            <a:r>
              <a:rPr sz="1300" b="0">
                <a:solidFill>
                  <a:srgbClr val="26251E"/>
                </a:solidFill>
                <a:latin typeface="Arial"/>
              </a:rPr>
              <a:t>•  Pattern hunt: titles · pain · industry</a:t>
            </a:r>
          </a:p>
          <a:p>
            <a:pPr algn="l">
              <a:spcAft>
                <a:spcPts val="700"/>
              </a:spcAft>
            </a:pPr>
            <a:r>
              <a:rPr sz="1300" b="0">
                <a:solidFill>
                  <a:srgbClr val="26251E"/>
                </a:solidFill>
                <a:latin typeface="Arial"/>
              </a:rPr>
              <a:t>•  Competitor? Why no next steps?</a:t>
            </a:r>
          </a:p>
          <a:p>
            <a:pPr algn="l">
              <a:spcAft>
                <a:spcPts val="700"/>
              </a:spcAft>
            </a:pPr>
            <a:r>
              <a:rPr sz="1300" b="0">
                <a:solidFill>
                  <a:srgbClr val="26251E"/>
                </a:solidFill>
                <a:latin typeface="Arial"/>
              </a:rPr>
              <a:t>•  Gaps → coaching plan</a:t>
            </a:r>
          </a:p>
        </p:txBody>
      </p:sp>
      <p:sp>
        <p:nvSpPr>
          <p:cNvPr id="11" name="Rectangle 10"/>
          <p:cNvSpPr/>
          <p:nvPr/>
        </p:nvSpPr>
        <p:spPr>
          <a:xfrm>
            <a:off x="4206240"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1737360"/>
            <a:ext cx="3200400" cy="365760"/>
          </a:xfrm>
          <a:prstGeom prst="rect">
            <a:avLst/>
          </a:prstGeom>
          <a:noFill/>
        </p:spPr>
        <p:txBody>
          <a:bodyPr wrap="square" anchor="t">
            <a:spAutoFit/>
          </a:bodyPr>
          <a:lstStyle/>
          <a:p>
            <a:pPr algn="l"/>
            <a:r>
              <a:rPr sz="1500" b="1">
                <a:solidFill>
                  <a:srgbClr val="26251E"/>
                </a:solidFill>
                <a:latin typeface="Arial"/>
              </a:rPr>
              <a:t>Funnel leaks</a:t>
            </a:r>
          </a:p>
        </p:txBody>
      </p:sp>
      <p:sp>
        <p:nvSpPr>
          <p:cNvPr id="14" name="TextBox 13"/>
          <p:cNvSpPr txBox="1"/>
          <p:nvPr/>
        </p:nvSpPr>
        <p:spPr>
          <a:xfrm>
            <a:off x="4389120"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Connect rate</a:t>
            </a:r>
          </a:p>
          <a:p>
            <a:pPr algn="l">
              <a:spcAft>
                <a:spcPts val="700"/>
              </a:spcAft>
            </a:pPr>
            <a:r>
              <a:rPr sz="1300" b="0">
                <a:solidFill>
                  <a:srgbClr val="26251E"/>
                </a:solidFill>
                <a:latin typeface="Arial"/>
              </a:rPr>
              <a:t>•  Connect → conversation</a:t>
            </a:r>
          </a:p>
          <a:p>
            <a:pPr algn="l">
              <a:spcAft>
                <a:spcPts val="700"/>
              </a:spcAft>
            </a:pPr>
            <a:r>
              <a:rPr sz="1300" b="0">
                <a:solidFill>
                  <a:srgbClr val="26251E"/>
                </a:solidFill>
                <a:latin typeface="Arial"/>
              </a:rPr>
              <a:t>•  Conversation → meeting</a:t>
            </a:r>
          </a:p>
          <a:p>
            <a:pPr algn="l">
              <a:spcAft>
                <a:spcPts val="700"/>
              </a:spcAft>
            </a:pPr>
            <a:r>
              <a:rPr sz="1300" b="0">
                <a:solidFill>
                  <a:srgbClr val="26251E"/>
                </a:solidFill>
                <a:latin typeface="Arial"/>
              </a:rPr>
              <a:t>•  Low C→Conv: openers / objections → objection training</a:t>
            </a:r>
          </a:p>
          <a:p>
            <a:pPr algn="l">
              <a:spcAft>
                <a:spcPts val="700"/>
              </a:spcAft>
            </a:pPr>
            <a:r>
              <a:rPr sz="1300" b="0">
                <a:solidFill>
                  <a:srgbClr val="26251E"/>
                </a:solidFill>
                <a:latin typeface="Arial"/>
              </a:rPr>
              <a:t>•  Low Conv→Mtg: discovery / pain → differentiator or competitor training</a:t>
            </a:r>
          </a:p>
          <a:p>
            <a:pPr algn="l">
              <a:spcAft>
                <a:spcPts val="700"/>
              </a:spcAft>
            </a:pPr>
            <a:r>
              <a:rPr sz="1300" b="0">
                <a:solidFill>
                  <a:srgbClr val="26251E"/>
                </a:solidFill>
                <a:latin typeface="Arial"/>
              </a:rPr>
              <a:t>•  Already using a competitor? Train the frame</a:t>
            </a:r>
          </a:p>
        </p:txBody>
      </p:sp>
      <p:sp>
        <p:nvSpPr>
          <p:cNvPr id="15" name="Rectangle 14"/>
          <p:cNvSpPr/>
          <p:nvPr/>
        </p:nvSpPr>
        <p:spPr>
          <a:xfrm>
            <a:off x="7955279" y="1280160"/>
            <a:ext cx="361188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59" y="1508760"/>
            <a:ext cx="68580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59" y="1737360"/>
            <a:ext cx="3200400" cy="365760"/>
          </a:xfrm>
          <a:prstGeom prst="rect">
            <a:avLst/>
          </a:prstGeom>
          <a:noFill/>
        </p:spPr>
        <p:txBody>
          <a:bodyPr wrap="square" anchor="t">
            <a:spAutoFit/>
          </a:bodyPr>
          <a:lstStyle/>
          <a:p>
            <a:pPr algn="l"/>
            <a:r>
              <a:rPr sz="1500" b="1">
                <a:solidFill>
                  <a:srgbClr val="26251E"/>
                </a:solidFill>
                <a:latin typeface="Arial"/>
              </a:rPr>
              <a:t>Channel mix</a:t>
            </a:r>
          </a:p>
        </p:txBody>
      </p:sp>
      <p:sp>
        <p:nvSpPr>
          <p:cNvPr id="18" name="TextBox 17"/>
          <p:cNvSpPr txBox="1"/>
          <p:nvPr/>
        </p:nvSpPr>
        <p:spPr>
          <a:xfrm>
            <a:off x="8138159" y="2240280"/>
            <a:ext cx="3200400" cy="3566160"/>
          </a:xfrm>
          <a:prstGeom prst="rect">
            <a:avLst/>
          </a:prstGeom>
          <a:noFill/>
        </p:spPr>
        <p:txBody>
          <a:bodyPr wrap="square">
            <a:spAutoFit/>
          </a:bodyPr>
          <a:lstStyle/>
          <a:p>
            <a:pPr algn="l">
              <a:spcAft>
                <a:spcPts val="700"/>
              </a:spcAft>
            </a:pPr>
            <a:r>
              <a:rPr sz="1300" b="0">
                <a:solidFill>
                  <a:srgbClr val="26251E"/>
                </a:solidFill>
                <a:latin typeface="Arial"/>
              </a:rPr>
              <a:t>•  % meetings via email</a:t>
            </a:r>
          </a:p>
          <a:p>
            <a:pPr algn="l">
              <a:spcAft>
                <a:spcPts val="700"/>
              </a:spcAft>
            </a:pPr>
            <a:r>
              <a:rPr sz="1300" b="0">
                <a:solidFill>
                  <a:srgbClr val="26251E"/>
                </a:solidFill>
                <a:latin typeface="Arial"/>
              </a:rPr>
              <a:t>•  % meetings via LinkedIn</a:t>
            </a:r>
          </a:p>
          <a:p>
            <a:pPr algn="l">
              <a:spcAft>
                <a:spcPts val="700"/>
              </a:spcAft>
            </a:pPr>
            <a:r>
              <a:rPr sz="1300" b="0">
                <a:solidFill>
                  <a:srgbClr val="26251E"/>
                </a:solidFill>
                <a:latin typeface="Arial"/>
              </a:rPr>
              <a:t>•  % meetings via phone</a:t>
            </a:r>
          </a:p>
          <a:p>
            <a:pPr algn="l">
              <a:spcAft>
                <a:spcPts val="700"/>
              </a:spcAft>
            </a:pPr>
            <a:r>
              <a:rPr sz="1300" b="0">
                <a:solidFill>
                  <a:srgbClr val="26251E"/>
                </a:solidFill>
                <a:latin typeface="Arial"/>
              </a:rPr>
              <a:t>•  Which is strongest?</a:t>
            </a:r>
          </a:p>
          <a:p>
            <a:pPr algn="l">
              <a:spcAft>
                <a:spcPts val="700"/>
              </a:spcAft>
            </a:pPr>
            <a:r>
              <a:rPr sz="1300" b="0">
                <a:solidFill>
                  <a:srgbClr val="26251E"/>
                </a:solidFill>
                <a:latin typeface="Arial"/>
              </a:rPr>
              <a:t>•  Which is weakest?</a:t>
            </a:r>
          </a:p>
          <a:p>
            <a:pPr algn="l">
              <a:spcAft>
                <a:spcPts val="700"/>
              </a:spcAft>
            </a:pPr>
            <a:r>
              <a:rPr sz="1300" b="0">
                <a:solidFill>
                  <a:srgbClr val="26251E"/>
                </a:solidFill>
                <a:latin typeface="Arial"/>
              </a:rPr>
              <a:t>•  Double down on what’s working — lift the weak bucket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Operating calendar — first 15 and 30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80160"/>
            <a:ext cx="5486400" cy="64008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371600"/>
            <a:ext cx="5029200" cy="228600"/>
          </a:xfrm>
          <a:prstGeom prst="rect">
            <a:avLst/>
          </a:prstGeom>
          <a:noFill/>
        </p:spPr>
        <p:txBody>
          <a:bodyPr wrap="square" anchor="t">
            <a:spAutoFit/>
          </a:bodyPr>
          <a:lstStyle/>
          <a:p>
            <a:pPr algn="l"/>
            <a:r>
              <a:rPr sz="1200" b="1">
                <a:solidFill>
                  <a:srgbClr val="F54E00"/>
                </a:solidFill>
                <a:latin typeface="Arial"/>
              </a:rPr>
              <a:t>DAYS 1–15</a:t>
            </a:r>
          </a:p>
        </p:txBody>
      </p:sp>
      <p:sp>
        <p:nvSpPr>
          <p:cNvPr id="10" name="TextBox 9"/>
          <p:cNvSpPr txBox="1"/>
          <p:nvPr/>
        </p:nvSpPr>
        <p:spPr>
          <a:xfrm>
            <a:off x="685800" y="1627632"/>
            <a:ext cx="5029200" cy="228600"/>
          </a:xfrm>
          <a:prstGeom prst="rect">
            <a:avLst/>
          </a:prstGeom>
          <a:noFill/>
        </p:spPr>
        <p:txBody>
          <a:bodyPr wrap="square" anchor="t">
            <a:spAutoFit/>
          </a:bodyPr>
          <a:lstStyle/>
          <a:p>
            <a:pPr algn="l"/>
            <a:r>
              <a:rPr sz="1600" b="1">
                <a:solidFill>
                  <a:srgbClr val="FFFFFF"/>
                </a:solidFill>
                <a:latin typeface="Arial"/>
              </a:rPr>
              <a:t>Inspection · Data · Training design</a:t>
            </a:r>
          </a:p>
        </p:txBody>
      </p:sp>
      <p:sp>
        <p:nvSpPr>
          <p:cNvPr id="11" name="TextBox 10"/>
          <p:cNvSpPr txBox="1"/>
          <p:nvPr/>
        </p:nvSpPr>
        <p:spPr>
          <a:xfrm>
            <a:off x="731520" y="2148840"/>
            <a:ext cx="4937760" cy="3657600"/>
          </a:xfrm>
          <a:prstGeom prst="rect">
            <a:avLst/>
          </a:prstGeom>
          <a:noFill/>
        </p:spPr>
        <p:txBody>
          <a:bodyPr wrap="square">
            <a:spAutoFit/>
          </a:bodyPr>
          <a:lstStyle/>
          <a:p>
            <a:pPr algn="l">
              <a:spcAft>
                <a:spcPts val="800"/>
              </a:spcAft>
            </a:pPr>
            <a:r>
              <a:rPr sz="1400" b="0">
                <a:solidFill>
                  <a:srgbClr val="26251E"/>
                </a:solidFill>
                <a:latin typeface="Arial"/>
              </a:rPr>
              <a:t>•  Inspect the machine — no big changes yet</a:t>
            </a:r>
          </a:p>
          <a:p>
            <a:pPr algn="l">
              <a:spcAft>
                <a:spcPts val="800"/>
              </a:spcAft>
            </a:pPr>
            <a:r>
              <a:rPr sz="1400" b="0">
                <a:solidFill>
                  <a:srgbClr val="26251E"/>
                </a:solidFill>
                <a:latin typeface="Arial"/>
              </a:rPr>
              <a:t>•  Pull hard data: qualified vs unqualified meetings</a:t>
            </a:r>
          </a:p>
          <a:p>
            <a:pPr algn="l">
              <a:spcAft>
                <a:spcPts val="800"/>
              </a:spcAft>
            </a:pPr>
            <a:r>
              <a:rPr sz="1400" b="0">
                <a:solidFill>
                  <a:srgbClr val="26251E"/>
                </a:solidFill>
                <a:latin typeface="Arial"/>
              </a:rPr>
              <a:t>•  AE interviews: titles, pain, industry, competitor, next steps</a:t>
            </a:r>
          </a:p>
          <a:p>
            <a:pPr algn="l">
              <a:spcAft>
                <a:spcPts val="800"/>
              </a:spcAft>
            </a:pPr>
            <a:r>
              <a:rPr sz="1400" b="0">
                <a:solidFill>
                  <a:srgbClr val="26251E"/>
                </a:solidFill>
                <a:latin typeface="Arial"/>
              </a:rPr>
              <a:t>•  Funnel: connect → conversation → meeting</a:t>
            </a:r>
          </a:p>
          <a:p>
            <a:pPr algn="l">
              <a:spcAft>
                <a:spcPts val="800"/>
              </a:spcAft>
            </a:pPr>
            <a:r>
              <a:rPr sz="1400" b="0">
                <a:solidFill>
                  <a:srgbClr val="26251E"/>
                </a:solidFill>
                <a:latin typeface="Arial"/>
              </a:rPr>
              <a:t>•  Channel mix: email vs LinkedIn vs phone</a:t>
            </a:r>
          </a:p>
          <a:p>
            <a:pPr algn="l">
              <a:spcAft>
                <a:spcPts val="800"/>
              </a:spcAft>
            </a:pPr>
            <a:r>
              <a:rPr sz="1400" b="0">
                <a:solidFill>
                  <a:srgbClr val="26251E"/>
                </a:solidFill>
                <a:latin typeface="Arial"/>
              </a:rPr>
              <a:t>•  Spot patterns → design coaching &amp; training</a:t>
            </a:r>
          </a:p>
          <a:p>
            <a:pPr algn="l">
              <a:spcAft>
                <a:spcPts val="800"/>
              </a:spcAft>
            </a:pPr>
            <a:r>
              <a:rPr sz="1400" b="0">
                <a:solidFill>
                  <a:srgbClr val="26251E"/>
                </a:solidFill>
                <a:latin typeface="Arial"/>
              </a:rPr>
              <a:t>•  Build objection, discovery, and differentiator modules</a:t>
            </a:r>
          </a:p>
        </p:txBody>
      </p:sp>
      <p:sp>
        <p:nvSpPr>
          <p:cNvPr id="12" name="Rectangle 11"/>
          <p:cNvSpPr/>
          <p:nvPr/>
        </p:nvSpPr>
        <p:spPr>
          <a:xfrm>
            <a:off x="6172200" y="1280160"/>
            <a:ext cx="5486400" cy="4846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280160"/>
            <a:ext cx="5486400" cy="640080"/>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371600"/>
            <a:ext cx="5029200" cy="228600"/>
          </a:xfrm>
          <a:prstGeom prst="rect">
            <a:avLst/>
          </a:prstGeom>
          <a:noFill/>
        </p:spPr>
        <p:txBody>
          <a:bodyPr wrap="square" anchor="t">
            <a:spAutoFit/>
          </a:bodyPr>
          <a:lstStyle/>
          <a:p>
            <a:pPr algn="l"/>
            <a:r>
              <a:rPr sz="1200" b="1">
                <a:solidFill>
                  <a:srgbClr val="F54E00"/>
                </a:solidFill>
                <a:latin typeface="Arial"/>
              </a:rPr>
              <a:t>DAYS 16–30</a:t>
            </a:r>
          </a:p>
        </p:txBody>
      </p:sp>
      <p:sp>
        <p:nvSpPr>
          <p:cNvPr id="15" name="TextBox 14"/>
          <p:cNvSpPr txBox="1"/>
          <p:nvPr/>
        </p:nvSpPr>
        <p:spPr>
          <a:xfrm>
            <a:off x="6355080" y="1627632"/>
            <a:ext cx="5029200" cy="228600"/>
          </a:xfrm>
          <a:prstGeom prst="rect">
            <a:avLst/>
          </a:prstGeom>
          <a:noFill/>
        </p:spPr>
        <p:txBody>
          <a:bodyPr wrap="square" anchor="t">
            <a:spAutoFit/>
          </a:bodyPr>
          <a:lstStyle/>
          <a:p>
            <a:pPr algn="l"/>
            <a:r>
              <a:rPr sz="1600" b="1">
                <a:solidFill>
                  <a:srgbClr val="FFFFFF"/>
                </a:solidFill>
                <a:latin typeface="Arial"/>
              </a:rPr>
              <a:t>Train · Activity · Daily cadence</a:t>
            </a:r>
          </a:p>
        </p:txBody>
      </p:sp>
      <p:sp>
        <p:nvSpPr>
          <p:cNvPr id="16" name="TextBox 15"/>
          <p:cNvSpPr txBox="1"/>
          <p:nvPr/>
        </p:nvSpPr>
        <p:spPr>
          <a:xfrm>
            <a:off x="6400800" y="2148840"/>
            <a:ext cx="4937760" cy="3657600"/>
          </a:xfrm>
          <a:prstGeom prst="rect">
            <a:avLst/>
          </a:prstGeom>
          <a:noFill/>
        </p:spPr>
        <p:txBody>
          <a:bodyPr wrap="square">
            <a:spAutoFit/>
          </a:bodyPr>
          <a:lstStyle/>
          <a:p>
            <a:pPr algn="l">
              <a:spcAft>
                <a:spcPts val="600"/>
              </a:spcAft>
            </a:pPr>
            <a:r>
              <a:rPr sz="1300" b="0">
                <a:solidFill>
                  <a:srgbClr val="26251E"/>
                </a:solidFill>
                <a:latin typeface="Arial"/>
              </a:rPr>
              <a:t>•  Run the training (openers, objections, discovery)</a:t>
            </a:r>
          </a:p>
          <a:p>
            <a:pPr algn="l">
              <a:spcAft>
                <a:spcPts val="600"/>
              </a:spcAft>
            </a:pPr>
            <a:r>
              <a:rPr sz="1300" b="0">
                <a:solidFill>
                  <a:srgbClr val="26251E"/>
                </a:solidFill>
                <a:latin typeface="Arial"/>
              </a:rPr>
              <a:t>•  Increase activity metrics once diagnosis is clear</a:t>
            </a:r>
          </a:p>
          <a:p>
            <a:pPr algn="l">
              <a:spcAft>
                <a:spcPts val="600"/>
              </a:spcAft>
            </a:pPr>
            <a:r>
              <a:rPr sz="1300" b="0">
                <a:solidFill>
                  <a:srgbClr val="26251E"/>
                </a:solidFill>
                <a:latin typeface="Arial"/>
              </a:rPr>
              <a:t>•  Daily data pull — what worked yesterday?</a:t>
            </a:r>
          </a:p>
          <a:p>
            <a:pPr algn="l">
              <a:spcAft>
                <a:spcPts val="600"/>
              </a:spcAft>
            </a:pPr>
            <a:r>
              <a:rPr sz="1300" b="0">
                <a:solidFill>
                  <a:srgbClr val="26251E"/>
                </a:solidFill>
                <a:latin typeface="Arial"/>
              </a:rPr>
              <a:t>•  Daily team call — first 15 minutes of the day</a:t>
            </a:r>
          </a:p>
          <a:p>
            <a:pPr algn="l">
              <a:spcAft>
                <a:spcPts val="600"/>
              </a:spcAft>
            </a:pPr>
            <a:r>
              <a:rPr sz="1300" b="0">
                <a:solidFill>
                  <a:srgbClr val="26251E"/>
                </a:solidFill>
                <a:latin typeface="Arial"/>
              </a:rPr>
              <a:t>•  Review: pitch landing · personas · differentiator that won</a:t>
            </a:r>
          </a:p>
          <a:p>
            <a:pPr algn="l">
              <a:spcAft>
                <a:spcPts val="600"/>
              </a:spcAft>
            </a:pPr>
            <a:r>
              <a:rPr sz="1300" b="0">
                <a:solidFill>
                  <a:srgbClr val="26251E"/>
                </a:solidFill>
                <a:latin typeface="Arial"/>
              </a:rPr>
              <a:t>•  One customer story reviewed every day</a:t>
            </a:r>
          </a:p>
          <a:p>
            <a:pPr algn="l">
              <a:spcAft>
                <a:spcPts val="600"/>
              </a:spcAft>
            </a:pPr>
            <a:r>
              <a:rPr sz="1300" b="0">
                <a:solidFill>
                  <a:srgbClr val="26251E"/>
                </a:solidFill>
                <a:latin typeface="Arial"/>
              </a:rPr>
              <a:t>•  Models that leapfrogged overnight → update talk tracks</a:t>
            </a:r>
          </a:p>
          <a:p>
            <a:pPr algn="l">
              <a:spcAft>
                <a:spcPts val="600"/>
              </a:spcAft>
            </a:pPr>
            <a:r>
              <a:rPr sz="1300" b="0">
                <a:solidFill>
                  <a:srgbClr val="26251E"/>
                </a:solidFill>
                <a:latin typeface="Arial"/>
              </a:rPr>
              <a:t>•  Game-plan the day for success before dials 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What I’d protect in the first 60 days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What’s already working well — don’t rip out a motion that produces pipeline</a:t>
            </a:r>
          </a:p>
          <a:p>
            <a:pPr algn="l">
              <a:spcAft>
                <a:spcPts val="1100"/>
              </a:spcAft>
            </a:pPr>
            <a:r>
              <a:rPr sz="1700" b="0">
                <a:solidFill>
                  <a:srgbClr val="26251E"/>
                </a:solidFill>
                <a:latin typeface="Arial"/>
              </a:rPr>
              <a:t>•  Knowing the Cursor pitch — keep that fluency intact</a:t>
            </a:r>
          </a:p>
          <a:p>
            <a:pPr algn="l">
              <a:spcAft>
                <a:spcPts val="1100"/>
              </a:spcAft>
            </a:pPr>
            <a:r>
              <a:rPr sz="1700" b="0">
                <a:solidFill>
                  <a:srgbClr val="26251E"/>
                </a:solidFill>
                <a:latin typeface="Arial"/>
              </a:rPr>
              <a:t>•  Reaching out to the right people — ICP and persona discipline</a:t>
            </a:r>
          </a:p>
          <a:p>
            <a:pPr algn="l">
              <a:spcAft>
                <a:spcPts val="1100"/>
              </a:spcAft>
            </a:pPr>
            <a:r>
              <a:rPr sz="1700" b="0">
                <a:solidFill>
                  <a:srgbClr val="26251E"/>
                </a:solidFill>
                <a:latin typeface="Arial"/>
              </a:rPr>
              <a:t>•  I’m here to diagnose leaks and raise conversion quality — not reinvent the org chart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Where the next level of gains come from</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Call openers + objection handling (after we know the real objections)</a:t>
            </a:r>
          </a:p>
          <a:p>
            <a:pPr algn="l">
              <a:spcAft>
                <a:spcPts val="1100"/>
              </a:spcAft>
            </a:pPr>
            <a:r>
              <a:rPr sz="1700" b="0">
                <a:solidFill>
                  <a:srgbClr val="26251E"/>
                </a:solidFill>
                <a:latin typeface="Arial"/>
              </a:rPr>
              <a:t>•  Discovery that creates enough pain to earn the meeting</a:t>
            </a:r>
          </a:p>
          <a:p>
            <a:pPr algn="l">
              <a:spcAft>
                <a:spcPts val="1100"/>
              </a:spcAft>
            </a:pPr>
            <a:r>
              <a:rPr sz="1700" b="0">
                <a:solidFill>
                  <a:srgbClr val="26251E"/>
                </a:solidFill>
                <a:latin typeface="Arial"/>
              </a:rPr>
              <a:t>•  Competitor / differentiator fluency when Copilot or Claude Code is already in</a:t>
            </a:r>
          </a:p>
          <a:p>
            <a:pPr algn="l">
              <a:spcAft>
                <a:spcPts val="1100"/>
              </a:spcAft>
            </a:pPr>
            <a:r>
              <a:rPr sz="1700" b="0">
                <a:solidFill>
                  <a:srgbClr val="26251E"/>
                </a:solidFill>
                <a:latin typeface="Arial"/>
              </a:rPr>
              <a:t>•  Channel mix — double down on the strongest; lift the weakest</a:t>
            </a:r>
          </a:p>
          <a:p>
            <a:pPr algn="l">
              <a:spcAft>
                <a:spcPts val="1100"/>
              </a:spcAft>
            </a:pPr>
            <a:r>
              <a:rPr sz="1700" b="0">
                <a:solidFill>
                  <a:srgbClr val="26251E"/>
                </a:solidFill>
                <a:latin typeface="Arial"/>
              </a:rPr>
              <a:t>•  Test before betting: connect · conversation · meetings · % that convert to qualified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Competitor differentiation — market map</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25880"/>
            <a:ext cx="5029200" cy="274320"/>
          </a:xfrm>
          <a:prstGeom prst="rect">
            <a:avLst/>
          </a:prstGeom>
          <a:noFill/>
        </p:spPr>
        <p:txBody>
          <a:bodyPr wrap="square" anchor="t">
            <a:spAutoFit/>
          </a:bodyPr>
          <a:lstStyle/>
          <a:p>
            <a:pPr algn="l"/>
            <a:r>
              <a:rPr sz="1400" b="1">
                <a:solidFill>
                  <a:srgbClr val="26251E"/>
                </a:solidFill>
                <a:latin typeface="Arial"/>
              </a:rPr>
              <a:t>AI-native IDE</a:t>
            </a:r>
          </a:p>
        </p:txBody>
      </p:sp>
      <p:sp>
        <p:nvSpPr>
          <p:cNvPr id="9" name="TextBox 8"/>
          <p:cNvSpPr txBox="1"/>
          <p:nvPr/>
        </p:nvSpPr>
        <p:spPr>
          <a:xfrm>
            <a:off x="731520" y="1645920"/>
            <a:ext cx="5029200" cy="822960"/>
          </a:xfrm>
          <a:prstGeom prst="rect">
            <a:avLst/>
          </a:prstGeom>
          <a:noFill/>
        </p:spPr>
        <p:txBody>
          <a:bodyPr wrap="square" anchor="t">
            <a:spAutoFit/>
          </a:bodyPr>
          <a:lstStyle/>
          <a:p>
            <a:pPr algn="l"/>
            <a:r>
              <a:rPr sz="1300" b="0">
                <a:solidFill>
                  <a:srgbClr val="807D72"/>
                </a:solidFill>
                <a:latin typeface="Arial"/>
              </a:rPr>
              <a:t>Cursor · Windsurf
Rebuild the editor around agents — not bolt AI onto an existing one.</a:t>
            </a:r>
          </a:p>
        </p:txBody>
      </p:sp>
      <p:sp>
        <p:nvSpPr>
          <p:cNvPr id="10" name="Rectangle 9"/>
          <p:cNvSpPr/>
          <p:nvPr/>
        </p:nvSpPr>
        <p:spPr>
          <a:xfrm>
            <a:off x="6172200" y="1234440"/>
            <a:ext cx="539496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5029200" cy="274320"/>
          </a:xfrm>
          <a:prstGeom prst="rect">
            <a:avLst/>
          </a:prstGeom>
          <a:noFill/>
        </p:spPr>
        <p:txBody>
          <a:bodyPr wrap="square" anchor="t">
            <a:spAutoFit/>
          </a:bodyPr>
          <a:lstStyle/>
          <a:p>
            <a:pPr algn="l"/>
            <a:r>
              <a:rPr sz="1400" b="1">
                <a:solidFill>
                  <a:srgbClr val="26251E"/>
                </a:solidFill>
                <a:latin typeface="Arial"/>
              </a:rPr>
              <a:t>IDE plugin / extension</a:t>
            </a:r>
          </a:p>
        </p:txBody>
      </p:sp>
      <p:sp>
        <p:nvSpPr>
          <p:cNvPr id="12" name="TextBox 11"/>
          <p:cNvSpPr txBox="1"/>
          <p:nvPr/>
        </p:nvSpPr>
        <p:spPr>
          <a:xfrm>
            <a:off x="6355080" y="1645920"/>
            <a:ext cx="5029200" cy="822960"/>
          </a:xfrm>
          <a:prstGeom prst="rect">
            <a:avLst/>
          </a:prstGeom>
          <a:noFill/>
        </p:spPr>
        <p:txBody>
          <a:bodyPr wrap="square" anchor="t">
            <a:spAutoFit/>
          </a:bodyPr>
          <a:lstStyle/>
          <a:p>
            <a:pPr algn="l"/>
            <a:r>
              <a:rPr sz="1300" b="0">
                <a:solidFill>
                  <a:srgbClr val="807D72"/>
                </a:solidFill>
                <a:latin typeface="Arial"/>
              </a:rPr>
              <a:t>GitHub Copilot · JetBrains AI · Amazon Q
Keep the current toolchain; add AI as a layer.</a:t>
            </a:r>
          </a:p>
        </p:txBody>
      </p:sp>
      <p:sp>
        <p:nvSpPr>
          <p:cNvPr id="13" name="Rectangle 12"/>
          <p:cNvSpPr/>
          <p:nvPr/>
        </p:nvSpPr>
        <p:spPr>
          <a:xfrm>
            <a:off x="54864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834640"/>
            <a:ext cx="5394960" cy="384048"/>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880360"/>
            <a:ext cx="5029200" cy="320040"/>
          </a:xfrm>
          <a:prstGeom prst="rect">
            <a:avLst/>
          </a:prstGeom>
          <a:noFill/>
        </p:spPr>
        <p:txBody>
          <a:bodyPr wrap="square" anchor="t">
            <a:spAutoFit/>
          </a:bodyPr>
          <a:lstStyle/>
          <a:p>
            <a:pPr algn="l"/>
            <a:r>
              <a:rPr sz="1300" b="1">
                <a:solidFill>
                  <a:srgbClr val="F54E00"/>
                </a:solidFill>
                <a:latin typeface="Arial"/>
              </a:rPr>
              <a:t>Layer 1 — Harness / product</a:t>
            </a:r>
          </a:p>
        </p:txBody>
      </p:sp>
      <p:sp>
        <p:nvSpPr>
          <p:cNvPr id="16" name="TextBox 15"/>
          <p:cNvSpPr txBox="1"/>
          <p:nvPr/>
        </p:nvSpPr>
        <p:spPr>
          <a:xfrm>
            <a:off x="731520" y="3383280"/>
            <a:ext cx="5029200" cy="1417320"/>
          </a:xfrm>
          <a:prstGeom prst="rect">
            <a:avLst/>
          </a:prstGeom>
          <a:noFill/>
        </p:spPr>
        <p:txBody>
          <a:bodyPr wrap="square">
            <a:spAutoFit/>
          </a:bodyPr>
          <a:lstStyle/>
          <a:p>
            <a:pPr algn="l">
              <a:spcAft>
                <a:spcPts val="500"/>
              </a:spcAft>
            </a:pPr>
            <a:r>
              <a:rPr sz="1300" b="0">
                <a:solidFill>
                  <a:srgbClr val="26251E"/>
                </a:solidFill>
                <a:latin typeface="Arial"/>
              </a:rPr>
              <a:t>•  Plans, tools, repo navigation, workflow fit</a:t>
            </a:r>
          </a:p>
          <a:p>
            <a:pPr algn="l">
              <a:spcAft>
                <a:spcPts val="500"/>
              </a:spcAft>
            </a:pPr>
            <a:r>
              <a:rPr sz="1300" b="0">
                <a:solidFill>
                  <a:srgbClr val="26251E"/>
                </a:solidFill>
                <a:latin typeface="Arial"/>
              </a:rPr>
              <a:t>•  What buyers feel in first conversations</a:t>
            </a:r>
          </a:p>
          <a:p>
            <a:pPr algn="l">
              <a:spcAft>
                <a:spcPts val="500"/>
              </a:spcAft>
            </a:pPr>
            <a:r>
              <a:rPr sz="1300" b="0">
                <a:solidFill>
                  <a:srgbClr val="26251E"/>
                </a:solidFill>
                <a:latin typeface="Arial"/>
              </a:rPr>
              <a:t>•  Cursor’s established commercial strength</a:t>
            </a:r>
          </a:p>
        </p:txBody>
      </p:sp>
      <p:sp>
        <p:nvSpPr>
          <p:cNvPr id="17" name="Rectangle 16"/>
          <p:cNvSpPr/>
          <p:nvPr/>
        </p:nvSpPr>
        <p:spPr>
          <a:xfrm>
            <a:off x="6172200" y="283464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2834640"/>
            <a:ext cx="5394960" cy="384048"/>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2880360"/>
            <a:ext cx="5029200" cy="320040"/>
          </a:xfrm>
          <a:prstGeom prst="rect">
            <a:avLst/>
          </a:prstGeom>
          <a:noFill/>
        </p:spPr>
        <p:txBody>
          <a:bodyPr wrap="square" anchor="t">
            <a:spAutoFit/>
          </a:bodyPr>
          <a:lstStyle/>
          <a:p>
            <a:pPr algn="l"/>
            <a:r>
              <a:rPr sz="1300" b="1">
                <a:solidFill>
                  <a:srgbClr val="FFFFFF"/>
                </a:solidFill>
                <a:latin typeface="Arial"/>
              </a:rPr>
              <a:t>Layer 2 — Model</a:t>
            </a:r>
          </a:p>
        </p:txBody>
      </p:sp>
      <p:sp>
        <p:nvSpPr>
          <p:cNvPr id="20" name="TextBox 19"/>
          <p:cNvSpPr txBox="1"/>
          <p:nvPr/>
        </p:nvSpPr>
        <p:spPr>
          <a:xfrm>
            <a:off x="6355080" y="3383280"/>
            <a:ext cx="5029200" cy="1417320"/>
          </a:xfrm>
          <a:prstGeom prst="rect">
            <a:avLst/>
          </a:prstGeom>
          <a:noFill/>
        </p:spPr>
        <p:txBody>
          <a:bodyPr wrap="square">
            <a:spAutoFit/>
          </a:bodyPr>
          <a:lstStyle/>
          <a:p>
            <a:pPr algn="l">
              <a:spcAft>
                <a:spcPts val="500"/>
              </a:spcAft>
            </a:pPr>
            <a:r>
              <a:rPr sz="1300" b="0">
                <a:solidFill>
                  <a:srgbClr val="26251E"/>
                </a:solidFill>
                <a:latin typeface="Arial"/>
              </a:rPr>
              <a:t>•  Reasoning + long-horizon coding quality</a:t>
            </a:r>
          </a:p>
          <a:p>
            <a:pPr algn="l">
              <a:spcAft>
                <a:spcPts val="500"/>
              </a:spcAft>
            </a:pPr>
            <a:r>
              <a:rPr sz="1300" b="0">
                <a:solidFill>
                  <a:srgbClr val="26251E"/>
                </a:solidFill>
                <a:latin typeface="Arial"/>
              </a:rPr>
              <a:t>•  Composer = Cursor coding-specialist path</a:t>
            </a:r>
          </a:p>
          <a:p>
            <a:pPr algn="l">
              <a:spcAft>
                <a:spcPts val="500"/>
              </a:spcAft>
            </a:pPr>
            <a:r>
              <a:rPr sz="1300" b="0">
                <a:solidFill>
                  <a:srgbClr val="26251E"/>
                </a:solidFill>
                <a:latin typeface="Arial"/>
              </a:rPr>
              <a:t>•  Labs can be suppliers and competitors</a:t>
            </a:r>
          </a:p>
        </p:txBody>
      </p:sp>
      <p:sp>
        <p:nvSpPr>
          <p:cNvPr id="21" name="Rectangle 20"/>
          <p:cNvSpPr/>
          <p:nvPr/>
        </p:nvSpPr>
        <p:spPr>
          <a:xfrm>
            <a:off x="548640" y="5166360"/>
            <a:ext cx="11018520"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607040" cy="777240"/>
          </a:xfrm>
          <a:prstGeom prst="rect">
            <a:avLst/>
          </a:prstGeom>
          <a:noFill/>
        </p:spPr>
        <p:txBody>
          <a:bodyPr wrap="square" anchor="t">
            <a:spAutoFit/>
          </a:bodyPr>
          <a:lstStyle/>
          <a:p>
            <a:pPr algn="l"/>
            <a:r>
              <a:rPr sz="1300" b="0">
                <a:solidFill>
                  <a:srgbClr val="EFEEE8"/>
                </a:solidFill>
                <a:latin typeface="Arial"/>
              </a:rPr>
              <a:t>Shapes:  Cursor = platform  ·  Copilot = plugin / GitHub ecosystem  ·  Claude Code = terminal agent  ·  Windsurf = Cascade IDE challenger  ·  Codex = OpenAI async agents  ·  Often the real rival = ungoverned shadow 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Cursor positioning — workflow · context · execution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34440"/>
            <a:ext cx="11018520" cy="77724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25880"/>
            <a:ext cx="10607040" cy="594360"/>
          </a:xfrm>
          <a:prstGeom prst="rect">
            <a:avLst/>
          </a:prstGeom>
          <a:noFill/>
        </p:spPr>
        <p:txBody>
          <a:bodyPr wrap="square" anchor="t">
            <a:spAutoFit/>
          </a:bodyPr>
          <a:lstStyle/>
          <a:p>
            <a:pPr algn="l"/>
            <a:r>
              <a:rPr sz="1300" b="0">
                <a:solidFill>
                  <a:srgbClr val="EFEEE8"/>
                </a:solidFill>
                <a:latin typeface="Arial"/>
              </a:rPr>
              <a:t>Leading agentic coding platform — a coding agent across IDE, CLI, Automations, and Cloud Agents with a shared AI layer on the codebase. Helps teams get more from frontier models via better workflow, context, and integrated execution.</a:t>
            </a:r>
          </a:p>
        </p:txBody>
      </p:sp>
      <p:sp>
        <p:nvSpPr>
          <p:cNvPr id="9" name="Rectangle 8"/>
          <p:cNvSpPr/>
          <p:nvPr/>
        </p:nvSpPr>
        <p:spPr>
          <a:xfrm>
            <a:off x="54864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514600"/>
            <a:ext cx="2331720" cy="256032"/>
          </a:xfrm>
          <a:prstGeom prst="rect">
            <a:avLst/>
          </a:prstGeom>
          <a:noFill/>
        </p:spPr>
        <p:txBody>
          <a:bodyPr wrap="square" anchor="t">
            <a:spAutoFit/>
          </a:bodyPr>
          <a:lstStyle/>
          <a:p>
            <a:pPr algn="l"/>
            <a:r>
              <a:rPr sz="1400" b="1">
                <a:solidFill>
                  <a:srgbClr val="26251E"/>
                </a:solidFill>
                <a:latin typeface="Arial"/>
              </a:rPr>
              <a:t>IDE</a:t>
            </a:r>
          </a:p>
        </p:txBody>
      </p:sp>
      <p:sp>
        <p:nvSpPr>
          <p:cNvPr id="12" name="TextBox 11"/>
          <p:cNvSpPr txBox="1"/>
          <p:nvPr/>
        </p:nvSpPr>
        <p:spPr>
          <a:xfrm>
            <a:off x="713232" y="2834640"/>
            <a:ext cx="2331720" cy="228600"/>
          </a:xfrm>
          <a:prstGeom prst="rect">
            <a:avLst/>
          </a:prstGeom>
          <a:noFill/>
        </p:spPr>
        <p:txBody>
          <a:bodyPr wrap="square" anchor="t">
            <a:spAutoFit/>
          </a:bodyPr>
          <a:lstStyle/>
          <a:p>
            <a:pPr algn="l"/>
            <a:r>
              <a:rPr sz="1200" b="0">
                <a:solidFill>
                  <a:srgbClr val="807D72"/>
                </a:solidFill>
                <a:latin typeface="Arial"/>
              </a:rPr>
              <a:t>Desktop agentic</a:t>
            </a:r>
          </a:p>
        </p:txBody>
      </p:sp>
      <p:sp>
        <p:nvSpPr>
          <p:cNvPr id="13" name="Rectangle 12"/>
          <p:cNvSpPr/>
          <p:nvPr/>
        </p:nvSpPr>
        <p:spPr>
          <a:xfrm>
            <a:off x="338328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4787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14600"/>
            <a:ext cx="2331720" cy="256032"/>
          </a:xfrm>
          <a:prstGeom prst="rect">
            <a:avLst/>
          </a:prstGeom>
          <a:noFill/>
        </p:spPr>
        <p:txBody>
          <a:bodyPr wrap="square" anchor="t">
            <a:spAutoFit/>
          </a:bodyPr>
          <a:lstStyle/>
          <a:p>
            <a:pPr algn="l"/>
            <a:r>
              <a:rPr sz="1400" b="1">
                <a:solidFill>
                  <a:srgbClr val="26251E"/>
                </a:solidFill>
                <a:latin typeface="Arial"/>
              </a:rPr>
              <a:t>CLI</a:t>
            </a:r>
          </a:p>
        </p:txBody>
      </p:sp>
      <p:sp>
        <p:nvSpPr>
          <p:cNvPr id="16" name="TextBox 15"/>
          <p:cNvSpPr txBox="1"/>
          <p:nvPr/>
        </p:nvSpPr>
        <p:spPr>
          <a:xfrm>
            <a:off x="3547872" y="2834640"/>
            <a:ext cx="2331720" cy="228600"/>
          </a:xfrm>
          <a:prstGeom prst="rect">
            <a:avLst/>
          </a:prstGeom>
          <a:noFill/>
        </p:spPr>
        <p:txBody>
          <a:bodyPr wrap="square" anchor="t">
            <a:spAutoFit/>
          </a:bodyPr>
          <a:lstStyle/>
          <a:p>
            <a:pPr algn="l"/>
            <a:r>
              <a:rPr sz="1200" b="0">
                <a:solidFill>
                  <a:srgbClr val="807D72"/>
                </a:solidFill>
                <a:latin typeface="Arial"/>
              </a:rPr>
              <a:t>Terminal / scripts</a:t>
            </a:r>
          </a:p>
        </p:txBody>
      </p:sp>
      <p:sp>
        <p:nvSpPr>
          <p:cNvPr id="17" name="Rectangle 16"/>
          <p:cNvSpPr/>
          <p:nvPr/>
        </p:nvSpPr>
        <p:spPr>
          <a:xfrm>
            <a:off x="621792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8251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2514600"/>
            <a:ext cx="2331720" cy="256032"/>
          </a:xfrm>
          <a:prstGeom prst="rect">
            <a:avLst/>
          </a:prstGeom>
          <a:noFill/>
        </p:spPr>
        <p:txBody>
          <a:bodyPr wrap="square" anchor="t">
            <a:spAutoFit/>
          </a:bodyPr>
          <a:lstStyle/>
          <a:p>
            <a:pPr algn="l"/>
            <a:r>
              <a:rPr sz="1400" b="1">
                <a:solidFill>
                  <a:srgbClr val="26251E"/>
                </a:solidFill>
                <a:latin typeface="Arial"/>
              </a:rPr>
              <a:t>Automations</a:t>
            </a:r>
          </a:p>
        </p:txBody>
      </p:sp>
      <p:sp>
        <p:nvSpPr>
          <p:cNvPr id="20" name="TextBox 19"/>
          <p:cNvSpPr txBox="1"/>
          <p:nvPr/>
        </p:nvSpPr>
        <p:spPr>
          <a:xfrm>
            <a:off x="6382512" y="2834640"/>
            <a:ext cx="2331720" cy="228600"/>
          </a:xfrm>
          <a:prstGeom prst="rect">
            <a:avLst/>
          </a:prstGeom>
          <a:noFill/>
        </p:spPr>
        <p:txBody>
          <a:bodyPr wrap="square" anchor="t">
            <a:spAutoFit/>
          </a:bodyPr>
          <a:lstStyle/>
          <a:p>
            <a:pPr algn="l"/>
            <a:r>
              <a:rPr sz="1200" b="0">
                <a:solidFill>
                  <a:srgbClr val="807D72"/>
                </a:solidFill>
                <a:latin typeface="Arial"/>
              </a:rPr>
              <a:t>Event-driven</a:t>
            </a:r>
          </a:p>
        </p:txBody>
      </p:sp>
      <p:sp>
        <p:nvSpPr>
          <p:cNvPr id="21" name="Rectangle 20"/>
          <p:cNvSpPr/>
          <p:nvPr/>
        </p:nvSpPr>
        <p:spPr>
          <a:xfrm>
            <a:off x="9052560" y="2194560"/>
            <a:ext cx="269748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17152" y="2331720"/>
            <a:ext cx="5486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2514600"/>
            <a:ext cx="2331720" cy="256032"/>
          </a:xfrm>
          <a:prstGeom prst="rect">
            <a:avLst/>
          </a:prstGeom>
          <a:noFill/>
        </p:spPr>
        <p:txBody>
          <a:bodyPr wrap="square" anchor="t">
            <a:spAutoFit/>
          </a:bodyPr>
          <a:lstStyle/>
          <a:p>
            <a:pPr algn="l"/>
            <a:r>
              <a:rPr sz="1400" b="1">
                <a:solidFill>
                  <a:srgbClr val="26251E"/>
                </a:solidFill>
                <a:latin typeface="Arial"/>
              </a:rPr>
              <a:t>Cloud Agents</a:t>
            </a:r>
          </a:p>
        </p:txBody>
      </p:sp>
      <p:sp>
        <p:nvSpPr>
          <p:cNvPr id="24" name="TextBox 23"/>
          <p:cNvSpPr txBox="1"/>
          <p:nvPr/>
        </p:nvSpPr>
        <p:spPr>
          <a:xfrm>
            <a:off x="9217152" y="2834640"/>
            <a:ext cx="2331720" cy="228600"/>
          </a:xfrm>
          <a:prstGeom prst="rect">
            <a:avLst/>
          </a:prstGeom>
          <a:noFill/>
        </p:spPr>
        <p:txBody>
          <a:bodyPr wrap="square" anchor="t">
            <a:spAutoFit/>
          </a:bodyPr>
          <a:lstStyle/>
          <a:p>
            <a:pPr algn="l"/>
            <a:r>
              <a:rPr sz="1200" b="0">
                <a:solidFill>
                  <a:srgbClr val="807D72"/>
                </a:solidFill>
                <a:latin typeface="Arial"/>
              </a:rPr>
              <a:t>Async / mobile</a:t>
            </a:r>
          </a:p>
        </p:txBody>
      </p:sp>
      <p:sp>
        <p:nvSpPr>
          <p:cNvPr id="25" name="Rectangle 24"/>
          <p:cNvSpPr/>
          <p:nvPr/>
        </p:nvSpPr>
        <p:spPr>
          <a:xfrm>
            <a:off x="54864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520440"/>
            <a:ext cx="3246120" cy="274320"/>
          </a:xfrm>
          <a:prstGeom prst="rect">
            <a:avLst/>
          </a:prstGeom>
          <a:noFill/>
        </p:spPr>
        <p:txBody>
          <a:bodyPr wrap="square" anchor="t">
            <a:spAutoFit/>
          </a:bodyPr>
          <a:lstStyle/>
          <a:p>
            <a:pPr algn="l"/>
            <a:r>
              <a:rPr sz="1400" b="1">
                <a:solidFill>
                  <a:srgbClr val="26251E"/>
                </a:solidFill>
                <a:latin typeface="Arial"/>
              </a:rPr>
              <a:t>Productivity</a:t>
            </a:r>
          </a:p>
        </p:txBody>
      </p:sp>
      <p:sp>
        <p:nvSpPr>
          <p:cNvPr id="27" name="TextBox 26"/>
          <p:cNvSpPr txBox="1"/>
          <p:nvPr/>
        </p:nvSpPr>
        <p:spPr>
          <a:xfrm>
            <a:off x="731520" y="3886200"/>
            <a:ext cx="3246120" cy="731520"/>
          </a:xfrm>
          <a:prstGeom prst="rect">
            <a:avLst/>
          </a:prstGeom>
          <a:noFill/>
        </p:spPr>
        <p:txBody>
          <a:bodyPr wrap="square" anchor="t">
            <a:spAutoFit/>
          </a:bodyPr>
          <a:lstStyle/>
          <a:p>
            <a:pPr algn="l"/>
            <a:r>
              <a:rPr sz="1200" b="0">
                <a:solidFill>
                  <a:srgbClr val="807D72"/>
                </a:solidFill>
                <a:latin typeface="Arial"/>
              </a:rPr>
              <a:t>Multi-file agents, codebase context, task completion — not just autocomplete</a:t>
            </a:r>
          </a:p>
        </p:txBody>
      </p:sp>
      <p:sp>
        <p:nvSpPr>
          <p:cNvPr id="28" name="Rectangle 27"/>
          <p:cNvSpPr/>
          <p:nvPr/>
        </p:nvSpPr>
        <p:spPr>
          <a:xfrm>
            <a:off x="434340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3520440"/>
            <a:ext cx="3246120" cy="274320"/>
          </a:xfrm>
          <a:prstGeom prst="rect">
            <a:avLst/>
          </a:prstGeom>
          <a:noFill/>
        </p:spPr>
        <p:txBody>
          <a:bodyPr wrap="square" anchor="t">
            <a:spAutoFit/>
          </a:bodyPr>
          <a:lstStyle/>
          <a:p>
            <a:pPr algn="l"/>
            <a:r>
              <a:rPr sz="1400" b="1">
                <a:solidFill>
                  <a:srgbClr val="26251E"/>
                </a:solidFill>
                <a:latin typeface="Arial"/>
              </a:rPr>
              <a:t>Governance</a:t>
            </a:r>
          </a:p>
        </p:txBody>
      </p:sp>
      <p:sp>
        <p:nvSpPr>
          <p:cNvPr id="30" name="TextBox 29"/>
          <p:cNvSpPr txBox="1"/>
          <p:nvPr/>
        </p:nvSpPr>
        <p:spPr>
          <a:xfrm>
            <a:off x="4526280" y="3886200"/>
            <a:ext cx="3246120" cy="731520"/>
          </a:xfrm>
          <a:prstGeom prst="rect">
            <a:avLst/>
          </a:prstGeom>
          <a:noFill/>
        </p:spPr>
        <p:txBody>
          <a:bodyPr wrap="square" anchor="t">
            <a:spAutoFit/>
          </a:bodyPr>
          <a:lstStyle/>
          <a:p>
            <a:pPr algn="l"/>
            <a:r>
              <a:rPr sz="1200" b="0">
                <a:solidFill>
                  <a:srgbClr val="807D72"/>
                </a:solidFill>
                <a:latin typeface="Arial"/>
              </a:rPr>
              <a:t>SSO · SCIM · RBAC · audit logs · admin controls over models / repos / MCP</a:t>
            </a:r>
          </a:p>
        </p:txBody>
      </p:sp>
      <p:sp>
        <p:nvSpPr>
          <p:cNvPr id="31" name="Rectangle 30"/>
          <p:cNvSpPr/>
          <p:nvPr/>
        </p:nvSpPr>
        <p:spPr>
          <a:xfrm>
            <a:off x="8138160" y="33832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3520440"/>
            <a:ext cx="3246120" cy="274320"/>
          </a:xfrm>
          <a:prstGeom prst="rect">
            <a:avLst/>
          </a:prstGeom>
          <a:noFill/>
        </p:spPr>
        <p:txBody>
          <a:bodyPr wrap="square" anchor="t">
            <a:spAutoFit/>
          </a:bodyPr>
          <a:lstStyle/>
          <a:p>
            <a:pPr algn="l"/>
            <a:r>
              <a:rPr sz="1400" b="1">
                <a:solidFill>
                  <a:srgbClr val="26251E"/>
                </a:solidFill>
                <a:latin typeface="Arial"/>
              </a:rPr>
              <a:t>Privacy &amp; security</a:t>
            </a:r>
          </a:p>
        </p:txBody>
      </p:sp>
      <p:sp>
        <p:nvSpPr>
          <p:cNvPr id="33" name="TextBox 32"/>
          <p:cNvSpPr txBox="1"/>
          <p:nvPr/>
        </p:nvSpPr>
        <p:spPr>
          <a:xfrm>
            <a:off x="8321040" y="3886200"/>
            <a:ext cx="3246120" cy="731520"/>
          </a:xfrm>
          <a:prstGeom prst="rect">
            <a:avLst/>
          </a:prstGeom>
          <a:noFill/>
        </p:spPr>
        <p:txBody>
          <a:bodyPr wrap="square" anchor="t">
            <a:spAutoFit/>
          </a:bodyPr>
          <a:lstStyle/>
          <a:p>
            <a:pPr algn="l"/>
            <a:r>
              <a:rPr sz="1200" b="0">
                <a:solidFill>
                  <a:srgbClr val="807D72"/>
                </a:solidFill>
                <a:latin typeface="Arial"/>
              </a:rPr>
              <a:t>Privacy Mode / ZDR · SOC 2 Type II · CMEK · reduce shadow AI risk</a:t>
            </a:r>
          </a:p>
        </p:txBody>
      </p:sp>
      <p:sp>
        <p:nvSpPr>
          <p:cNvPr id="34" name="TextBox 33"/>
          <p:cNvSpPr txBox="1"/>
          <p:nvPr/>
        </p:nvSpPr>
        <p:spPr>
          <a:xfrm>
            <a:off x="731520" y="5029200"/>
            <a:ext cx="10607040" cy="1097280"/>
          </a:xfrm>
          <a:prstGeom prst="rect">
            <a:avLst/>
          </a:prstGeom>
          <a:noFill/>
        </p:spPr>
        <p:txBody>
          <a:bodyPr wrap="square" anchor="t">
            <a:spAutoFit/>
          </a:bodyPr>
          <a:lstStyle/>
          <a:p>
            <a:pPr algn="l"/>
            <a:r>
              <a:rPr sz="1300" b="0">
                <a:solidFill>
                  <a:srgbClr val="807D72"/>
                </a:solidFill>
                <a:latin typeface="Arial"/>
              </a:rPr>
              <a:t>Harness = the engineering layer between developer and model (context packing, tool use, turn management, routing).
Proof: Coinbase (agent-first) · Stripe (standardized rollout) · PayPal (enterprise velocity) — outcomes, not vanity AI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Four differentiators — lead with one based on buyer pain</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91640"/>
            <a:ext cx="777240" cy="274320"/>
          </a:xfrm>
          <a:prstGeom prst="rect">
            <a:avLst/>
          </a:prstGeom>
          <a:noFill/>
        </p:spPr>
        <p:txBody>
          <a:bodyPr wrap="square" anchor="t">
            <a:spAutoFit/>
          </a:bodyPr>
          <a:lstStyle/>
          <a:p>
            <a:pPr algn="l"/>
            <a:r>
              <a:rPr sz="1500" b="1">
                <a:solidFill>
                  <a:srgbClr val="26251E"/>
                </a:solidFill>
                <a:latin typeface="Arial"/>
              </a:rPr>
              <a:t>01</a:t>
            </a:r>
          </a:p>
        </p:txBody>
      </p:sp>
      <p:sp>
        <p:nvSpPr>
          <p:cNvPr id="10" name="TextBox 9"/>
          <p:cNvSpPr txBox="1"/>
          <p:nvPr/>
        </p:nvSpPr>
        <p:spPr>
          <a:xfrm>
            <a:off x="1554480" y="1691640"/>
            <a:ext cx="4023360" cy="274320"/>
          </a:xfrm>
          <a:prstGeom prst="rect">
            <a:avLst/>
          </a:prstGeom>
          <a:noFill/>
        </p:spPr>
        <p:txBody>
          <a:bodyPr wrap="square" anchor="t">
            <a:spAutoFit/>
          </a:bodyPr>
          <a:lstStyle/>
          <a:p>
            <a:pPr algn="l"/>
            <a:r>
              <a:rPr sz="1500" b="1">
                <a:solidFill>
                  <a:srgbClr val="26251E"/>
                </a:solidFill>
                <a:latin typeface="Arial"/>
              </a:rPr>
              <a:t>Model neutrality</a:t>
            </a:r>
          </a:p>
        </p:txBody>
      </p:sp>
      <p:sp>
        <p:nvSpPr>
          <p:cNvPr id="11" name="TextBox 10"/>
          <p:cNvSpPr txBox="1"/>
          <p:nvPr/>
        </p:nvSpPr>
        <p:spPr>
          <a:xfrm>
            <a:off x="777240" y="2194560"/>
            <a:ext cx="4892040" cy="960120"/>
          </a:xfrm>
          <a:prstGeom prst="rect">
            <a:avLst/>
          </a:prstGeom>
          <a:noFill/>
        </p:spPr>
        <p:txBody>
          <a:bodyPr wrap="square" anchor="t">
            <a:spAutoFit/>
          </a:bodyPr>
          <a:lstStyle/>
          <a:p>
            <a:pPr algn="l"/>
            <a:r>
              <a:rPr sz="1300" b="0">
                <a:solidFill>
                  <a:srgbClr val="807D72"/>
                </a:solidFill>
                <a:latin typeface="Arial"/>
              </a:rPr>
              <a:t>Best model changes. No single-vendor lock-in. Labs are suppliers and competitors — optionality is strategic.</a:t>
            </a:r>
          </a:p>
        </p:txBody>
      </p:sp>
      <p:sp>
        <p:nvSpPr>
          <p:cNvPr id="12" name="Rectangle 11"/>
          <p:cNvSpPr/>
          <p:nvPr/>
        </p:nvSpPr>
        <p:spPr>
          <a:xfrm>
            <a:off x="6172200" y="128016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0" y="150876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91640"/>
            <a:ext cx="777240" cy="274320"/>
          </a:xfrm>
          <a:prstGeom prst="rect">
            <a:avLst/>
          </a:prstGeom>
          <a:noFill/>
        </p:spPr>
        <p:txBody>
          <a:bodyPr wrap="square" anchor="t">
            <a:spAutoFit/>
          </a:bodyPr>
          <a:lstStyle/>
          <a:p>
            <a:pPr algn="l"/>
            <a:r>
              <a:rPr sz="1500" b="1">
                <a:solidFill>
                  <a:srgbClr val="26251E"/>
                </a:solidFill>
                <a:latin typeface="Arial"/>
              </a:rPr>
              <a:t>02</a:t>
            </a:r>
          </a:p>
        </p:txBody>
      </p:sp>
      <p:sp>
        <p:nvSpPr>
          <p:cNvPr id="15" name="TextBox 14"/>
          <p:cNvSpPr txBox="1"/>
          <p:nvPr/>
        </p:nvSpPr>
        <p:spPr>
          <a:xfrm>
            <a:off x="7178040" y="1691640"/>
            <a:ext cx="4023360" cy="274320"/>
          </a:xfrm>
          <a:prstGeom prst="rect">
            <a:avLst/>
          </a:prstGeom>
          <a:noFill/>
        </p:spPr>
        <p:txBody>
          <a:bodyPr wrap="square" anchor="t">
            <a:spAutoFit/>
          </a:bodyPr>
          <a:lstStyle/>
          <a:p>
            <a:pPr algn="l"/>
            <a:r>
              <a:rPr sz="1500" b="1">
                <a:solidFill>
                  <a:srgbClr val="26251E"/>
                </a:solidFill>
                <a:latin typeface="Arial"/>
              </a:rPr>
              <a:t>Large codebase / harness</a:t>
            </a:r>
          </a:p>
        </p:txBody>
      </p:sp>
      <p:sp>
        <p:nvSpPr>
          <p:cNvPr id="16" name="TextBox 15"/>
          <p:cNvSpPr txBox="1"/>
          <p:nvPr/>
        </p:nvSpPr>
        <p:spPr>
          <a:xfrm>
            <a:off x="6400800" y="2194560"/>
            <a:ext cx="4892040" cy="960120"/>
          </a:xfrm>
          <a:prstGeom prst="rect">
            <a:avLst/>
          </a:prstGeom>
          <a:noFill/>
        </p:spPr>
        <p:txBody>
          <a:bodyPr wrap="square" anchor="t">
            <a:spAutoFit/>
          </a:bodyPr>
          <a:lstStyle/>
          <a:p>
            <a:pPr algn="l"/>
            <a:r>
              <a:rPr sz="1300" b="0">
                <a:solidFill>
                  <a:srgbClr val="807D72"/>
                </a:solidFill>
                <a:latin typeface="Arial"/>
              </a:rPr>
              <a:t>Not just wrapping a model. Better finding + using context in messy enterprise repos. Buyers feel this day one.</a:t>
            </a:r>
          </a:p>
        </p:txBody>
      </p:sp>
      <p:sp>
        <p:nvSpPr>
          <p:cNvPr id="17" name="Rectangle 16"/>
          <p:cNvSpPr/>
          <p:nvPr/>
        </p:nvSpPr>
        <p:spPr>
          <a:xfrm>
            <a:off x="54864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069080"/>
            <a:ext cx="777240" cy="274320"/>
          </a:xfrm>
          <a:prstGeom prst="rect">
            <a:avLst/>
          </a:prstGeom>
          <a:noFill/>
        </p:spPr>
        <p:txBody>
          <a:bodyPr wrap="square" anchor="t">
            <a:spAutoFit/>
          </a:bodyPr>
          <a:lstStyle/>
          <a:p>
            <a:pPr algn="l"/>
            <a:r>
              <a:rPr sz="1500" b="1">
                <a:solidFill>
                  <a:srgbClr val="26251E"/>
                </a:solidFill>
                <a:latin typeface="Arial"/>
              </a:rPr>
              <a:t>03</a:t>
            </a:r>
          </a:p>
        </p:txBody>
      </p:sp>
      <p:sp>
        <p:nvSpPr>
          <p:cNvPr id="20" name="TextBox 19"/>
          <p:cNvSpPr txBox="1"/>
          <p:nvPr/>
        </p:nvSpPr>
        <p:spPr>
          <a:xfrm>
            <a:off x="1554480" y="4069080"/>
            <a:ext cx="4023360" cy="274320"/>
          </a:xfrm>
          <a:prstGeom prst="rect">
            <a:avLst/>
          </a:prstGeom>
          <a:noFill/>
        </p:spPr>
        <p:txBody>
          <a:bodyPr wrap="square" anchor="t">
            <a:spAutoFit/>
          </a:bodyPr>
          <a:lstStyle/>
          <a:p>
            <a:pPr algn="l"/>
            <a:r>
              <a:rPr sz="1500" b="1">
                <a:solidFill>
                  <a:srgbClr val="26251E"/>
                </a:solidFill>
                <a:latin typeface="Arial"/>
              </a:rPr>
              <a:t>Faster time to value</a:t>
            </a:r>
          </a:p>
        </p:txBody>
      </p:sp>
      <p:sp>
        <p:nvSpPr>
          <p:cNvPr id="21" name="TextBox 20"/>
          <p:cNvSpPr txBox="1"/>
          <p:nvPr/>
        </p:nvSpPr>
        <p:spPr>
          <a:xfrm>
            <a:off x="777240" y="4572000"/>
            <a:ext cx="4892040" cy="960120"/>
          </a:xfrm>
          <a:prstGeom prst="rect">
            <a:avLst/>
          </a:prstGeom>
          <a:noFill/>
        </p:spPr>
        <p:txBody>
          <a:bodyPr wrap="square" anchor="t">
            <a:spAutoFit/>
          </a:bodyPr>
          <a:lstStyle/>
          <a:p>
            <a:pPr algn="l"/>
            <a:r>
              <a:rPr sz="1300" b="0">
                <a:solidFill>
                  <a:srgbClr val="807D72"/>
                </a:solidFill>
                <a:latin typeface="Arial"/>
              </a:rPr>
              <a:t>Strong out of the box. Standardize without every developer inventing a custom setup. Adoption + consistency.</a:t>
            </a:r>
          </a:p>
        </p:txBody>
      </p:sp>
      <p:sp>
        <p:nvSpPr>
          <p:cNvPr id="22" name="Rectangle 21"/>
          <p:cNvSpPr/>
          <p:nvPr/>
        </p:nvSpPr>
        <p:spPr>
          <a:xfrm>
            <a:off x="6172200" y="3657600"/>
            <a:ext cx="539496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0" y="3886200"/>
            <a:ext cx="64008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069080"/>
            <a:ext cx="777240" cy="274320"/>
          </a:xfrm>
          <a:prstGeom prst="rect">
            <a:avLst/>
          </a:prstGeom>
          <a:noFill/>
        </p:spPr>
        <p:txBody>
          <a:bodyPr wrap="square" anchor="t">
            <a:spAutoFit/>
          </a:bodyPr>
          <a:lstStyle/>
          <a:p>
            <a:pPr algn="l"/>
            <a:r>
              <a:rPr sz="1500" b="1">
                <a:solidFill>
                  <a:srgbClr val="26251E"/>
                </a:solidFill>
                <a:latin typeface="Arial"/>
              </a:rPr>
              <a:t>04</a:t>
            </a:r>
          </a:p>
        </p:txBody>
      </p:sp>
      <p:sp>
        <p:nvSpPr>
          <p:cNvPr id="25" name="TextBox 24"/>
          <p:cNvSpPr txBox="1"/>
          <p:nvPr/>
        </p:nvSpPr>
        <p:spPr>
          <a:xfrm>
            <a:off x="7178040" y="4069080"/>
            <a:ext cx="4023360" cy="274320"/>
          </a:xfrm>
          <a:prstGeom prst="rect">
            <a:avLst/>
          </a:prstGeom>
          <a:noFill/>
        </p:spPr>
        <p:txBody>
          <a:bodyPr wrap="square" anchor="t">
            <a:spAutoFit/>
          </a:bodyPr>
          <a:lstStyle/>
          <a:p>
            <a:pPr algn="l"/>
            <a:r>
              <a:rPr sz="1500" b="1">
                <a:solidFill>
                  <a:srgbClr val="26251E"/>
                </a:solidFill>
                <a:latin typeface="Arial"/>
              </a:rPr>
              <a:t>Platform across the SDLC</a:t>
            </a:r>
          </a:p>
        </p:txBody>
      </p:sp>
      <p:sp>
        <p:nvSpPr>
          <p:cNvPr id="26" name="TextBox 25"/>
          <p:cNvSpPr txBox="1"/>
          <p:nvPr/>
        </p:nvSpPr>
        <p:spPr>
          <a:xfrm>
            <a:off x="6400800" y="4572000"/>
            <a:ext cx="4892040" cy="960120"/>
          </a:xfrm>
          <a:prstGeom prst="rect">
            <a:avLst/>
          </a:prstGeom>
          <a:noFill/>
        </p:spPr>
        <p:txBody>
          <a:bodyPr wrap="square" anchor="t">
            <a:spAutoFit/>
          </a:bodyPr>
          <a:lstStyle/>
          <a:p>
            <a:pPr algn="l"/>
            <a:r>
              <a:rPr sz="1300" b="0">
                <a:solidFill>
                  <a:srgbClr val="807D72"/>
                </a:solidFill>
                <a:latin typeface="Arial"/>
              </a:rPr>
              <a:t>Bugbot, Agent Review, Automations. Clear the review bottleneck AI creates. Better execution, not just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Two experiments — test first, measure hard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1 — Skill then activity</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Diagnose openers, objection handling, and discovery first</a:t>
            </a:r>
          </a:p>
          <a:p>
            <a:pPr algn="l">
              <a:spcAft>
                <a:spcPts val="700"/>
              </a:spcAft>
            </a:pPr>
            <a:r>
              <a:rPr sz="1400" b="0">
                <a:solidFill>
                  <a:srgbClr val="26251E"/>
                </a:solidFill>
                <a:latin typeface="Arial"/>
              </a:rPr>
              <a:t>•  Then increase activity metrics — don’t crank dials into a broken talk track</a:t>
            </a:r>
          </a:p>
          <a:p>
            <a:pPr algn="l">
              <a:spcAft>
                <a:spcPts val="700"/>
              </a:spcAft>
            </a:pPr>
            <a:r>
              <a:rPr sz="1400" b="0">
                <a:solidFill>
                  <a:srgbClr val="26251E"/>
                </a:solidFill>
                <a:latin typeface="Arial"/>
              </a:rPr>
              <a:t>•  Measure: connect · conversation · meetings</a:t>
            </a:r>
          </a:p>
          <a:p>
            <a:pPr algn="l">
              <a:spcAft>
                <a:spcPts val="700"/>
              </a:spcAft>
            </a:pPr>
            <a:r>
              <a:rPr sz="1400" b="0">
                <a:solidFill>
                  <a:srgbClr val="26251E"/>
                </a:solidFill>
                <a:latin typeface="Arial"/>
              </a:rPr>
              <a:t>•  Quality check: % converting to qualified meetings</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2 — Messaging currency</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Personalization that earns the next 30 seconds</a:t>
            </a:r>
          </a:p>
          <a:p>
            <a:pPr algn="l">
              <a:spcAft>
                <a:spcPts val="700"/>
              </a:spcAft>
            </a:pPr>
            <a:r>
              <a:rPr sz="1400" b="0">
                <a:solidFill>
                  <a:srgbClr val="26251E"/>
                </a:solidFill>
                <a:latin typeface="Arial"/>
              </a:rPr>
              <a:t>•  Stay current as AI models and labs release improvements</a:t>
            </a:r>
          </a:p>
          <a:p>
            <a:pPr algn="l">
              <a:spcAft>
                <a:spcPts val="700"/>
              </a:spcAft>
            </a:pPr>
            <a:r>
              <a:rPr sz="1400" b="0">
                <a:solidFill>
                  <a:srgbClr val="26251E"/>
                </a:solidFill>
                <a:latin typeface="Arial"/>
              </a:rPr>
              <a:t>•  Daily: which models leapfrogged → update talk tracks</a:t>
            </a:r>
          </a:p>
          <a:p>
            <a:pPr algn="l">
              <a:spcAft>
                <a:spcPts val="700"/>
              </a:spcAft>
            </a:pPr>
            <a:r>
              <a:rPr sz="1400" b="0">
                <a:solidFill>
                  <a:srgbClr val="26251E"/>
                </a:solidFill>
                <a:latin typeface="Arial"/>
              </a:rPr>
              <a:t>•  What worked / what didn’t — keep or kill on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Working with Growth &amp; Sales — faster feedback loops</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Loops already exist — make them quicker and implement change faster</a:t>
            </a:r>
          </a:p>
          <a:p>
            <a:pPr algn="l">
              <a:spcAft>
                <a:spcPts val="1100"/>
              </a:spcAft>
            </a:pPr>
            <a:r>
              <a:rPr sz="1700" b="0">
                <a:solidFill>
                  <a:srgbClr val="26251E"/>
                </a:solidFill>
                <a:latin typeface="Arial"/>
              </a:rPr>
              <a:t>•  Weekly SE sessions — product + competitive sharpness</a:t>
            </a:r>
          </a:p>
          <a:p>
            <a:pPr algn="l">
              <a:spcAft>
                <a:spcPts val="1100"/>
              </a:spcAft>
            </a:pPr>
            <a:r>
              <a:rPr sz="1700" b="0">
                <a:solidFill>
                  <a:srgbClr val="26251E"/>
                </a:solidFill>
                <a:latin typeface="Arial"/>
              </a:rPr>
              <a:t>•  Mandatory SDR ↔ AE connects — real-time meeting quality feedback</a:t>
            </a:r>
          </a:p>
          <a:p>
            <a:pPr algn="l">
              <a:spcAft>
                <a:spcPts val="1100"/>
              </a:spcAft>
            </a:pPr>
            <a:r>
              <a:rPr sz="1700" b="0">
                <a:solidFill>
                  <a:srgbClr val="26251E"/>
                </a:solidFill>
                <a:latin typeface="Arial"/>
              </a:rPr>
              <a:t>•  Weekly recaps to AEs, SVPs, RDs, and SEs by territory</a:t>
            </a:r>
          </a:p>
          <a:p>
            <a:pPr algn="l">
              <a:spcAft>
                <a:spcPts val="1100"/>
              </a:spcAft>
            </a:pPr>
            <a:r>
              <a:rPr sz="1700" b="0">
                <a:solidFill>
                  <a:srgbClr val="26251E"/>
                </a:solidFill>
                <a:latin typeface="Arial"/>
              </a:rPr>
              <a:t>•  What converted · what failed · one change we’re making</a:t>
            </a:r>
          </a:p>
          <a:p>
            <a:pPr algn="l">
              <a:spcAft>
                <a:spcPts val="1100"/>
              </a:spcAft>
            </a:pPr>
            <a:r>
              <a:rPr sz="1700" b="0">
                <a:solidFill>
                  <a:srgbClr val="26251E"/>
                </a:solidFill>
                <a:latin typeface="Arial"/>
              </a:rPr>
              <a:t>•  Clear owners. Faster loops. Trains on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2</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Fundamentals — how I lead day to day as a player-coach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The ideal AI-era SDR</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Judgment — which account and persona deserve the dial</a:t>
            </a:r>
          </a:p>
          <a:p>
            <a:pPr algn="l">
              <a:spcAft>
                <a:spcPts val="1100"/>
              </a:spcAft>
            </a:pPr>
            <a:r>
              <a:rPr sz="1700" b="0">
                <a:solidFill>
                  <a:srgbClr val="26251E"/>
                </a:solidFill>
                <a:latin typeface="Arial"/>
              </a:rPr>
              <a:t>•  Relevance speed — earn 30 seconds with a technical buyer</a:t>
            </a:r>
          </a:p>
          <a:p>
            <a:pPr algn="l">
              <a:spcAft>
                <a:spcPts val="1100"/>
              </a:spcAft>
            </a:pPr>
            <a:r>
              <a:rPr sz="1700" b="0">
                <a:solidFill>
                  <a:srgbClr val="26251E"/>
                </a:solidFill>
                <a:latin typeface="Arial"/>
              </a:rPr>
              <a:t>•  Positioning fluency — workflow, context, execution, correct wedge</a:t>
            </a:r>
          </a:p>
          <a:p>
            <a:pPr algn="l">
              <a:spcAft>
                <a:spcPts val="1100"/>
              </a:spcAft>
            </a:pPr>
            <a:r>
              <a:rPr sz="1700" b="0">
                <a:solidFill>
                  <a:srgbClr val="26251E"/>
                </a:solidFill>
                <a:latin typeface="Arial"/>
              </a:rPr>
              <a:t>•  Competitive clarity — Copilot + Claude Code + Windsurf without trash talk</a:t>
            </a:r>
          </a:p>
          <a:p>
            <a:pPr algn="l">
              <a:spcAft>
                <a:spcPts val="1100"/>
              </a:spcAft>
            </a:pPr>
            <a:r>
              <a:rPr sz="1700" b="0">
                <a:solidFill>
                  <a:srgbClr val="26251E"/>
                </a:solidFill>
                <a:latin typeface="Arial"/>
              </a:rPr>
              <a:t>•  Security instincts — calm on Privacy Mode and enterprise controls</a:t>
            </a:r>
          </a:p>
          <a:p>
            <a:pPr algn="l">
              <a:spcAft>
                <a:spcPts val="1100"/>
              </a:spcAft>
            </a:pPr>
            <a:r>
              <a:rPr sz="1700" b="0">
                <a:solidFill>
                  <a:srgbClr val="26251E"/>
                </a:solidFill>
                <a:latin typeface="Arial"/>
              </a:rPr>
              <a:t>•  Execution discipline — trains on time</a:t>
            </a:r>
          </a:p>
          <a:p>
            <a:pPr algn="l">
              <a:spcAft>
                <a:spcPts val="1100"/>
              </a:spcAft>
            </a:pPr>
            <a:r>
              <a:rPr sz="1700" b="0">
                <a:solidFill>
                  <a:srgbClr val="26251E"/>
                </a:solidFill>
                <a:latin typeface="Arial"/>
              </a:rPr>
              <a:t>•  Bar: diagnose the buyer’s constraint and match Cursor to it — don’t recite features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Hiring + coaching</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Hiring bar</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Coachable, clear communicators, curious about technical buyers, process discipline, learn fast</a:t>
            </a:r>
          </a:p>
          <a:p>
            <a:pPr algn="l">
              <a:spcAft>
                <a:spcPts val="700"/>
              </a:spcAft>
            </a:pPr>
            <a:r>
              <a:rPr sz="1400" b="0">
                <a:solidFill>
                  <a:srgbClr val="26251E"/>
                </a:solidFill>
                <a:latin typeface="Arial"/>
              </a:rPr>
              <a:t>•  Hard nos: feature dumpers, activity theater, can’t take critique, overclaim the product</a:t>
            </a:r>
          </a:p>
          <a:p>
            <a:pPr algn="l">
              <a:spcAft>
                <a:spcPts val="700"/>
              </a:spcAft>
            </a:pPr>
            <a:r>
              <a:rPr sz="1400" b="0">
                <a:solidFill>
                  <a:srgbClr val="26251E"/>
                </a:solidFill>
                <a:latin typeface="Arial"/>
              </a:rPr>
              <a:t>•  Assess: mock call (VP Eng / Platform), Copilot + Claude Code objections, 60-sec Cursor pitch, soft security question</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Coaching system</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Daily scoreboard + same-day course-correction</a:t>
            </a:r>
          </a:p>
          <a:p>
            <a:pPr algn="l">
              <a:spcAft>
                <a:spcPts val="700"/>
              </a:spcAft>
            </a:pPr>
            <a:r>
              <a:rPr sz="1400" b="0">
                <a:solidFill>
                  <a:srgbClr val="26251E"/>
                </a:solidFill>
                <a:latin typeface="Arial"/>
              </a:rPr>
              <a:t>•  Weekly 1:1s — one funnel leak only</a:t>
            </a:r>
          </a:p>
          <a:p>
            <a:pPr algn="l">
              <a:spcAft>
                <a:spcPts val="700"/>
              </a:spcAft>
            </a:pPr>
            <a:r>
              <a:rPr sz="1400" b="0">
                <a:solidFill>
                  <a:srgbClr val="26251E"/>
                </a:solidFill>
                <a:latin typeface="Arial"/>
              </a:rPr>
              <a:t>•  Weekly team: one win wire + one talk-track upgrade</a:t>
            </a:r>
          </a:p>
          <a:p>
            <a:pPr algn="l">
              <a:spcAft>
                <a:spcPts val="700"/>
              </a:spcAft>
            </a:pPr>
            <a:r>
              <a:rPr sz="1400" b="0">
                <a:solidFill>
                  <a:srgbClr val="26251E"/>
                </a:solidFill>
                <a:latin typeface="Arial"/>
              </a:rPr>
              <a:t>•  Call reviews: opener, wedge, competitive frame, clean ask</a:t>
            </a:r>
          </a:p>
          <a:p>
            <a:pPr algn="l">
              <a:spcAft>
                <a:spcPts val="700"/>
              </a:spcAft>
            </a:pPr>
            <a:r>
              <a:rPr sz="1400" b="0">
                <a:solidFill>
                  <a:srgbClr val="26251E"/>
                </a:solidFill>
                <a:latin typeface="Arial"/>
              </a:rPr>
              <a:t>•  Underperformance = stage diagnosis + skill plan + timeline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ursor-lockup-dark.png"/>
          <p:cNvPicPr>
            <a:picLocks noChangeAspect="1"/>
          </p:cNvPicPr>
          <p:nvPr/>
        </p:nvPicPr>
        <p:blipFill>
          <a:blip r:embed="rId2"/>
          <a:stretch>
            <a:fillRect/>
          </a:stretch>
        </p:blipFill>
        <p:spPr>
          <a:xfrm>
            <a:off x="777240" y="502920"/>
            <a:ext cx="1645920" cy="391326"/>
          </a:xfrm>
          <a:prstGeom prst="rect">
            <a:avLst/>
          </a:prstGeom>
        </p:spPr>
      </p:pic>
      <p:sp>
        <p:nvSpPr>
          <p:cNvPr id="4" name="Rectangle 3"/>
          <p:cNvSpPr/>
          <p:nvPr/>
        </p:nvSpPr>
        <p:spPr>
          <a:xfrm>
            <a:off x="777240" y="2331720"/>
            <a:ext cx="123444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0"/>
            <a:ext cx="10058400" cy="320040"/>
          </a:xfrm>
          <a:prstGeom prst="rect">
            <a:avLst/>
          </a:prstGeom>
          <a:noFill/>
        </p:spPr>
        <p:txBody>
          <a:bodyPr wrap="square" anchor="t">
            <a:spAutoFit/>
          </a:bodyPr>
          <a:lstStyle/>
          <a:p>
            <a:pPr algn="l"/>
            <a:r>
              <a:rPr sz="1300" b="1">
                <a:solidFill>
                  <a:srgbClr val="F54E00"/>
                </a:solidFill>
                <a:latin typeface="Arial"/>
              </a:rPr>
              <a:t>PART 3</a:t>
            </a:r>
          </a:p>
        </p:txBody>
      </p:sp>
      <p:sp>
        <p:nvSpPr>
          <p:cNvPr id="6" name="TextBox 5"/>
          <p:cNvSpPr txBox="1"/>
          <p:nvPr/>
        </p:nvSpPr>
        <p:spPr>
          <a:xfrm>
            <a:off x="777240" y="3017520"/>
            <a:ext cx="10607040" cy="1097280"/>
          </a:xfrm>
          <a:prstGeom prst="rect">
            <a:avLst/>
          </a:prstGeom>
          <a:noFill/>
        </p:spPr>
        <p:txBody>
          <a:bodyPr wrap="square" anchor="t">
            <a:spAutoFit/>
          </a:bodyPr>
          <a:lstStyle/>
          <a:p>
            <a:pPr algn="l"/>
            <a:r>
              <a:rPr sz="3000" b="0">
                <a:solidFill>
                  <a:srgbClr val="26251E"/>
                </a:solidFill>
                <a:latin typeface="Arial"/>
              </a:rPr>
              <a:t>Craft and curiosity — happy to go live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Live pitch spine: open → position → wedge → ask</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80160"/>
            <a:ext cx="594360" cy="292608"/>
          </a:xfrm>
          <a:prstGeom prst="rect">
            <a:avLst/>
          </a:prstGeom>
          <a:noFill/>
        </p:spPr>
        <p:txBody>
          <a:bodyPr wrap="square" anchor="t">
            <a:spAutoFit/>
          </a:bodyPr>
          <a:lstStyle/>
          <a:p>
            <a:pPr algn="l"/>
            <a:r>
              <a:rPr sz="1600" b="1">
                <a:solidFill>
                  <a:srgbClr val="26251E"/>
                </a:solidFill>
                <a:latin typeface="Arial"/>
              </a:rPr>
              <a:t>01</a:t>
            </a:r>
          </a:p>
        </p:txBody>
      </p:sp>
      <p:sp>
        <p:nvSpPr>
          <p:cNvPr id="8" name="TextBox 7"/>
          <p:cNvSpPr txBox="1"/>
          <p:nvPr/>
        </p:nvSpPr>
        <p:spPr>
          <a:xfrm>
            <a:off x="1371600" y="1280160"/>
            <a:ext cx="9966960" cy="274320"/>
          </a:xfrm>
          <a:prstGeom prst="rect">
            <a:avLst/>
          </a:prstGeom>
          <a:noFill/>
        </p:spPr>
        <p:txBody>
          <a:bodyPr wrap="square" anchor="t">
            <a:spAutoFit/>
          </a:bodyPr>
          <a:lstStyle/>
          <a:p>
            <a:pPr algn="l"/>
            <a:r>
              <a:rPr sz="1500" b="1">
                <a:solidFill>
                  <a:srgbClr val="26251E"/>
                </a:solidFill>
                <a:latin typeface="Arial"/>
              </a:rPr>
              <a:t>Open</a:t>
            </a:r>
          </a:p>
        </p:txBody>
      </p:sp>
      <p:sp>
        <p:nvSpPr>
          <p:cNvPr id="9" name="TextBox 8"/>
          <p:cNvSpPr txBox="1"/>
          <p:nvPr/>
        </p:nvSpPr>
        <p:spPr>
          <a:xfrm>
            <a:off x="1371600" y="1572768"/>
            <a:ext cx="9966960" cy="457200"/>
          </a:xfrm>
          <a:prstGeom prst="rect">
            <a:avLst/>
          </a:prstGeom>
          <a:noFill/>
        </p:spPr>
        <p:txBody>
          <a:bodyPr wrap="square" anchor="t">
            <a:spAutoFit/>
          </a:bodyPr>
          <a:lstStyle/>
          <a:p>
            <a:pPr algn="l"/>
            <a:r>
              <a:rPr sz="1300" b="0">
                <a:solidFill>
                  <a:srgbClr val="807D72"/>
                </a:solidFill>
                <a:latin typeface="Arial"/>
              </a:rPr>
              <a:t>From AI that helps write snippets → AI that helps complete work across the codebase.</a:t>
            </a:r>
          </a:p>
        </p:txBody>
      </p:sp>
      <p:sp>
        <p:nvSpPr>
          <p:cNvPr id="10" name="TextBox 9"/>
          <p:cNvSpPr txBox="1"/>
          <p:nvPr/>
        </p:nvSpPr>
        <p:spPr>
          <a:xfrm>
            <a:off x="731520" y="2331720"/>
            <a:ext cx="594360" cy="292608"/>
          </a:xfrm>
          <a:prstGeom prst="rect">
            <a:avLst/>
          </a:prstGeom>
          <a:noFill/>
        </p:spPr>
        <p:txBody>
          <a:bodyPr wrap="square" anchor="t">
            <a:spAutoFit/>
          </a:bodyPr>
          <a:lstStyle/>
          <a:p>
            <a:pPr algn="l"/>
            <a:r>
              <a:rPr sz="1600" b="1">
                <a:solidFill>
                  <a:srgbClr val="26251E"/>
                </a:solidFill>
                <a:latin typeface="Arial"/>
              </a:rPr>
              <a:t>02</a:t>
            </a:r>
          </a:p>
        </p:txBody>
      </p:sp>
      <p:sp>
        <p:nvSpPr>
          <p:cNvPr id="11" name="TextBox 10"/>
          <p:cNvSpPr txBox="1"/>
          <p:nvPr/>
        </p:nvSpPr>
        <p:spPr>
          <a:xfrm>
            <a:off x="1371600" y="2331720"/>
            <a:ext cx="9966960" cy="274320"/>
          </a:xfrm>
          <a:prstGeom prst="rect">
            <a:avLst/>
          </a:prstGeom>
          <a:noFill/>
        </p:spPr>
        <p:txBody>
          <a:bodyPr wrap="square" anchor="t">
            <a:spAutoFit/>
          </a:bodyPr>
          <a:lstStyle/>
          <a:p>
            <a:pPr algn="l"/>
            <a:r>
              <a:rPr sz="1500" b="1">
                <a:solidFill>
                  <a:srgbClr val="26251E"/>
                </a:solidFill>
                <a:latin typeface="Arial"/>
              </a:rPr>
              <a:t>Position</a:t>
            </a:r>
          </a:p>
        </p:txBody>
      </p:sp>
      <p:sp>
        <p:nvSpPr>
          <p:cNvPr id="12" name="TextBox 11"/>
          <p:cNvSpPr txBox="1"/>
          <p:nvPr/>
        </p:nvSpPr>
        <p:spPr>
          <a:xfrm>
            <a:off x="1371600" y="2624328"/>
            <a:ext cx="9966960" cy="457200"/>
          </a:xfrm>
          <a:prstGeom prst="rect">
            <a:avLst/>
          </a:prstGeom>
          <a:noFill/>
        </p:spPr>
        <p:txBody>
          <a:bodyPr wrap="square" anchor="t">
            <a:spAutoFit/>
          </a:bodyPr>
          <a:lstStyle/>
          <a:p>
            <a:pPr algn="l"/>
            <a:r>
              <a:rPr sz="1300" b="0">
                <a:solidFill>
                  <a:srgbClr val="807D72"/>
                </a:solidFill>
                <a:latin typeface="Arial"/>
              </a:rPr>
              <a:t>Agentic coding platform across IDE, CLI, Automations, Cloud Agents — shared AI layer on your codebase.</a:t>
            </a:r>
          </a:p>
        </p:txBody>
      </p:sp>
      <p:sp>
        <p:nvSpPr>
          <p:cNvPr id="13" name="TextBox 12"/>
          <p:cNvSpPr txBox="1"/>
          <p:nvPr/>
        </p:nvSpPr>
        <p:spPr>
          <a:xfrm>
            <a:off x="731520" y="3383280"/>
            <a:ext cx="594360" cy="292608"/>
          </a:xfrm>
          <a:prstGeom prst="rect">
            <a:avLst/>
          </a:prstGeom>
          <a:noFill/>
        </p:spPr>
        <p:txBody>
          <a:bodyPr wrap="square" anchor="t">
            <a:spAutoFit/>
          </a:bodyPr>
          <a:lstStyle/>
          <a:p>
            <a:pPr algn="l"/>
            <a:r>
              <a:rPr sz="1600" b="1">
                <a:solidFill>
                  <a:srgbClr val="26251E"/>
                </a:solidFill>
                <a:latin typeface="Arial"/>
              </a:rPr>
              <a:t>03</a:t>
            </a:r>
          </a:p>
        </p:txBody>
      </p:sp>
      <p:sp>
        <p:nvSpPr>
          <p:cNvPr id="14" name="TextBox 13"/>
          <p:cNvSpPr txBox="1"/>
          <p:nvPr/>
        </p:nvSpPr>
        <p:spPr>
          <a:xfrm>
            <a:off x="1371600" y="3383280"/>
            <a:ext cx="9966960" cy="274320"/>
          </a:xfrm>
          <a:prstGeom prst="rect">
            <a:avLst/>
          </a:prstGeom>
          <a:noFill/>
        </p:spPr>
        <p:txBody>
          <a:bodyPr wrap="square" anchor="t">
            <a:spAutoFit/>
          </a:bodyPr>
          <a:lstStyle/>
          <a:p>
            <a:pPr algn="l"/>
            <a:r>
              <a:rPr sz="1500" b="1">
                <a:solidFill>
                  <a:srgbClr val="26251E"/>
                </a:solidFill>
                <a:latin typeface="Arial"/>
              </a:rPr>
              <a:t>Wedge</a:t>
            </a:r>
          </a:p>
        </p:txBody>
      </p:sp>
      <p:sp>
        <p:nvSpPr>
          <p:cNvPr id="15" name="TextBox 14"/>
          <p:cNvSpPr txBox="1"/>
          <p:nvPr/>
        </p:nvSpPr>
        <p:spPr>
          <a:xfrm>
            <a:off x="1371600" y="3675888"/>
            <a:ext cx="9966960" cy="457200"/>
          </a:xfrm>
          <a:prstGeom prst="rect">
            <a:avLst/>
          </a:prstGeom>
          <a:noFill/>
        </p:spPr>
        <p:txBody>
          <a:bodyPr wrap="square" anchor="t">
            <a:spAutoFit/>
          </a:bodyPr>
          <a:lstStyle/>
          <a:p>
            <a:pPr algn="l"/>
            <a:r>
              <a:rPr sz="1300" b="0">
                <a:solidFill>
                  <a:srgbClr val="807D72"/>
                </a:solidFill>
                <a:latin typeface="Arial"/>
              </a:rPr>
              <a:t>Pick one differentiator based on what you heard.</a:t>
            </a:r>
          </a:p>
        </p:txBody>
      </p:sp>
      <p:sp>
        <p:nvSpPr>
          <p:cNvPr id="16" name="TextBox 15"/>
          <p:cNvSpPr txBox="1"/>
          <p:nvPr/>
        </p:nvSpPr>
        <p:spPr>
          <a:xfrm>
            <a:off x="731520" y="4434840"/>
            <a:ext cx="594360" cy="292608"/>
          </a:xfrm>
          <a:prstGeom prst="rect">
            <a:avLst/>
          </a:prstGeom>
          <a:noFill/>
        </p:spPr>
        <p:txBody>
          <a:bodyPr wrap="square" anchor="t">
            <a:spAutoFit/>
          </a:bodyPr>
          <a:lstStyle/>
          <a:p>
            <a:pPr algn="l"/>
            <a:r>
              <a:rPr sz="1600" b="1">
                <a:solidFill>
                  <a:srgbClr val="26251E"/>
                </a:solidFill>
                <a:latin typeface="Arial"/>
              </a:rPr>
              <a:t>04</a:t>
            </a:r>
          </a:p>
        </p:txBody>
      </p:sp>
      <p:sp>
        <p:nvSpPr>
          <p:cNvPr id="17" name="TextBox 16"/>
          <p:cNvSpPr txBox="1"/>
          <p:nvPr/>
        </p:nvSpPr>
        <p:spPr>
          <a:xfrm>
            <a:off x="1371600" y="4434840"/>
            <a:ext cx="9966960" cy="274320"/>
          </a:xfrm>
          <a:prstGeom prst="rect">
            <a:avLst/>
          </a:prstGeom>
          <a:noFill/>
        </p:spPr>
        <p:txBody>
          <a:bodyPr wrap="square" anchor="t">
            <a:spAutoFit/>
          </a:bodyPr>
          <a:lstStyle/>
          <a:p>
            <a:pPr algn="l"/>
            <a:r>
              <a:rPr sz="1500" b="1">
                <a:solidFill>
                  <a:srgbClr val="26251E"/>
                </a:solidFill>
                <a:latin typeface="Arial"/>
              </a:rPr>
              <a:t>Ask</a:t>
            </a:r>
          </a:p>
        </p:txBody>
      </p:sp>
      <p:sp>
        <p:nvSpPr>
          <p:cNvPr id="18" name="TextBox 17"/>
          <p:cNvSpPr txBox="1"/>
          <p:nvPr/>
        </p:nvSpPr>
        <p:spPr>
          <a:xfrm>
            <a:off x="1371600" y="4727448"/>
            <a:ext cx="9966960" cy="457200"/>
          </a:xfrm>
          <a:prstGeom prst="rect">
            <a:avLst/>
          </a:prstGeom>
          <a:noFill/>
        </p:spPr>
        <p:txBody>
          <a:bodyPr wrap="square" anchor="t">
            <a:spAutoFit/>
          </a:bodyPr>
          <a:lstStyle/>
          <a:p>
            <a:pPr algn="l"/>
            <a:r>
              <a:rPr sz="1300" b="0">
                <a:solidFill>
                  <a:srgbClr val="807D72"/>
                </a:solidFill>
                <a:latin typeface="Arial"/>
              </a:rPr>
              <a:t>Worth 20 minutes to map leverage vs where workflow still breaks — write, review, or ship?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Cutting through noise — persona-true outreach</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500" b="0">
                <a:solidFill>
                  <a:srgbClr val="26251E"/>
                </a:solidFill>
                <a:latin typeface="Arial"/>
              </a:rPr>
              <a:t>•  Hands-on developer: real-repo context + daily workflow (avoid corporate ROI theater)</a:t>
            </a:r>
          </a:p>
          <a:p>
            <a:pPr algn="l">
              <a:spcAft>
                <a:spcPts val="1100"/>
              </a:spcAft>
            </a:pPr>
            <a:r>
              <a:rPr sz="1500" b="0">
                <a:solidFill>
                  <a:srgbClr val="26251E"/>
                </a:solidFill>
                <a:latin typeface="Arial"/>
              </a:rPr>
              <a:t>•  VP of Engineering: shared AI layer, SDLC speed, standardizing teams (avoid feature laundry lists)</a:t>
            </a:r>
          </a:p>
          <a:p>
            <a:pPr algn="l">
              <a:spcAft>
                <a:spcPts val="1100"/>
              </a:spcAft>
            </a:pPr>
            <a:r>
              <a:rPr sz="1500" b="0">
                <a:solidFill>
                  <a:srgbClr val="26251E"/>
                </a:solidFill>
                <a:latin typeface="Arial"/>
              </a:rPr>
              <a:t>•  Security / Platform: Privacy Mode, admin controls, governed rollout (avoid hype)</a:t>
            </a:r>
          </a:p>
          <a:p>
            <a:pPr algn="l">
              <a:spcAft>
                <a:spcPts val="1100"/>
              </a:spcAft>
            </a:pPr>
            <a:r>
              <a:rPr sz="1500" b="0">
                <a:solidFill>
                  <a:srgbClr val="26251E"/>
                </a:solidFill>
                <a:latin typeface="Arial"/>
              </a:rPr>
              <a:t>•  Triggers that work: Copilot sprawl, AI policy, migrations, DevEx ownership + one sharp question</a:t>
            </a:r>
          </a:p>
          <a:p>
            <a:pPr algn="l">
              <a:spcAft>
                <a:spcPts val="1100"/>
              </a:spcAft>
            </a:pPr>
            <a:r>
              <a:rPr sz="1500" b="0">
                <a:solidFill>
                  <a:srgbClr val="26251E"/>
                </a:solidFill>
                <a:latin typeface="Arial"/>
              </a:rPr>
              <a:t>•  Arm reps with proof: Coinbase (agent-first) · Stripe (rollout) · PayPal (enterprise velocity)</a:t>
            </a:r>
          </a:p>
          <a:p>
            <a:pPr algn="l">
              <a:spcAft>
                <a:spcPts val="1100"/>
              </a:spcAft>
            </a:pPr>
            <a:r>
              <a:rPr sz="1500" b="0">
                <a:solidFill>
                  <a:srgbClr val="26251E"/>
                </a:solidFill>
                <a:latin typeface="Arial"/>
              </a:rPr>
              <a:t>•  What fails: generic “quick chat” spam and fake personalization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Why we win — competition differentiation battlecard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188720"/>
            <a:ext cx="11201400" cy="64008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80160"/>
            <a:ext cx="10789920" cy="457200"/>
          </a:xfrm>
          <a:prstGeom prst="rect">
            <a:avLst/>
          </a:prstGeom>
          <a:noFill/>
        </p:spPr>
        <p:txBody>
          <a:bodyPr wrap="square" anchor="t">
            <a:spAutoFit/>
          </a:bodyPr>
          <a:lstStyle/>
          <a:p>
            <a:pPr algn="l"/>
            <a:r>
              <a:rPr sz="1200" b="0">
                <a:solidFill>
                  <a:srgbClr val="EFEEE8"/>
                </a:solidFill>
                <a:latin typeface="Arial"/>
              </a:rPr>
              <a:t>Not exclusive smarter intelligence forever — apply intelligence better: workflow + codebase context + SDLC integration + model neutrality.</a:t>
            </a:r>
          </a:p>
        </p:txBody>
      </p:sp>
      <p:sp>
        <p:nvSpPr>
          <p:cNvPr id="9" name="Rectangle 8"/>
          <p:cNvSpPr/>
          <p:nvPr/>
        </p:nvSpPr>
        <p:spPr>
          <a:xfrm>
            <a:off x="45720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011680"/>
            <a:ext cx="2743200" cy="438912"/>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84831"/>
            <a:ext cx="2514600" cy="320040"/>
          </a:xfrm>
          <a:prstGeom prst="rect">
            <a:avLst/>
          </a:prstGeom>
          <a:noFill/>
        </p:spPr>
        <p:txBody>
          <a:bodyPr wrap="square" anchor="t">
            <a:spAutoFit/>
          </a:bodyPr>
          <a:lstStyle/>
          <a:p>
            <a:pPr algn="l"/>
            <a:r>
              <a:rPr sz="1200" b="1">
                <a:solidFill>
                  <a:srgbClr val="F54E00"/>
                </a:solidFill>
                <a:latin typeface="Arial"/>
              </a:rPr>
              <a:t>Cursor</a:t>
            </a:r>
          </a:p>
        </p:txBody>
      </p:sp>
      <p:sp>
        <p:nvSpPr>
          <p:cNvPr id="12" name="TextBox 11"/>
          <p:cNvSpPr txBox="1"/>
          <p:nvPr/>
        </p:nvSpPr>
        <p:spPr>
          <a:xfrm>
            <a:off x="566928" y="2651760"/>
            <a:ext cx="2514600" cy="3108960"/>
          </a:xfrm>
          <a:prstGeom prst="rect">
            <a:avLst/>
          </a:prstGeom>
          <a:noFill/>
        </p:spPr>
        <p:txBody>
          <a:bodyPr wrap="square">
            <a:spAutoFit/>
          </a:bodyPr>
          <a:lstStyle/>
          <a:p>
            <a:pPr algn="l">
              <a:spcAft>
                <a:spcPts val="500"/>
              </a:spcAft>
            </a:pPr>
            <a:r>
              <a:rPr sz="1100" b="0">
                <a:solidFill>
                  <a:srgbClr val="26251E"/>
                </a:solidFill>
                <a:latin typeface="Arial"/>
              </a:rPr>
              <a:t>•  AI-native IDE + enterprise platform</a:t>
            </a:r>
          </a:p>
          <a:p>
            <a:pPr algn="l">
              <a:spcAft>
                <a:spcPts val="500"/>
              </a:spcAft>
            </a:pPr>
            <a:r>
              <a:rPr sz="1100" b="0">
                <a:solidFill>
                  <a:srgbClr val="26251E"/>
                </a:solidFill>
                <a:latin typeface="Arial"/>
              </a:rPr>
              <a:t>•  Full-repo context + agent-first</a:t>
            </a:r>
          </a:p>
          <a:p>
            <a:pPr algn="l">
              <a:spcAft>
                <a:spcPts val="500"/>
              </a:spcAft>
            </a:pPr>
            <a:r>
              <a:rPr sz="1100" b="0">
                <a:solidFill>
                  <a:srgbClr val="26251E"/>
                </a:solidFill>
                <a:latin typeface="Arial"/>
              </a:rPr>
              <a:t>•  IDE · CLI · Automations · Cloud Agents</a:t>
            </a:r>
          </a:p>
          <a:p>
            <a:pPr algn="l">
              <a:spcAft>
                <a:spcPts val="500"/>
              </a:spcAft>
            </a:pPr>
            <a:r>
              <a:rPr sz="1100" b="0">
                <a:solidFill>
                  <a:srgbClr val="26251E"/>
                </a:solidFill>
                <a:latin typeface="Arial"/>
              </a:rPr>
              <a:t>•  Multi-model + Composer path</a:t>
            </a:r>
          </a:p>
          <a:p>
            <a:pPr algn="l">
              <a:spcAft>
                <a:spcPts val="500"/>
              </a:spcAft>
            </a:pPr>
            <a:r>
              <a:rPr sz="1100" b="0">
                <a:solidFill>
                  <a:srgbClr val="26251E"/>
                </a:solidFill>
                <a:latin typeface="Arial"/>
              </a:rPr>
              <a:t>•  Bugbot clears PR bottleneck</a:t>
            </a:r>
          </a:p>
          <a:p>
            <a:pPr algn="l">
              <a:spcAft>
                <a:spcPts val="500"/>
              </a:spcAft>
            </a:pPr>
            <a:r>
              <a:rPr sz="1100" b="0">
                <a:solidFill>
                  <a:srgbClr val="26251E"/>
                </a:solidFill>
                <a:latin typeface="Arial"/>
              </a:rPr>
              <a:t>•  Governance: SSO / SCIM / audit</a:t>
            </a:r>
          </a:p>
        </p:txBody>
      </p:sp>
      <p:sp>
        <p:nvSpPr>
          <p:cNvPr id="13" name="Rectangle 12"/>
          <p:cNvSpPr/>
          <p:nvPr/>
        </p:nvSpPr>
        <p:spPr>
          <a:xfrm>
            <a:off x="333756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2011680"/>
            <a:ext cx="2743200" cy="438912"/>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084831"/>
            <a:ext cx="2514600" cy="320040"/>
          </a:xfrm>
          <a:prstGeom prst="rect">
            <a:avLst/>
          </a:prstGeom>
          <a:noFill/>
        </p:spPr>
        <p:txBody>
          <a:bodyPr wrap="square" anchor="t">
            <a:spAutoFit/>
          </a:bodyPr>
          <a:lstStyle/>
          <a:p>
            <a:pPr algn="l"/>
            <a:r>
              <a:rPr sz="1200" b="1">
                <a:solidFill>
                  <a:srgbClr val="FFFFFF"/>
                </a:solidFill>
                <a:latin typeface="Arial"/>
              </a:rPr>
              <a:t>vs Copilot</a:t>
            </a:r>
          </a:p>
        </p:txBody>
      </p:sp>
      <p:sp>
        <p:nvSpPr>
          <p:cNvPr id="16" name="TextBox 15"/>
          <p:cNvSpPr txBox="1"/>
          <p:nvPr/>
        </p:nvSpPr>
        <p:spPr>
          <a:xfrm>
            <a:off x="3447288" y="2651760"/>
            <a:ext cx="2514600" cy="3108960"/>
          </a:xfrm>
          <a:prstGeom prst="rect">
            <a:avLst/>
          </a:prstGeom>
          <a:noFill/>
        </p:spPr>
        <p:txBody>
          <a:bodyPr wrap="square">
            <a:spAutoFit/>
          </a:bodyPr>
          <a:lstStyle/>
          <a:p>
            <a:pPr algn="l">
              <a:spcAft>
                <a:spcPts val="500"/>
              </a:spcAft>
            </a:pPr>
            <a:r>
              <a:rPr sz="1100" b="0">
                <a:solidFill>
                  <a:srgbClr val="26251E"/>
                </a:solidFill>
                <a:latin typeface="Arial"/>
              </a:rPr>
              <a:t>•  Biggest by market share</a:t>
            </a:r>
          </a:p>
          <a:p>
            <a:pPr algn="l">
              <a:spcAft>
                <a:spcPts val="500"/>
              </a:spcAft>
            </a:pPr>
            <a:r>
              <a:rPr sz="1100" b="0">
                <a:solidFill>
                  <a:srgbClr val="26251E"/>
                </a:solidFill>
                <a:latin typeface="Arial"/>
              </a:rPr>
              <a:t>•  Plugin in existing IDEs</a:t>
            </a:r>
          </a:p>
          <a:p>
            <a:pPr algn="l">
              <a:spcAft>
                <a:spcPts val="500"/>
              </a:spcAft>
            </a:pPr>
            <a:r>
              <a:rPr sz="1100" b="0">
                <a:solidFill>
                  <a:srgbClr val="26251E"/>
                </a:solidFill>
                <a:latin typeface="Arial"/>
              </a:rPr>
              <a:t>•  Wins: GitHub ecosystem + friction</a:t>
            </a:r>
          </a:p>
          <a:p>
            <a:pPr algn="l">
              <a:spcAft>
                <a:spcPts val="500"/>
              </a:spcAft>
            </a:pPr>
            <a:r>
              <a:rPr sz="1100" b="0">
                <a:solidFill>
                  <a:srgbClr val="26251E"/>
                </a:solidFill>
                <a:latin typeface="Arial"/>
              </a:rPr>
              <a:t>•  Often local / snippet help</a:t>
            </a:r>
          </a:p>
          <a:p>
            <a:pPr algn="l">
              <a:spcAft>
                <a:spcPts val="500"/>
              </a:spcAft>
            </a:pPr>
            <a:r>
              <a:rPr sz="1100" b="0">
                <a:solidFill>
                  <a:srgbClr val="26251E"/>
                </a:solidFill>
                <a:latin typeface="Arial"/>
              </a:rPr>
              <a:t>•  Our move: task completion</a:t>
            </a:r>
          </a:p>
          <a:p>
            <a:pPr algn="l">
              <a:spcAft>
                <a:spcPts val="500"/>
              </a:spcAft>
            </a:pPr>
            <a:r>
              <a:rPr sz="1100" b="0">
                <a:solidFill>
                  <a:srgbClr val="26251E"/>
                </a:solidFill>
                <a:latin typeface="Arial"/>
              </a:rPr>
              <a:t>•  Our move: codebase workflow</a:t>
            </a:r>
          </a:p>
        </p:txBody>
      </p:sp>
      <p:sp>
        <p:nvSpPr>
          <p:cNvPr id="17" name="Rectangle 16"/>
          <p:cNvSpPr/>
          <p:nvPr/>
        </p:nvSpPr>
        <p:spPr>
          <a:xfrm>
            <a:off x="621792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2011680"/>
            <a:ext cx="2743200" cy="438912"/>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8" y="2084831"/>
            <a:ext cx="2514600" cy="320040"/>
          </a:xfrm>
          <a:prstGeom prst="rect">
            <a:avLst/>
          </a:prstGeom>
          <a:noFill/>
        </p:spPr>
        <p:txBody>
          <a:bodyPr wrap="square" anchor="t">
            <a:spAutoFit/>
          </a:bodyPr>
          <a:lstStyle/>
          <a:p>
            <a:pPr algn="l"/>
            <a:r>
              <a:rPr sz="1200" b="1">
                <a:solidFill>
                  <a:srgbClr val="FFFFFF"/>
                </a:solidFill>
                <a:latin typeface="Arial"/>
              </a:rPr>
              <a:t>vs Claude Code</a:t>
            </a:r>
          </a:p>
        </p:txBody>
      </p:sp>
      <p:sp>
        <p:nvSpPr>
          <p:cNvPr id="20" name="TextBox 19"/>
          <p:cNvSpPr txBox="1"/>
          <p:nvPr/>
        </p:nvSpPr>
        <p:spPr>
          <a:xfrm>
            <a:off x="6327648" y="2651760"/>
            <a:ext cx="2514600" cy="3108960"/>
          </a:xfrm>
          <a:prstGeom prst="rect">
            <a:avLst/>
          </a:prstGeom>
          <a:noFill/>
        </p:spPr>
        <p:txBody>
          <a:bodyPr wrap="square">
            <a:spAutoFit/>
          </a:bodyPr>
          <a:lstStyle/>
          <a:p>
            <a:pPr algn="l">
              <a:spcAft>
                <a:spcPts val="500"/>
              </a:spcAft>
            </a:pPr>
            <a:r>
              <a:rPr sz="1100" b="0">
                <a:solidFill>
                  <a:srgbClr val="26251E"/>
                </a:solidFill>
                <a:latin typeface="Arial"/>
              </a:rPr>
              <a:t>•  Strong — don’t trash-talk</a:t>
            </a:r>
          </a:p>
          <a:p>
            <a:pPr algn="l">
              <a:spcAft>
                <a:spcPts val="500"/>
              </a:spcAft>
            </a:pPr>
            <a:r>
              <a:rPr sz="1100" b="0">
                <a:solidFill>
                  <a:srgbClr val="26251E"/>
                </a:solidFill>
                <a:latin typeface="Arial"/>
              </a:rPr>
              <a:t>•  Terminal-first agent shape</a:t>
            </a:r>
          </a:p>
          <a:p>
            <a:pPr algn="l">
              <a:spcAft>
                <a:spcPts val="500"/>
              </a:spcAft>
            </a:pPr>
            <a:r>
              <a:rPr sz="1100" b="0">
                <a:solidFill>
                  <a:srgbClr val="26251E"/>
                </a:solidFill>
                <a:latin typeface="Arial"/>
              </a:rPr>
              <a:t>•  Not a model-war pitch</a:t>
            </a:r>
          </a:p>
          <a:p>
            <a:pPr algn="l">
              <a:spcAft>
                <a:spcPts val="500"/>
              </a:spcAft>
            </a:pPr>
            <a:r>
              <a:rPr sz="1100" b="0">
                <a:solidFill>
                  <a:srgbClr val="26251E"/>
                </a:solidFill>
                <a:latin typeface="Arial"/>
              </a:rPr>
              <a:t>•  Our edge: neutrality</a:t>
            </a:r>
          </a:p>
          <a:p>
            <a:pPr algn="l">
              <a:spcAft>
                <a:spcPts val="500"/>
              </a:spcAft>
            </a:pPr>
            <a:r>
              <a:rPr sz="1100" b="0">
                <a:solidFill>
                  <a:srgbClr val="26251E"/>
                </a:solidFill>
                <a:latin typeface="Arial"/>
              </a:rPr>
              <a:t>•  Our edge: SDLC integration</a:t>
            </a:r>
          </a:p>
          <a:p>
            <a:pPr algn="l">
              <a:spcAft>
                <a:spcPts val="500"/>
              </a:spcAft>
            </a:pPr>
            <a:r>
              <a:rPr sz="1100" b="0">
                <a:solidFill>
                  <a:srgbClr val="26251E"/>
                </a:solidFill>
                <a:latin typeface="Arial"/>
              </a:rPr>
              <a:t>•  Our edge: team time-to-value</a:t>
            </a:r>
          </a:p>
        </p:txBody>
      </p:sp>
      <p:sp>
        <p:nvSpPr>
          <p:cNvPr id="21" name="Rectangle 20"/>
          <p:cNvSpPr/>
          <p:nvPr/>
        </p:nvSpPr>
        <p:spPr>
          <a:xfrm>
            <a:off x="9098280" y="2011680"/>
            <a:ext cx="2743200" cy="4023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2011680"/>
            <a:ext cx="2743200" cy="438912"/>
          </a:xfrm>
          <a:prstGeom prst="rect">
            <a:avLst/>
          </a:prstGeom>
          <a:solidFill>
            <a:srgbClr val="3A38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08008" y="2084831"/>
            <a:ext cx="2514600" cy="320040"/>
          </a:xfrm>
          <a:prstGeom prst="rect">
            <a:avLst/>
          </a:prstGeom>
          <a:noFill/>
        </p:spPr>
        <p:txBody>
          <a:bodyPr wrap="square" anchor="t">
            <a:spAutoFit/>
          </a:bodyPr>
          <a:lstStyle/>
          <a:p>
            <a:pPr algn="l"/>
            <a:r>
              <a:rPr sz="1200" b="1">
                <a:solidFill>
                  <a:srgbClr val="FFFFFF"/>
                </a:solidFill>
                <a:latin typeface="Arial"/>
              </a:rPr>
              <a:t>Also / real rival</a:t>
            </a:r>
          </a:p>
        </p:txBody>
      </p:sp>
      <p:sp>
        <p:nvSpPr>
          <p:cNvPr id="24" name="TextBox 23"/>
          <p:cNvSpPr txBox="1"/>
          <p:nvPr/>
        </p:nvSpPr>
        <p:spPr>
          <a:xfrm>
            <a:off x="9208008" y="2651760"/>
            <a:ext cx="2514600" cy="3108960"/>
          </a:xfrm>
          <a:prstGeom prst="rect">
            <a:avLst/>
          </a:prstGeom>
          <a:noFill/>
        </p:spPr>
        <p:txBody>
          <a:bodyPr wrap="square">
            <a:spAutoFit/>
          </a:bodyPr>
          <a:lstStyle/>
          <a:p>
            <a:pPr algn="l">
              <a:spcAft>
                <a:spcPts val="500"/>
              </a:spcAft>
            </a:pPr>
            <a:r>
              <a:rPr sz="1100" b="0">
                <a:solidFill>
                  <a:srgbClr val="26251E"/>
                </a:solidFill>
                <a:latin typeface="Arial"/>
              </a:rPr>
              <a:t>•  Windsurf: Cascade UX challenger</a:t>
            </a:r>
          </a:p>
          <a:p>
            <a:pPr algn="l">
              <a:spcAft>
                <a:spcPts val="500"/>
              </a:spcAft>
            </a:pPr>
            <a:r>
              <a:rPr sz="1100" b="0">
                <a:solidFill>
                  <a:srgbClr val="26251E"/>
                </a:solidFill>
                <a:latin typeface="Arial"/>
              </a:rPr>
              <a:t>•  Codex: OpenAI async agents</a:t>
            </a:r>
          </a:p>
          <a:p>
            <a:pPr algn="l">
              <a:spcAft>
                <a:spcPts val="500"/>
              </a:spcAft>
            </a:pPr>
            <a:r>
              <a:rPr sz="1100" b="0">
                <a:solidFill>
                  <a:srgbClr val="26251E"/>
                </a:solidFill>
                <a:latin typeface="Arial"/>
              </a:rPr>
              <a:t>•  Shadow AI = real enterprise rival</a:t>
            </a:r>
          </a:p>
          <a:p>
            <a:pPr algn="l">
              <a:spcAft>
                <a:spcPts val="500"/>
              </a:spcAft>
            </a:pPr>
            <a:r>
              <a:rPr sz="1100" b="0">
                <a:solidFill>
                  <a:srgbClr val="26251E"/>
                </a:solidFill>
                <a:latin typeface="Arial"/>
              </a:rPr>
              <a:t>•  Win = governed standardization</a:t>
            </a:r>
          </a:p>
          <a:p>
            <a:pPr algn="l">
              <a:spcAft>
                <a:spcPts val="500"/>
              </a:spcAft>
            </a:pPr>
            <a:r>
              <a:rPr sz="1100" b="0">
                <a:solidFill>
                  <a:srgbClr val="26251E"/>
                </a:solidFill>
                <a:latin typeface="Arial"/>
              </a:rPr>
              <a:t>•  Proof: Coinbase · Stripe · PayPal</a:t>
            </a:r>
          </a:p>
          <a:p>
            <a:pPr algn="l">
              <a:spcAft>
                <a:spcPts val="500"/>
              </a:spcAft>
            </a:pPr>
            <a:r>
              <a:rPr sz="1100" b="0">
                <a:solidFill>
                  <a:srgbClr val="26251E"/>
                </a:solidFill>
                <a:latin typeface="Arial"/>
              </a:rPr>
              <a:t>•  Outcomes per $ &gt; autocomplete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Security instincts (not a certification dump)</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37360"/>
            <a:ext cx="4846320" cy="320040"/>
          </a:xfrm>
          <a:prstGeom prst="rect">
            <a:avLst/>
          </a:prstGeom>
          <a:noFill/>
        </p:spPr>
        <p:txBody>
          <a:bodyPr wrap="square" anchor="t">
            <a:spAutoFit/>
          </a:bodyPr>
          <a:lstStyle/>
          <a:p>
            <a:pPr algn="l"/>
            <a:r>
              <a:rPr sz="1600" b="1">
                <a:solidFill>
                  <a:srgbClr val="26251E"/>
                </a:solidFill>
                <a:latin typeface="Arial"/>
              </a:rPr>
              <a:t>Privacy Mode</a:t>
            </a:r>
          </a:p>
        </p:txBody>
      </p:sp>
      <p:sp>
        <p:nvSpPr>
          <p:cNvPr id="10" name="TextBox 9"/>
          <p:cNvSpPr txBox="1"/>
          <p:nvPr/>
        </p:nvSpPr>
        <p:spPr>
          <a:xfrm>
            <a:off x="82296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Customer code is not stored or retained</a:t>
            </a:r>
          </a:p>
          <a:p>
            <a:pPr algn="l">
              <a:spcAft>
                <a:spcPts val="700"/>
              </a:spcAft>
            </a:pPr>
            <a:r>
              <a:rPr sz="1400" b="0">
                <a:solidFill>
                  <a:srgbClr val="26251E"/>
                </a:solidFill>
                <a:latin typeface="Arial"/>
              </a:rPr>
              <a:t>•  Not used to train models</a:t>
            </a:r>
          </a:p>
          <a:p>
            <a:pPr algn="l">
              <a:spcAft>
                <a:spcPts val="700"/>
              </a:spcAft>
            </a:pPr>
            <a:r>
              <a:rPr sz="1400" b="0">
                <a:solidFill>
                  <a:srgbClr val="26251E"/>
                </a:solidFill>
                <a:latin typeface="Arial"/>
              </a:rPr>
              <a:t>•  Requests are isolated and ephemeral</a:t>
            </a:r>
          </a:p>
          <a:p>
            <a:pPr algn="l">
              <a:spcAft>
                <a:spcPts val="700"/>
              </a:spcAft>
            </a:pPr>
            <a:r>
              <a:rPr sz="1400" b="0">
                <a:solidFill>
                  <a:srgbClr val="26251E"/>
                </a:solidFill>
                <a:latin typeface="Arial"/>
              </a:rPr>
              <a:t>•  Enforce org-wide so shadow AI doesn’t win</a:t>
            </a:r>
          </a:p>
        </p:txBody>
      </p:sp>
      <p:sp>
        <p:nvSpPr>
          <p:cNvPr id="11" name="Rectangle 10"/>
          <p:cNvSpPr/>
          <p:nvPr/>
        </p:nvSpPr>
        <p:spPr>
          <a:xfrm>
            <a:off x="6172200" y="1280160"/>
            <a:ext cx="5394960" cy="4800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508760"/>
            <a:ext cx="731520"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37360"/>
            <a:ext cx="4846320" cy="320040"/>
          </a:xfrm>
          <a:prstGeom prst="rect">
            <a:avLst/>
          </a:prstGeom>
          <a:noFill/>
        </p:spPr>
        <p:txBody>
          <a:bodyPr wrap="square" anchor="t">
            <a:spAutoFit/>
          </a:bodyPr>
          <a:lstStyle/>
          <a:p>
            <a:pPr algn="l"/>
            <a:r>
              <a:rPr sz="1600" b="1">
                <a:solidFill>
                  <a:srgbClr val="26251E"/>
                </a:solidFill>
                <a:latin typeface="Arial"/>
              </a:rPr>
              <a:t>Enterprise posture</a:t>
            </a:r>
          </a:p>
        </p:txBody>
      </p:sp>
      <p:sp>
        <p:nvSpPr>
          <p:cNvPr id="14" name="TextBox 13"/>
          <p:cNvSpPr txBox="1"/>
          <p:nvPr/>
        </p:nvSpPr>
        <p:spPr>
          <a:xfrm>
            <a:off x="6446520" y="2194560"/>
            <a:ext cx="4846320" cy="3566160"/>
          </a:xfrm>
          <a:prstGeom prst="rect">
            <a:avLst/>
          </a:prstGeom>
          <a:noFill/>
        </p:spPr>
        <p:txBody>
          <a:bodyPr wrap="square">
            <a:spAutoFit/>
          </a:bodyPr>
          <a:lstStyle/>
          <a:p>
            <a:pPr algn="l">
              <a:spcAft>
                <a:spcPts val="700"/>
              </a:spcAft>
            </a:pPr>
            <a:r>
              <a:rPr sz="1400" b="0">
                <a:solidFill>
                  <a:srgbClr val="26251E"/>
                </a:solidFill>
                <a:latin typeface="Arial"/>
              </a:rPr>
              <a:t>•  SOC 2 Type II; secure handling of code + metadata</a:t>
            </a:r>
          </a:p>
          <a:p>
            <a:pPr algn="l">
              <a:spcAft>
                <a:spcPts val="700"/>
              </a:spcAft>
            </a:pPr>
            <a:r>
              <a:rPr sz="1400" b="0">
                <a:solidFill>
                  <a:srgbClr val="26251E"/>
                </a:solidFill>
                <a:latin typeface="Arial"/>
              </a:rPr>
              <a:t>•  SSO / SCIM / audit logs / admin visibility</a:t>
            </a:r>
          </a:p>
          <a:p>
            <a:pPr algn="l">
              <a:spcAft>
                <a:spcPts val="700"/>
              </a:spcAft>
            </a:pPr>
            <a:r>
              <a:rPr sz="1400" b="0">
                <a:solidFill>
                  <a:srgbClr val="26251E"/>
                </a:solidFill>
                <a:latin typeface="Arial"/>
              </a:rPr>
              <a:t>•  Model, repo, and MCP governance controls</a:t>
            </a:r>
          </a:p>
          <a:p>
            <a:pPr algn="l">
              <a:spcAft>
                <a:spcPts val="700"/>
              </a:spcAft>
            </a:pPr>
            <a:r>
              <a:rPr sz="1400" b="0">
                <a:solidFill>
                  <a:srgbClr val="26251E"/>
                </a:solidFill>
                <a:latin typeface="Arial"/>
              </a:rPr>
              <a:t>•  First-call frame: adoption confidence — bring partner when deep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2625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ursor-lockup-light.png"/>
          <p:cNvPicPr>
            <a:picLocks noChangeAspect="1"/>
          </p:cNvPicPr>
          <p:nvPr/>
        </p:nvPicPr>
        <p:blipFill>
          <a:blip r:embed="rId2"/>
          <a:stretch>
            <a:fillRect/>
          </a:stretch>
        </p:blipFill>
        <p:spPr>
          <a:xfrm>
            <a:off x="640080" y="292608"/>
            <a:ext cx="1234440" cy="293494"/>
          </a:xfrm>
          <a:prstGeom prst="rect">
            <a:avLst/>
          </a:prstGeom>
        </p:spPr>
      </p:pic>
      <p:sp>
        <p:nvSpPr>
          <p:cNvPr id="5" name="TextBox 4"/>
          <p:cNvSpPr txBox="1"/>
          <p:nvPr/>
        </p:nvSpPr>
        <p:spPr>
          <a:xfrm>
            <a:off x="2103120" y="292608"/>
            <a:ext cx="9326880" cy="502920"/>
          </a:xfrm>
          <a:prstGeom prst="rect">
            <a:avLst/>
          </a:prstGeom>
          <a:noFill/>
        </p:spPr>
        <p:txBody>
          <a:bodyPr wrap="square" anchor="t">
            <a:spAutoFit/>
          </a:bodyPr>
          <a:lstStyle/>
          <a:p>
            <a:pPr algn="l"/>
            <a:r>
              <a:rPr sz="2200" b="0">
                <a:solidFill>
                  <a:srgbClr val="FFFFFF"/>
                </a:solidFill>
                <a:latin typeface="Arial"/>
              </a:rPr>
              <a:t>Close — up-level, don’t rebuild</a:t>
            </a:r>
          </a:p>
        </p:txBody>
      </p:sp>
      <p:sp>
        <p:nvSpPr>
          <p:cNvPr id="6" name="Rectangle 5"/>
          <p:cNvSpPr/>
          <p:nvPr/>
        </p:nvSpPr>
        <p:spPr>
          <a:xfrm>
            <a:off x="0" y="1051560"/>
            <a:ext cx="12191695" cy="54864"/>
          </a:xfrm>
          <a:prstGeom prst="rect">
            <a:avLst/>
          </a:prstGeom>
          <a:solidFill>
            <a:srgbClr val="F54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10607040" cy="4663440"/>
          </a:xfrm>
          <a:prstGeom prst="rect">
            <a:avLst/>
          </a:prstGeom>
          <a:noFill/>
        </p:spPr>
        <p:txBody>
          <a:bodyPr wrap="square">
            <a:spAutoFit/>
          </a:bodyPr>
          <a:lstStyle/>
          <a:p>
            <a:pPr algn="l">
              <a:spcAft>
                <a:spcPts val="1100"/>
              </a:spcAft>
            </a:pPr>
            <a:r>
              <a:rPr sz="1700" b="0">
                <a:solidFill>
                  <a:srgbClr val="26251E"/>
                </a:solidFill>
                <a:latin typeface="Arial"/>
              </a:rPr>
              <a:t>•  Diagnose real constraints with data + AE/SDR truth</a:t>
            </a:r>
          </a:p>
          <a:p>
            <a:pPr algn="l">
              <a:spcAft>
                <a:spcPts val="1100"/>
              </a:spcAft>
            </a:pPr>
            <a:r>
              <a:rPr sz="1700" b="0">
                <a:solidFill>
                  <a:srgbClr val="26251E"/>
                </a:solidFill>
                <a:latin typeface="Arial"/>
              </a:rPr>
              <a:t>•  Protect automation, ICP, and cadence already creating pipeline</a:t>
            </a:r>
          </a:p>
          <a:p>
            <a:pPr algn="l">
              <a:spcAft>
                <a:spcPts val="1100"/>
              </a:spcAft>
            </a:pPr>
            <a:r>
              <a:rPr sz="1700" b="0">
                <a:solidFill>
                  <a:srgbClr val="26251E"/>
                </a:solidFill>
                <a:latin typeface="Arial"/>
              </a:rPr>
              <a:t>•  Train workflow / context / execution — four wedges, clean competitive frames</a:t>
            </a:r>
          </a:p>
          <a:p>
            <a:pPr algn="l">
              <a:spcAft>
                <a:spcPts val="1100"/>
              </a:spcAft>
            </a:pPr>
            <a:r>
              <a:rPr sz="1700" b="0">
                <a:solidFill>
                  <a:srgbClr val="26251E"/>
                </a:solidFill>
                <a:latin typeface="Arial"/>
              </a:rPr>
              <a:t>•  Run one or two measured experiments — keep or kill on metrics</a:t>
            </a:r>
          </a:p>
          <a:p>
            <a:pPr algn="l">
              <a:spcAft>
                <a:spcPts val="1100"/>
              </a:spcAft>
            </a:pPr>
            <a:r>
              <a:rPr sz="1700" b="0">
                <a:solidFill>
                  <a:srgbClr val="26251E"/>
                </a:solidFill>
                <a:latin typeface="Arial"/>
              </a:rPr>
              <a:t>•  Lead as a player-coach so the floor rises with the ceiling</a:t>
            </a:r>
          </a:p>
          <a:p>
            <a:pPr algn="l">
              <a:spcAft>
                <a:spcPts val="1100"/>
              </a:spcAft>
            </a:pPr>
            <a:r>
              <a:rPr sz="1700" b="0">
                <a:solidFill>
                  <a:srgbClr val="26251E"/>
                </a:solidFill>
                <a:latin typeface="Arial"/>
              </a:rPr>
              <a:t>•  Questions — and happy to pitch one of you live right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